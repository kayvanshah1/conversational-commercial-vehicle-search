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504"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07A423-93CA-442D-AC6A-1ED297DAFA17}" type="datetimeFigureOut">
              <a:rPr lang="en-IN" smtClean="0"/>
              <a:t>06-09-2026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13413-8489-4A49-9CA7-28D02AC7B394}" type="slidenum">
              <a:rPr lang="en-IN" smtClean="0"/>
              <a:t>‹#›</a:t>
            </a:fld>
            <a:endParaRPr lang="en-IN"/>
          </a:p>
        </p:txBody>
      </p:sp>
    </p:spTree>
    <p:extLst>
      <p:ext uri="{BB962C8B-B14F-4D97-AF65-F5344CB8AC3E}">
        <p14:creationId xmlns:p14="http://schemas.microsoft.com/office/powerpoint/2010/main" val="4009968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the product in one sentence: Vivi turns a spoken vehicle need into a shortlist while the application owns every hard constraint and catalog fact. The talk has one goal: prove the demo works, then show exactly why it can be trusted.
Design references:
https://developer.samsung.com/one-ui/index.html
https://developer.apple.com/design/human-interface-guidelines/dark-mode
https://support.microsoft.com/en-us/powerpoint/tips-for-creating-and-delivering-an-effective-presentation
https://styleguide.dynatrace.com/docs/best-practices/remove-ai-writing-patterns-from-content/
https://www.duarte.com/blog/how-to-develop-the-best-big-idea-for-your-presentation/
Project source:
https://github.com/KayvanShah1/conversational-commercial-vehicle-search</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1</a:t>
            </a:fld>
            <a:endParaRPr lang="en-IN"/>
          </a:p>
        </p:txBody>
      </p:sp>
    </p:spTree>
    <p:extLst>
      <p:ext uri="{BB962C8B-B14F-4D97-AF65-F5344CB8AC3E}">
        <p14:creationId xmlns:p14="http://schemas.microsoft.com/office/powerpoint/2010/main" val="3165561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 these four turns in one session. The order matters. The follow-up comes before the deliberate miss so it can reference the returned second vehicle. On the final turn, expect a plain sentence that reports no exact match and names one constraint that could be relaxed.
Sources:
https://github.com/KayvanShah1/conversational-commercial-vehicle-search#try-the-conversation
https://github.com/KayvanShah1/conversational-commercial-vehicle-search/blob/main/docs/assignment/README.md</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2</a:t>
            </a:fld>
            <a:endParaRPr lang="en-IN"/>
          </a:p>
        </p:txBody>
      </p:sp>
    </p:spTree>
    <p:extLst>
      <p:ext uri="{BB962C8B-B14F-4D97-AF65-F5344CB8AC3E}">
        <p14:creationId xmlns:p14="http://schemas.microsoft.com/office/powerpoint/2010/main" val="3632452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left to right through the live voice path. Then point to state and evaluation below it. These are seven responsibility boundaries inside one process, not seven agents. Each boundary keeps a production replacement possible without changing the rest of the contract.
Sources:
https://github.com/KayvanShah1/conversational-commercial-vehicle-search/blob/main/docs/assignment/README.md
https://github.com/KayvanShah1/conversational-commercial-vehicle-search/blob/main/docs/TECHNICAL_DECISIONS.md</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3</a:t>
            </a:fld>
            <a:endParaRPr lang="en-IN"/>
          </a:p>
        </p:txBody>
      </p:sp>
    </p:spTree>
    <p:extLst>
      <p:ext uri="{BB962C8B-B14F-4D97-AF65-F5344CB8AC3E}">
        <p14:creationId xmlns:p14="http://schemas.microsoft.com/office/powerpoint/2010/main" val="61405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search contract. The model provides typed arguments. Application code builds parameterized SQL, applies every hard filter, and rechecks returned rows. Ranking happens only after eligibility. If the result set is empty, the application tests one active constraint at a time and suggests a relaxation that can actually produce a result.
Source:
https://github.com/KayvanShah1/conversational-commercial-vehicle-search/blob/main/docs/TECHNICAL_DECISIONS.md#ranking</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4</a:t>
            </a:fld>
            <a:endParaRPr lang="en-IN"/>
          </a:p>
        </p:txBody>
      </p:sp>
    </p:spTree>
    <p:extLst>
      <p:ext uri="{BB962C8B-B14F-4D97-AF65-F5344CB8AC3E}">
        <p14:creationId xmlns:p14="http://schemas.microsoft.com/office/powerpoint/2010/main" val="418537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model reasons at two narrow seams: tool choice with typed arguments, and optional phrasing over records already returned. The application owns SQL, filters, ranking, catalog facts, and validation. Ordinary searches use deterministic composition. A generated detail or comparison must preserve every required value or the fallback wins.
Source:
https://github.com/KayvanShah1/conversational-commercial-vehicle-search/blob/main/docs/TECHNICAL_DECISIONS.md#correctness-boundaries</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5</a:t>
            </a:fld>
            <a:endParaRPr lang="en-IN"/>
          </a:p>
        </p:txBody>
      </p:sp>
    </p:spTree>
    <p:extLst>
      <p:ext uri="{BB962C8B-B14F-4D97-AF65-F5344CB8AC3E}">
        <p14:creationId xmlns:p14="http://schemas.microsoft.com/office/powerpoint/2010/main" val="1852944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out the state change after every turn. The correction patches only fuel. The detail question resolves the second saved listing and requests only payload and GVW. The zero-result turn creates no new result IDs, so Vivi preserves the last valid set for a later reference.
Sources:
https://github.com/KayvanShah1/conversational-commercial-vehicle-search/blob/main/docs/TECHNICAL_DECISIONS.md
https://github.com/KayvanShah1/conversational-commercial-vehicle-search/wiki/Agent-Behavior-and-Grounding</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6</a:t>
            </a:fld>
            <a:endParaRPr lang="en-IN"/>
          </a:p>
        </p:txBody>
      </p:sp>
    </p:spTree>
    <p:extLst>
      <p:ext uri="{BB962C8B-B14F-4D97-AF65-F5344CB8AC3E}">
        <p14:creationId xmlns:p14="http://schemas.microsoft.com/office/powerpoint/2010/main" val="72981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complete live runs from 6 September 2026. The result clears the assignment's 90 percent target. Keep the miss visible: one Hinglish payload request resolved Bangalore rather than the catalog's canonical Bengaluru value. The strict filter did the safe thing and returned no result.
Source:
https://github.com/KayvanShah1/conversational-commercial-vehicle-search/blob/main/docs/EVALUATION.md</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7</a:t>
            </a:fld>
            <a:endParaRPr lang="en-IN"/>
          </a:p>
        </p:txBody>
      </p:sp>
    </p:spTree>
    <p:extLst>
      <p:ext uri="{BB962C8B-B14F-4D97-AF65-F5344CB8AC3E}">
        <p14:creationId xmlns:p14="http://schemas.microsoft.com/office/powerpoint/2010/main" val="2872540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repeatable server-side proxy averages 5.32 seconds. TTS is the largest mean stage at 2.65 seconds. The first voice case also paid a five-second MotherDuck cold-connection cost. These stage means should be read independently rather than added as a stacked total. Browser recording, upload time before receipt, and playback are outside this boundary.
Source:
https://github.com/KayvanShah1/conversational-commercial-vehicle-search/blob/main/docs/EVALUATION.md#voice-latency</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8</a:t>
            </a:fld>
            <a:endParaRPr lang="en-IN"/>
          </a:p>
        </p:txBody>
      </p:sp>
    </p:spTree>
    <p:extLst>
      <p:ext uri="{BB962C8B-B14F-4D97-AF65-F5344CB8AC3E}">
        <p14:creationId xmlns:p14="http://schemas.microsoft.com/office/powerpoint/2010/main" val="4265243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Defend the alternatives, not only the implementation. Typed tools cost a little schema work but keep SQL and constraints under application control. One agent avoids extra round trips. The cascaded voice path exposes every stage. Scoped read-only connections avoid unsafe shared ownership, even though production should pool them.
Source:
https://github.com/KayvanShah1/conversational-commercial-vehicle-search/blob/main/docs/TECHNICAL_DECISIONS.md#decisions-at-a-glance</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9</a:t>
            </a:fld>
            <a:endParaRPr lang="en-IN"/>
          </a:p>
        </p:txBody>
      </p:sp>
    </p:spTree>
    <p:extLst>
      <p:ext uri="{BB962C8B-B14F-4D97-AF65-F5344CB8AC3E}">
        <p14:creationId xmlns:p14="http://schemas.microsoft.com/office/powerpoint/2010/main" val="433716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 the question immediately: provider capacity breaks first. Then give the order of operations. Buy capacity and add circuit breakers, stream speech, move session state to a concurrent store, pool catalog access, and pin evaluation routes. The existing typed seams make each replacement local.
Source:
https://github.com/KayvanShah1/conversational-commercial-vehicle-search/blob/main/docs/TECHNICAL_DECISIONS.md#production-priorities</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10</a:t>
            </a:fld>
            <a:endParaRPr lang="en-IN"/>
          </a:p>
        </p:txBody>
      </p:sp>
    </p:spTree>
    <p:extLst>
      <p:ext uri="{BB962C8B-B14F-4D97-AF65-F5344CB8AC3E}">
        <p14:creationId xmlns:p14="http://schemas.microsoft.com/office/powerpoint/2010/main" val="4095454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when an evaluator asks for the seven-component justification. Move row by row: why the current choice fits the assignment, which complexity sits behind the seam, and which production component would replace it.
Source:
https://github.com/KayvanShah1/conversational-commercial-vehicle-search/blob/main/docs/TECHNICAL_DECISIONS.md#seven-identifiable-components</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11</a:t>
            </a:fld>
            <a:endParaRPr lang="en-IN"/>
          </a:p>
        </p:txBody>
      </p:sp>
    </p:spTree>
    <p:extLst>
      <p:ext uri="{BB962C8B-B14F-4D97-AF65-F5344CB8AC3E}">
        <p14:creationId xmlns:p14="http://schemas.microsoft.com/office/powerpoint/2010/main" val="3584946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evaluator drives the real agent and search path. Each case declares expected behavior, not a fixed answer sentence. The report separates routing, arguments, result behavior, factual grounding, latency, token usage, and estimated cost. This prevents a fluent answer from hiding an incorrect tool or filter.
Source:
https://github.com/KayvanShah1/conversational-commercial-vehicle-search/blob/main/docs/EVALUATION.md#what-is-evaluated</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12</a:t>
            </a:fld>
            <a:endParaRPr lang="en-IN"/>
          </a:p>
        </p:txBody>
      </p:sp>
    </p:spTree>
    <p:extLst>
      <p:ext uri="{BB962C8B-B14F-4D97-AF65-F5344CB8AC3E}">
        <p14:creationId xmlns:p14="http://schemas.microsoft.com/office/powerpoint/2010/main" val="3877255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generator starts from curated commercial-vehicle references, then creates used listings around compatible model attributes. Mileage depends on age. Price uses an inspectable depreciation formula. Pydantic validates the output before Parquet and CSV are loaded into MotherDuck. Listing values remain synthetic and payload estimates stay labeled.
Source:
https://github.com/KayvanShah1/conversational-commercial-vehicle-search/blob/main/docs/DATA_GENERATION.md</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13</a:t>
            </a:fld>
            <a:endParaRPr lang="en-IN"/>
          </a:p>
        </p:txBody>
      </p:sp>
    </p:spTree>
    <p:extLst>
      <p:ext uri="{BB962C8B-B14F-4D97-AF65-F5344CB8AC3E}">
        <p14:creationId xmlns:p14="http://schemas.microsoft.com/office/powerpoint/2010/main" val="519358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page only in Q&amp;A. Each answer points back to code or measured evidence. If the evaluator asks for ranking evidence, open the UI score breakdown. If they ask about failures, show the exact-filter behavior, provider rotation logs, and the production replacement order.
Sources:
https://github.com/KayvanShah1/conversational-commercial-vehicle-search/blob/main/docs/TECHNICAL_DECISIONS.md#reviewer-quick-answers
https://github.com/KayvanShah1/conversational-commercial-vehicle-search/blob/main/docs/assignment/README.md#72-role-bars</a:t>
            </a:r>
            <a:endParaRPr lang="en-IN"/>
          </a:p>
        </p:txBody>
      </p:sp>
      <p:sp>
        <p:nvSpPr>
          <p:cNvPr id="4" name="Slide Number Placeholder 3"/>
          <p:cNvSpPr>
            <a:spLocks noGrp="1"/>
          </p:cNvSpPr>
          <p:nvPr>
            <p:ph type="sldNum" sz="quarter" idx="5"/>
          </p:nvPr>
        </p:nvSpPr>
        <p:spPr/>
        <p:txBody>
          <a:bodyPr/>
          <a:lstStyle/>
          <a:p>
            <a:fld id="{67D13413-8489-4A49-9CA7-28D02AC7B394}" type="slidenum">
              <a:rPr lang="en-IN" smtClean="0"/>
              <a:t>14</a:t>
            </a:fld>
            <a:endParaRPr lang="en-IN"/>
          </a:p>
        </p:txBody>
      </p:sp>
    </p:spTree>
    <p:extLst>
      <p:ext uri="{BB962C8B-B14F-4D97-AF65-F5344CB8AC3E}">
        <p14:creationId xmlns:p14="http://schemas.microsoft.com/office/powerpoint/2010/main" val="1385509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A216E-F2DD-0986-6872-C6C5C52BB5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CD14C2A-96EC-CD00-325C-3F56BF9148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26499F-5C39-E6F7-91ED-C135C117354F}"/>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5" name="Footer Placeholder 4">
            <a:extLst>
              <a:ext uri="{FF2B5EF4-FFF2-40B4-BE49-F238E27FC236}">
                <a16:creationId xmlns:a16="http://schemas.microsoft.com/office/drawing/2014/main" id="{813E8D71-1171-CCC6-4AB0-B4DF7C2789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5E9193-6C2E-6582-5272-A7F8C482822C}"/>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2997473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5EFC0-C020-B106-8F9F-8F9F778741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A9D9D5-72C9-F4EB-D77A-0242E6CAD1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070E0D-11B0-3256-7B74-B49AD99DEC4A}"/>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5" name="Footer Placeholder 4">
            <a:extLst>
              <a:ext uri="{FF2B5EF4-FFF2-40B4-BE49-F238E27FC236}">
                <a16:creationId xmlns:a16="http://schemas.microsoft.com/office/drawing/2014/main" id="{E9AFFBE1-E282-E275-AF42-F04A0559AF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85D16A-6392-2D26-75E1-8F157A13D435}"/>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3044162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04B8B-8529-7AC2-6D4B-6F224FDD51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CA2B74-E2B5-BFB4-7F11-E7D73E259D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DFAB56-2571-F1D7-9EBE-51AD5509D437}"/>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5" name="Footer Placeholder 4">
            <a:extLst>
              <a:ext uri="{FF2B5EF4-FFF2-40B4-BE49-F238E27FC236}">
                <a16:creationId xmlns:a16="http://schemas.microsoft.com/office/drawing/2014/main" id="{DC9F22BF-AD6F-A76B-F903-A5FF9A2F74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D79CB6-ED77-EF9D-DB4D-DCCDF9406B7D}"/>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3550420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04347-996D-B911-65C3-90761BDE29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ECA1B3-3171-CCB2-4ECA-6280420394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68A213-8D25-3224-12DB-0864344F09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B2C498-0EC3-50C1-2685-B091798B7F31}"/>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6" name="Footer Placeholder 5">
            <a:extLst>
              <a:ext uri="{FF2B5EF4-FFF2-40B4-BE49-F238E27FC236}">
                <a16:creationId xmlns:a16="http://schemas.microsoft.com/office/drawing/2014/main" id="{7F4772BE-EF02-A359-F071-443C134EA2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C401FF-A81E-EC13-10EA-916B339C4EE8}"/>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192682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2109D-EABC-CFAC-CA6D-22CF9A6840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CD1487-C4AD-BBE3-30E6-C67464757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5F6A1B-14A5-E550-E22F-EF08949393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474866A-2743-516D-C446-1247BB1782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9F0168-E610-2F6B-7650-39017D91D9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F9F11FB-43FA-C584-CF6F-FF67B4D93531}"/>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8" name="Footer Placeholder 7">
            <a:extLst>
              <a:ext uri="{FF2B5EF4-FFF2-40B4-BE49-F238E27FC236}">
                <a16:creationId xmlns:a16="http://schemas.microsoft.com/office/drawing/2014/main" id="{5B13A5BF-E7D6-95AF-B19C-F943094907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6ECBA8B-F86C-542A-5C68-AB217A58240A}"/>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1426535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34F39-D024-F613-FF45-50667227F0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DBF7C5E-7A0D-51DF-6ADD-E45E17A53439}"/>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4" name="Footer Placeholder 3">
            <a:extLst>
              <a:ext uri="{FF2B5EF4-FFF2-40B4-BE49-F238E27FC236}">
                <a16:creationId xmlns:a16="http://schemas.microsoft.com/office/drawing/2014/main" id="{9A3B4C94-BABF-1DD6-ED34-2C3863C6EE8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99E6454-B7AF-7A54-9E53-EADB1135AC38}"/>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4291400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788D1-70EE-8DF0-C4F5-7F8EA266FC83}"/>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3" name="Footer Placeholder 2">
            <a:extLst>
              <a:ext uri="{FF2B5EF4-FFF2-40B4-BE49-F238E27FC236}">
                <a16:creationId xmlns:a16="http://schemas.microsoft.com/office/drawing/2014/main" id="{107BEBC1-8E71-C5F1-BB79-E5A65BBAD6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919704-65C4-1811-71C5-19C06960C052}"/>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642547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C2AD-FC45-2A8E-1916-1CDAA6ABA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7712C1-510F-3466-E8FE-6CFFB0AE90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4C469B-5ECD-A7B0-3E35-42F4EEB963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E65029-2468-A6F5-B908-232BA4B34971}"/>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6" name="Footer Placeholder 5">
            <a:extLst>
              <a:ext uri="{FF2B5EF4-FFF2-40B4-BE49-F238E27FC236}">
                <a16:creationId xmlns:a16="http://schemas.microsoft.com/office/drawing/2014/main" id="{3E28BEF7-EFEE-968D-FD15-1DDD6CB07D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6C9103-8366-3A2B-3F70-97AE2D893F19}"/>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1123915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EFDEC-DD19-CC9C-9133-7CC2BBCC29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04D9F4-C8C1-0DE6-3333-3A7AF14139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9499D0F-ADCB-6AA0-8288-B4181AFF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353241-BEED-F29A-8173-B4EBD5C7A00A}"/>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6" name="Footer Placeholder 5">
            <a:extLst>
              <a:ext uri="{FF2B5EF4-FFF2-40B4-BE49-F238E27FC236}">
                <a16:creationId xmlns:a16="http://schemas.microsoft.com/office/drawing/2014/main" id="{4802E12E-4A2A-5A6E-8176-94923034DF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7DD2DD-5C5F-F8EE-2E0F-7F37D11974C6}"/>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2736692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1281C-C02E-CC20-DBF3-A45A7BCA57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AEB995-ECA1-6EAB-85B3-67C068E12E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450806-465C-A181-7834-8581647E747F}"/>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5" name="Footer Placeholder 4">
            <a:extLst>
              <a:ext uri="{FF2B5EF4-FFF2-40B4-BE49-F238E27FC236}">
                <a16:creationId xmlns:a16="http://schemas.microsoft.com/office/drawing/2014/main" id="{4023CE4E-93FB-4C65-A162-50719C1C7A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EDD475-FDF4-1BD1-ED25-D66813501B85}"/>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2502445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D1E05E-1FB8-8E02-D1B6-73ACB2D9E4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A06900-3131-084E-7AD1-7AA9E687D4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462959-9A4F-58F7-35FA-A92E037ECE63}"/>
              </a:ext>
            </a:extLst>
          </p:cNvPr>
          <p:cNvSpPr>
            <a:spLocks noGrp="1"/>
          </p:cNvSpPr>
          <p:nvPr>
            <p:ph type="dt" sz="half" idx="10"/>
          </p:nvPr>
        </p:nvSpPr>
        <p:spPr/>
        <p:txBody>
          <a:bodyPr/>
          <a:lstStyle/>
          <a:p>
            <a:fld id="{37E756F9-A824-4B24-905D-C9354708888C}" type="datetimeFigureOut">
              <a:rPr lang="en-IN" smtClean="0"/>
              <a:t>06-09-2026</a:t>
            </a:fld>
            <a:endParaRPr lang="en-IN"/>
          </a:p>
        </p:txBody>
      </p:sp>
      <p:sp>
        <p:nvSpPr>
          <p:cNvPr id="5" name="Footer Placeholder 4">
            <a:extLst>
              <a:ext uri="{FF2B5EF4-FFF2-40B4-BE49-F238E27FC236}">
                <a16:creationId xmlns:a16="http://schemas.microsoft.com/office/drawing/2014/main" id="{32C92B96-DB13-4875-ED6A-A6049BCBD2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2955D2-DF5F-75C4-B973-237E33F0DA81}"/>
              </a:ext>
            </a:extLst>
          </p:cNvPr>
          <p:cNvSpPr>
            <a:spLocks noGrp="1"/>
          </p:cNvSpPr>
          <p:nvPr>
            <p:ph type="sldNum" sz="quarter" idx="12"/>
          </p:nvPr>
        </p:nvSpPr>
        <p:spPr/>
        <p:txBody>
          <a:bodyPr/>
          <a:lstStyle/>
          <a:p>
            <a:fld id="{9762E46F-2F8A-459E-BEB2-7EA38ACB560D}" type="slidenum">
              <a:rPr lang="en-IN" smtClean="0"/>
              <a:t>‹#›</a:t>
            </a:fld>
            <a:endParaRPr lang="en-IN"/>
          </a:p>
        </p:txBody>
      </p:sp>
    </p:spTree>
    <p:extLst>
      <p:ext uri="{BB962C8B-B14F-4D97-AF65-F5344CB8AC3E}">
        <p14:creationId xmlns:p14="http://schemas.microsoft.com/office/powerpoint/2010/main" val="3475363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FEEF43-943B-F7C1-ED6F-7D254BDC29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1A4788-F3B0-14E7-ACFC-26DC189577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556D25-4DA0-17BB-6233-C240FE11F8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E756F9-A824-4B24-905D-C9354708888C}" type="datetimeFigureOut">
              <a:rPr lang="en-IN" smtClean="0"/>
              <a:t>06-09-2026</a:t>
            </a:fld>
            <a:endParaRPr lang="en-IN"/>
          </a:p>
        </p:txBody>
      </p:sp>
      <p:sp>
        <p:nvSpPr>
          <p:cNvPr id="5" name="Footer Placeholder 4">
            <a:extLst>
              <a:ext uri="{FF2B5EF4-FFF2-40B4-BE49-F238E27FC236}">
                <a16:creationId xmlns:a16="http://schemas.microsoft.com/office/drawing/2014/main" id="{FF63D84C-C30C-2595-A367-563499F13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820587A-CA08-88AD-F8B3-E809AA0175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62E46F-2F8A-459E-BEB2-7EA38ACB560D}" type="slidenum">
              <a:rPr lang="en-IN" smtClean="0"/>
              <a:t>‹#›</a:t>
            </a:fld>
            <a:endParaRPr lang="en-IN"/>
          </a:p>
        </p:txBody>
      </p:sp>
    </p:spTree>
    <p:extLst>
      <p:ext uri="{BB962C8B-B14F-4D97-AF65-F5344CB8AC3E}">
        <p14:creationId xmlns:p14="http://schemas.microsoft.com/office/powerpoint/2010/main" val="1766827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2C6790-46AC-D3AC-7DBC-54A8E6428E9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43DBD9AC-0C22-09F4-712A-02FF5922800B}"/>
              </a:ext>
            </a:extLst>
          </p:cNvPr>
          <p:cNvSpPr/>
          <p:nvPr/>
        </p:nvSpPr>
        <p:spPr>
          <a:xfrm>
            <a:off x="0" y="0"/>
            <a:ext cx="6223000" cy="6858000"/>
          </a:xfrm>
          <a:prstGeom prst="rect">
            <a:avLst/>
          </a:prstGeom>
          <a:solidFill>
            <a:srgbClr val="030406">
              <a:alpha val="8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A296E2F5-30A1-40AC-3CDB-C61445D82795}"/>
              </a:ext>
            </a:extLst>
          </p:cNvPr>
          <p:cNvSpPr/>
          <p:nvPr/>
        </p:nvSpPr>
        <p:spPr>
          <a:xfrm>
            <a:off x="0" y="0"/>
            <a:ext cx="101600" cy="6858000"/>
          </a:xfrm>
          <a:prstGeom prst="rect">
            <a:avLst/>
          </a:prstGeom>
          <a:solidFill>
            <a:srgbClr val="7C5C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F2B6C9F-3433-715A-6E2D-B1A2B8E26063}"/>
              </a:ext>
            </a:extLst>
          </p:cNvPr>
          <p:cNvSpPr txBox="1"/>
          <p:nvPr/>
        </p:nvSpPr>
        <p:spPr>
          <a:xfrm>
            <a:off x="762000" y="787400"/>
            <a:ext cx="3810000" cy="276999"/>
          </a:xfrm>
          <a:prstGeom prst="rect">
            <a:avLst/>
          </a:prstGeom>
          <a:noFill/>
        </p:spPr>
        <p:txBody>
          <a:bodyPr vert="horz" wrap="square" lIns="0" tIns="0" rIns="0" bIns="0" rtlCol="0">
            <a:noAutofit/>
          </a:bodyPr>
          <a:lstStyle/>
          <a:p>
            <a:r>
              <a:rPr lang="en-IN" sz="1200" b="1">
                <a:solidFill>
                  <a:srgbClr val="42B6FF"/>
                </a:solidFill>
                <a:latin typeface="Aptos" panose="020B0004020202020204" pitchFamily="34" charset="0"/>
              </a:rPr>
              <a:t>VYNGO TAKE-HOME</a:t>
            </a:r>
          </a:p>
        </p:txBody>
      </p:sp>
      <p:sp>
        <p:nvSpPr>
          <p:cNvPr id="7" name="TextBox 6">
            <a:extLst>
              <a:ext uri="{FF2B5EF4-FFF2-40B4-BE49-F238E27FC236}">
                <a16:creationId xmlns:a16="http://schemas.microsoft.com/office/drawing/2014/main" id="{7B47CE82-2D24-2208-253F-E408E9F1D9DC}"/>
              </a:ext>
            </a:extLst>
          </p:cNvPr>
          <p:cNvSpPr txBox="1"/>
          <p:nvPr/>
        </p:nvSpPr>
        <p:spPr>
          <a:xfrm>
            <a:off x="736600" y="1308100"/>
            <a:ext cx="4572000" cy="276999"/>
          </a:xfrm>
          <a:prstGeom prst="rect">
            <a:avLst/>
          </a:prstGeom>
          <a:noFill/>
        </p:spPr>
        <p:txBody>
          <a:bodyPr vert="horz" wrap="square" lIns="0" tIns="0" rIns="0" bIns="0" rtlCol="0">
            <a:noAutofit/>
          </a:bodyPr>
          <a:lstStyle/>
          <a:p>
            <a:r>
              <a:rPr lang="en-IN" sz="5800" b="1">
                <a:solidFill>
                  <a:srgbClr val="F7F8FA"/>
                </a:solidFill>
                <a:latin typeface="Aptos Display" panose="020B0004020202020204" pitchFamily="34" charset="0"/>
              </a:rPr>
              <a:t>Vivi</a:t>
            </a:r>
          </a:p>
        </p:txBody>
      </p:sp>
      <p:sp>
        <p:nvSpPr>
          <p:cNvPr id="8" name="TextBox 7">
            <a:extLst>
              <a:ext uri="{FF2B5EF4-FFF2-40B4-BE49-F238E27FC236}">
                <a16:creationId xmlns:a16="http://schemas.microsoft.com/office/drawing/2014/main" id="{5D713913-918C-1823-CC7F-329F157D1CE0}"/>
              </a:ext>
            </a:extLst>
          </p:cNvPr>
          <p:cNvSpPr txBox="1"/>
          <p:nvPr/>
        </p:nvSpPr>
        <p:spPr>
          <a:xfrm>
            <a:off x="774700" y="2413000"/>
            <a:ext cx="4445000" cy="276999"/>
          </a:xfrm>
          <a:prstGeom prst="rect">
            <a:avLst/>
          </a:prstGeom>
          <a:noFill/>
        </p:spPr>
        <p:txBody>
          <a:bodyPr vert="horz" wrap="square" lIns="0" tIns="0" rIns="0" bIns="0" rtlCol="0">
            <a:noAutofit/>
          </a:bodyPr>
          <a:lstStyle/>
          <a:p>
            <a:r>
              <a:rPr lang="en-US" sz="2500">
                <a:solidFill>
                  <a:srgbClr val="E8EBF0"/>
                </a:solidFill>
                <a:latin typeface="Aptos Display" panose="020B0004020202020204" pitchFamily="34" charset="0"/>
              </a:rPr>
              <a:t>Voice search for used commercial vehicles</a:t>
            </a:r>
            <a:endParaRPr lang="en-IN" sz="2500">
              <a:solidFill>
                <a:srgbClr val="E8EBF0"/>
              </a:solidFill>
              <a:latin typeface="Aptos Display" panose="020B0004020202020204" pitchFamily="34" charset="0"/>
            </a:endParaRPr>
          </a:p>
        </p:txBody>
      </p:sp>
      <p:sp>
        <p:nvSpPr>
          <p:cNvPr id="9" name="TextBox 8">
            <a:extLst>
              <a:ext uri="{FF2B5EF4-FFF2-40B4-BE49-F238E27FC236}">
                <a16:creationId xmlns:a16="http://schemas.microsoft.com/office/drawing/2014/main" id="{4F19335B-B1E9-1E51-CB8F-CCC3CCCF53B6}"/>
              </a:ext>
            </a:extLst>
          </p:cNvPr>
          <p:cNvSpPr txBox="1"/>
          <p:nvPr/>
        </p:nvSpPr>
        <p:spPr>
          <a:xfrm>
            <a:off x="787400" y="3632200"/>
            <a:ext cx="4254500" cy="276999"/>
          </a:xfrm>
          <a:prstGeom prst="rect">
            <a:avLst/>
          </a:prstGeom>
          <a:noFill/>
        </p:spPr>
        <p:txBody>
          <a:bodyPr vert="horz" wrap="square" lIns="0" tIns="0" rIns="0" bIns="0" rtlCol="0">
            <a:noAutofit/>
          </a:bodyPr>
          <a:lstStyle/>
          <a:p>
            <a:r>
              <a:rPr lang="en-US" sz="1700">
                <a:solidFill>
                  <a:srgbClr val="9299A6"/>
                </a:solidFill>
                <a:latin typeface="Aptos" panose="020B0004020202020204" pitchFamily="34" charset="0"/>
              </a:rPr>
              <a:t>A working agent that keeps every vehicle fact tied to the catalog.</a:t>
            </a:r>
            <a:endParaRPr lang="en-IN" sz="1700">
              <a:solidFill>
                <a:srgbClr val="9299A6"/>
              </a:solidFill>
              <a:latin typeface="Aptos" panose="020B0004020202020204" pitchFamily="34" charset="0"/>
            </a:endParaRPr>
          </a:p>
        </p:txBody>
      </p:sp>
      <p:cxnSp>
        <p:nvCxnSpPr>
          <p:cNvPr id="10" name="Straight Connector 9">
            <a:extLst>
              <a:ext uri="{FF2B5EF4-FFF2-40B4-BE49-F238E27FC236}">
                <a16:creationId xmlns:a16="http://schemas.microsoft.com/office/drawing/2014/main" id="{E7D7C740-4106-EDFE-A37C-04E862DB5C3E}"/>
              </a:ext>
            </a:extLst>
          </p:cNvPr>
          <p:cNvCxnSpPr/>
          <p:nvPr/>
        </p:nvCxnSpPr>
        <p:spPr>
          <a:xfrm>
            <a:off x="787400" y="5041900"/>
            <a:ext cx="1524000" cy="0"/>
          </a:xfrm>
          <a:prstGeom prst="line">
            <a:avLst/>
          </a:prstGeom>
          <a:ln w="38100">
            <a:solidFill>
              <a:srgbClr val="42B6FF"/>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9B89D88-6C79-23D8-C223-DCC3653C8A95}"/>
              </a:ext>
            </a:extLst>
          </p:cNvPr>
          <p:cNvSpPr txBox="1"/>
          <p:nvPr/>
        </p:nvSpPr>
        <p:spPr>
          <a:xfrm>
            <a:off x="787400" y="5283200"/>
            <a:ext cx="2286000" cy="276999"/>
          </a:xfrm>
          <a:prstGeom prst="rect">
            <a:avLst/>
          </a:prstGeom>
          <a:noFill/>
        </p:spPr>
        <p:txBody>
          <a:bodyPr vert="horz" wrap="square" lIns="0" tIns="0" rIns="0" bIns="0" rtlCol="0">
            <a:noAutofit/>
          </a:bodyPr>
          <a:lstStyle/>
          <a:p>
            <a:r>
              <a:rPr lang="en-IN" sz="1300" b="1">
                <a:solidFill>
                  <a:srgbClr val="E8EBF0"/>
                </a:solidFill>
                <a:latin typeface="Aptos" panose="020B0004020202020204" pitchFamily="34" charset="0"/>
              </a:rPr>
              <a:t>Kayvan Shah</a:t>
            </a:r>
          </a:p>
        </p:txBody>
      </p:sp>
      <p:sp>
        <p:nvSpPr>
          <p:cNvPr id="12" name="TextBox 11">
            <a:extLst>
              <a:ext uri="{FF2B5EF4-FFF2-40B4-BE49-F238E27FC236}">
                <a16:creationId xmlns:a16="http://schemas.microsoft.com/office/drawing/2014/main" id="{5B40BED2-A423-7D44-F38D-32432C6E8AA7}"/>
              </a:ext>
            </a:extLst>
          </p:cNvPr>
          <p:cNvSpPr txBox="1"/>
          <p:nvPr/>
        </p:nvSpPr>
        <p:spPr>
          <a:xfrm>
            <a:off x="787400" y="5613400"/>
            <a:ext cx="22860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September 2026</a:t>
            </a:r>
          </a:p>
        </p:txBody>
      </p:sp>
    </p:spTree>
    <p:extLst>
      <p:ext uri="{BB962C8B-B14F-4D97-AF65-F5344CB8AC3E}">
        <p14:creationId xmlns:p14="http://schemas.microsoft.com/office/powerpoint/2010/main" val="3769308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F355D8-BC61-CBC4-300A-DCDD9635A895}"/>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LIVE DEMO</a:t>
            </a:r>
          </a:p>
        </p:txBody>
      </p:sp>
      <p:sp>
        <p:nvSpPr>
          <p:cNvPr id="3" name="TextBox 2">
            <a:extLst>
              <a:ext uri="{FF2B5EF4-FFF2-40B4-BE49-F238E27FC236}">
                <a16:creationId xmlns:a16="http://schemas.microsoft.com/office/drawing/2014/main" id="{F49F0D01-B5E5-95DD-D7FA-D41153CF5D9C}"/>
              </a:ext>
            </a:extLst>
          </p:cNvPr>
          <p:cNvSpPr txBox="1"/>
          <p:nvPr/>
        </p:nvSpPr>
        <p:spPr>
          <a:xfrm>
            <a:off x="711200" y="673100"/>
            <a:ext cx="10795000" cy="276999"/>
          </a:xfrm>
          <a:prstGeom prst="rect">
            <a:avLst/>
          </a:prstGeom>
          <a:noFill/>
        </p:spPr>
        <p:txBody>
          <a:bodyPr vert="horz" wrap="square" lIns="0" tIns="0" rIns="0" bIns="0" rtlCol="0">
            <a:noAutofit/>
          </a:bodyPr>
          <a:lstStyle/>
          <a:p>
            <a:r>
              <a:rPr lang="en-US" sz="3100" b="1">
                <a:solidFill>
                  <a:srgbClr val="F7F8FA"/>
                </a:solidFill>
                <a:latin typeface="Aptos Display" panose="020B0004020202020204" pitchFamily="34" charset="0"/>
              </a:rPr>
              <a:t>The demo starts easy, then tests memory</a:t>
            </a:r>
            <a:endParaRPr lang="en-IN" sz="3100" b="1">
              <a:solidFill>
                <a:srgbClr val="F7F8FA"/>
              </a:solidFill>
              <a:latin typeface="Aptos Display" panose="020B0004020202020204" pitchFamily="34" charset="0"/>
            </a:endParaRPr>
          </a:p>
        </p:txBody>
      </p:sp>
      <p:cxnSp>
        <p:nvCxnSpPr>
          <p:cNvPr id="4" name="Straight Connector 3">
            <a:extLst>
              <a:ext uri="{FF2B5EF4-FFF2-40B4-BE49-F238E27FC236}">
                <a16:creationId xmlns:a16="http://schemas.microsoft.com/office/drawing/2014/main" id="{DED3957F-984D-97E8-409E-E6CD6FF98369}"/>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7574A50-1AD7-9F90-F86B-B8BFCCAAAC5C}"/>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02</a:t>
            </a:r>
          </a:p>
        </p:txBody>
      </p:sp>
      <p:sp>
        <p:nvSpPr>
          <p:cNvPr id="6" name="Oval 5">
            <a:extLst>
              <a:ext uri="{FF2B5EF4-FFF2-40B4-BE49-F238E27FC236}">
                <a16:creationId xmlns:a16="http://schemas.microsoft.com/office/drawing/2014/main" id="{5904FD57-D30C-DA62-9D4F-936A10F2830C}"/>
              </a:ext>
            </a:extLst>
          </p:cNvPr>
          <p:cNvSpPr/>
          <p:nvPr/>
        </p:nvSpPr>
        <p:spPr>
          <a:xfrm>
            <a:off x="736600" y="1739900"/>
            <a:ext cx="355600" cy="355600"/>
          </a:xfrm>
          <a:prstGeom prst="ellipse">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22920F0D-BB9C-393B-523C-D78E249CB33C}"/>
              </a:ext>
            </a:extLst>
          </p:cNvPr>
          <p:cNvSpPr txBox="1"/>
          <p:nvPr/>
        </p:nvSpPr>
        <p:spPr>
          <a:xfrm>
            <a:off x="736600" y="1790700"/>
            <a:ext cx="355600" cy="276999"/>
          </a:xfrm>
          <a:prstGeom prst="rect">
            <a:avLst/>
          </a:prstGeom>
          <a:noFill/>
        </p:spPr>
        <p:txBody>
          <a:bodyPr vert="horz" wrap="square" lIns="0" tIns="0" rIns="0" bIns="0" rtlCol="0">
            <a:noAutofit/>
          </a:bodyPr>
          <a:lstStyle/>
          <a:p>
            <a:pPr algn="ctr"/>
            <a:r>
              <a:rPr lang="en-IN" sz="1400" b="1">
                <a:solidFill>
                  <a:srgbClr val="F7F8FA"/>
                </a:solidFill>
                <a:latin typeface="Aptos" panose="020B0004020202020204" pitchFamily="34" charset="0"/>
              </a:rPr>
              <a:t>1</a:t>
            </a:r>
          </a:p>
        </p:txBody>
      </p:sp>
      <p:sp>
        <p:nvSpPr>
          <p:cNvPr id="8" name="TextBox 7">
            <a:extLst>
              <a:ext uri="{FF2B5EF4-FFF2-40B4-BE49-F238E27FC236}">
                <a16:creationId xmlns:a16="http://schemas.microsoft.com/office/drawing/2014/main" id="{D989A9E0-9303-7D91-A47F-860200CEFDE2}"/>
              </a:ext>
            </a:extLst>
          </p:cNvPr>
          <p:cNvSpPr txBox="1"/>
          <p:nvPr/>
        </p:nvSpPr>
        <p:spPr>
          <a:xfrm>
            <a:off x="1257300" y="1727200"/>
            <a:ext cx="1524000" cy="276999"/>
          </a:xfrm>
          <a:prstGeom prst="rect">
            <a:avLst/>
          </a:prstGeom>
          <a:noFill/>
        </p:spPr>
        <p:txBody>
          <a:bodyPr vert="horz" wrap="square" lIns="0" tIns="0" rIns="0" bIns="0" rtlCol="0">
            <a:noAutofit/>
          </a:bodyPr>
          <a:lstStyle/>
          <a:p>
            <a:r>
              <a:rPr lang="en-IN" sz="1400" b="1">
                <a:solidFill>
                  <a:srgbClr val="42B6FF"/>
                </a:solidFill>
                <a:latin typeface="Aptos" panose="020B0004020202020204" pitchFamily="34" charset="0"/>
              </a:rPr>
              <a:t>Find</a:t>
            </a:r>
          </a:p>
        </p:txBody>
      </p:sp>
      <p:sp>
        <p:nvSpPr>
          <p:cNvPr id="9" name="TextBox 8">
            <a:extLst>
              <a:ext uri="{FF2B5EF4-FFF2-40B4-BE49-F238E27FC236}">
                <a16:creationId xmlns:a16="http://schemas.microsoft.com/office/drawing/2014/main" id="{1ABB5E1E-161E-17CD-A18C-41D08D9F77AD}"/>
              </a:ext>
            </a:extLst>
          </p:cNvPr>
          <p:cNvSpPr txBox="1"/>
          <p:nvPr/>
        </p:nvSpPr>
        <p:spPr>
          <a:xfrm>
            <a:off x="1257300" y="2019300"/>
            <a:ext cx="3403600" cy="276999"/>
          </a:xfrm>
          <a:prstGeom prst="rect">
            <a:avLst/>
          </a:prstGeom>
          <a:noFill/>
        </p:spPr>
        <p:txBody>
          <a:bodyPr vert="horz" wrap="square" lIns="0" tIns="0" rIns="0" bIns="0" rtlCol="0">
            <a:noAutofit/>
          </a:bodyPr>
          <a:lstStyle/>
          <a:p>
            <a:r>
              <a:rPr lang="en-IN" sz="1400">
                <a:solidFill>
                  <a:srgbClr val="E8EBF0"/>
                </a:solidFill>
                <a:latin typeface="Aptos" panose="020B0004020202020204" pitchFamily="34" charset="0"/>
              </a:rPr>
              <a:t>Chhota truck chahiye, 5 lakh ke andar, city delivery ke liye.</a:t>
            </a:r>
          </a:p>
        </p:txBody>
      </p:sp>
      <p:sp>
        <p:nvSpPr>
          <p:cNvPr id="10" name="Oval 9">
            <a:extLst>
              <a:ext uri="{FF2B5EF4-FFF2-40B4-BE49-F238E27FC236}">
                <a16:creationId xmlns:a16="http://schemas.microsoft.com/office/drawing/2014/main" id="{728D81DE-ABB7-71C3-6177-72E33D052FFB}"/>
              </a:ext>
            </a:extLst>
          </p:cNvPr>
          <p:cNvSpPr/>
          <p:nvPr/>
        </p:nvSpPr>
        <p:spPr>
          <a:xfrm>
            <a:off x="736600" y="2781300"/>
            <a:ext cx="355600" cy="355600"/>
          </a:xfrm>
          <a:prstGeom prst="ellipse">
            <a:avLst/>
          </a:prstGeom>
          <a:solidFill>
            <a:srgbClr val="7C5C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38CA0ED-4539-E80D-426C-F6AC8A56B8BF}"/>
              </a:ext>
            </a:extLst>
          </p:cNvPr>
          <p:cNvSpPr txBox="1"/>
          <p:nvPr/>
        </p:nvSpPr>
        <p:spPr>
          <a:xfrm>
            <a:off x="736600" y="2832100"/>
            <a:ext cx="355600" cy="276999"/>
          </a:xfrm>
          <a:prstGeom prst="rect">
            <a:avLst/>
          </a:prstGeom>
          <a:noFill/>
        </p:spPr>
        <p:txBody>
          <a:bodyPr vert="horz" wrap="square" lIns="0" tIns="0" rIns="0" bIns="0" rtlCol="0">
            <a:noAutofit/>
          </a:bodyPr>
          <a:lstStyle/>
          <a:p>
            <a:pPr algn="ctr"/>
            <a:r>
              <a:rPr lang="en-IN" sz="1400" b="1">
                <a:solidFill>
                  <a:srgbClr val="F7F8FA"/>
                </a:solidFill>
                <a:latin typeface="Aptos" panose="020B0004020202020204" pitchFamily="34" charset="0"/>
              </a:rPr>
              <a:t>2</a:t>
            </a:r>
          </a:p>
        </p:txBody>
      </p:sp>
      <p:sp>
        <p:nvSpPr>
          <p:cNvPr id="12" name="TextBox 11">
            <a:extLst>
              <a:ext uri="{FF2B5EF4-FFF2-40B4-BE49-F238E27FC236}">
                <a16:creationId xmlns:a16="http://schemas.microsoft.com/office/drawing/2014/main" id="{4A0E0789-97E0-83AD-6273-31859E02E0FF}"/>
              </a:ext>
            </a:extLst>
          </p:cNvPr>
          <p:cNvSpPr txBox="1"/>
          <p:nvPr/>
        </p:nvSpPr>
        <p:spPr>
          <a:xfrm>
            <a:off x="1257300" y="2768600"/>
            <a:ext cx="1524000" cy="276999"/>
          </a:xfrm>
          <a:prstGeom prst="rect">
            <a:avLst/>
          </a:prstGeom>
          <a:noFill/>
        </p:spPr>
        <p:txBody>
          <a:bodyPr vert="horz" wrap="square" lIns="0" tIns="0" rIns="0" bIns="0" rtlCol="0">
            <a:noAutofit/>
          </a:bodyPr>
          <a:lstStyle/>
          <a:p>
            <a:r>
              <a:rPr lang="en-IN" sz="1400" b="1">
                <a:solidFill>
                  <a:srgbClr val="7C5CFF"/>
                </a:solidFill>
                <a:latin typeface="Aptos" panose="020B0004020202020204" pitchFamily="34" charset="0"/>
              </a:rPr>
              <a:t>Correct</a:t>
            </a:r>
          </a:p>
        </p:txBody>
      </p:sp>
      <p:sp>
        <p:nvSpPr>
          <p:cNvPr id="13" name="TextBox 12">
            <a:extLst>
              <a:ext uri="{FF2B5EF4-FFF2-40B4-BE49-F238E27FC236}">
                <a16:creationId xmlns:a16="http://schemas.microsoft.com/office/drawing/2014/main" id="{A3C33FE6-4F01-5213-F585-20F411203C0E}"/>
              </a:ext>
            </a:extLst>
          </p:cNvPr>
          <p:cNvSpPr txBox="1"/>
          <p:nvPr/>
        </p:nvSpPr>
        <p:spPr>
          <a:xfrm>
            <a:off x="1257300" y="3060700"/>
            <a:ext cx="3403600" cy="276999"/>
          </a:xfrm>
          <a:prstGeom prst="rect">
            <a:avLst/>
          </a:prstGeom>
          <a:noFill/>
        </p:spPr>
        <p:txBody>
          <a:bodyPr vert="horz" wrap="square" lIns="0" tIns="0" rIns="0" bIns="0" rtlCol="0">
            <a:noAutofit/>
          </a:bodyPr>
          <a:lstStyle/>
          <a:p>
            <a:r>
              <a:rPr lang="en-IN" sz="1400">
                <a:solidFill>
                  <a:srgbClr val="E8EBF0"/>
                </a:solidFill>
                <a:latin typeface="Aptos" panose="020B0004020202020204" pitchFamily="34" charset="0"/>
              </a:rPr>
              <a:t>Nahi, diesel nahi, CNG.</a:t>
            </a:r>
          </a:p>
        </p:txBody>
      </p:sp>
      <p:sp>
        <p:nvSpPr>
          <p:cNvPr id="14" name="Oval 13">
            <a:extLst>
              <a:ext uri="{FF2B5EF4-FFF2-40B4-BE49-F238E27FC236}">
                <a16:creationId xmlns:a16="http://schemas.microsoft.com/office/drawing/2014/main" id="{A7622CD2-8D9E-2EFC-BDF9-248B4848B7A0}"/>
              </a:ext>
            </a:extLst>
          </p:cNvPr>
          <p:cNvSpPr/>
          <p:nvPr/>
        </p:nvSpPr>
        <p:spPr>
          <a:xfrm>
            <a:off x="736600" y="3822700"/>
            <a:ext cx="355600" cy="355600"/>
          </a:xfrm>
          <a:prstGeom prst="ellipse">
            <a:avLst/>
          </a:prstGeom>
          <a:solidFill>
            <a:srgbClr val="64E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F0B7DEB1-F594-0FFE-95E0-574CCAEA0224}"/>
              </a:ext>
            </a:extLst>
          </p:cNvPr>
          <p:cNvSpPr txBox="1"/>
          <p:nvPr/>
        </p:nvSpPr>
        <p:spPr>
          <a:xfrm>
            <a:off x="736600" y="3873500"/>
            <a:ext cx="355600" cy="276999"/>
          </a:xfrm>
          <a:prstGeom prst="rect">
            <a:avLst/>
          </a:prstGeom>
          <a:noFill/>
        </p:spPr>
        <p:txBody>
          <a:bodyPr vert="horz" wrap="square" lIns="0" tIns="0" rIns="0" bIns="0" rtlCol="0">
            <a:noAutofit/>
          </a:bodyPr>
          <a:lstStyle/>
          <a:p>
            <a:pPr algn="ctr"/>
            <a:r>
              <a:rPr lang="en-IN" sz="1400" b="1">
                <a:solidFill>
                  <a:srgbClr val="F7F8FA"/>
                </a:solidFill>
                <a:latin typeface="Aptos" panose="020B0004020202020204" pitchFamily="34" charset="0"/>
              </a:rPr>
              <a:t>3</a:t>
            </a:r>
          </a:p>
        </p:txBody>
      </p:sp>
      <p:sp>
        <p:nvSpPr>
          <p:cNvPr id="16" name="TextBox 15">
            <a:extLst>
              <a:ext uri="{FF2B5EF4-FFF2-40B4-BE49-F238E27FC236}">
                <a16:creationId xmlns:a16="http://schemas.microsoft.com/office/drawing/2014/main" id="{CDFE2B7A-A070-6DCD-DD6A-04818D36B5A9}"/>
              </a:ext>
            </a:extLst>
          </p:cNvPr>
          <p:cNvSpPr txBox="1"/>
          <p:nvPr/>
        </p:nvSpPr>
        <p:spPr>
          <a:xfrm>
            <a:off x="1257300" y="3810000"/>
            <a:ext cx="1524000" cy="276999"/>
          </a:xfrm>
          <a:prstGeom prst="rect">
            <a:avLst/>
          </a:prstGeom>
          <a:noFill/>
        </p:spPr>
        <p:txBody>
          <a:bodyPr vert="horz" wrap="square" lIns="0" tIns="0" rIns="0" bIns="0" rtlCol="0">
            <a:noAutofit/>
          </a:bodyPr>
          <a:lstStyle/>
          <a:p>
            <a:r>
              <a:rPr lang="en-IN" sz="1400" b="1">
                <a:solidFill>
                  <a:srgbClr val="64E6FF"/>
                </a:solidFill>
                <a:latin typeface="Aptos" panose="020B0004020202020204" pitchFamily="34" charset="0"/>
              </a:rPr>
              <a:t>Ask</a:t>
            </a:r>
          </a:p>
        </p:txBody>
      </p:sp>
      <p:sp>
        <p:nvSpPr>
          <p:cNvPr id="17" name="TextBox 16">
            <a:extLst>
              <a:ext uri="{FF2B5EF4-FFF2-40B4-BE49-F238E27FC236}">
                <a16:creationId xmlns:a16="http://schemas.microsoft.com/office/drawing/2014/main" id="{1D7A5D20-1328-082C-910B-9E156873E06E}"/>
              </a:ext>
            </a:extLst>
          </p:cNvPr>
          <p:cNvSpPr txBox="1"/>
          <p:nvPr/>
        </p:nvSpPr>
        <p:spPr>
          <a:xfrm>
            <a:off x="1257300" y="4102100"/>
            <a:ext cx="34036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Second one ka payload aur GVW kya hai?</a:t>
            </a:r>
            <a:endParaRPr lang="en-IN" sz="1400">
              <a:solidFill>
                <a:srgbClr val="E8EBF0"/>
              </a:solidFill>
              <a:latin typeface="Aptos" panose="020B0004020202020204" pitchFamily="34" charset="0"/>
            </a:endParaRPr>
          </a:p>
        </p:txBody>
      </p:sp>
      <p:sp>
        <p:nvSpPr>
          <p:cNvPr id="18" name="Oval 17">
            <a:extLst>
              <a:ext uri="{FF2B5EF4-FFF2-40B4-BE49-F238E27FC236}">
                <a16:creationId xmlns:a16="http://schemas.microsoft.com/office/drawing/2014/main" id="{E6D29CB3-FA49-3B50-E762-D4FC1F5304AE}"/>
              </a:ext>
            </a:extLst>
          </p:cNvPr>
          <p:cNvSpPr/>
          <p:nvPr/>
        </p:nvSpPr>
        <p:spPr>
          <a:xfrm>
            <a:off x="736600" y="4864100"/>
            <a:ext cx="355600" cy="355600"/>
          </a:xfrm>
          <a:prstGeom prst="ellipse">
            <a:avLst/>
          </a:prstGeom>
          <a:solidFill>
            <a:srgbClr val="F5A5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9015B9E6-90F5-5FF5-919B-447D803A5D49}"/>
              </a:ext>
            </a:extLst>
          </p:cNvPr>
          <p:cNvSpPr txBox="1"/>
          <p:nvPr/>
        </p:nvSpPr>
        <p:spPr>
          <a:xfrm>
            <a:off x="736600" y="4914900"/>
            <a:ext cx="355600" cy="276999"/>
          </a:xfrm>
          <a:prstGeom prst="rect">
            <a:avLst/>
          </a:prstGeom>
          <a:noFill/>
        </p:spPr>
        <p:txBody>
          <a:bodyPr vert="horz" wrap="square" lIns="0" tIns="0" rIns="0" bIns="0" rtlCol="0">
            <a:noAutofit/>
          </a:bodyPr>
          <a:lstStyle/>
          <a:p>
            <a:pPr algn="ctr"/>
            <a:r>
              <a:rPr lang="en-IN" sz="1400" b="1">
                <a:solidFill>
                  <a:srgbClr val="F7F8FA"/>
                </a:solidFill>
                <a:latin typeface="Aptos" panose="020B0004020202020204" pitchFamily="34" charset="0"/>
              </a:rPr>
              <a:t>4</a:t>
            </a:r>
          </a:p>
        </p:txBody>
      </p:sp>
      <p:sp>
        <p:nvSpPr>
          <p:cNvPr id="20" name="TextBox 19">
            <a:extLst>
              <a:ext uri="{FF2B5EF4-FFF2-40B4-BE49-F238E27FC236}">
                <a16:creationId xmlns:a16="http://schemas.microsoft.com/office/drawing/2014/main" id="{C0C0E419-84A2-86C4-CA34-0BBB3E00E0E2}"/>
              </a:ext>
            </a:extLst>
          </p:cNvPr>
          <p:cNvSpPr txBox="1"/>
          <p:nvPr/>
        </p:nvSpPr>
        <p:spPr>
          <a:xfrm>
            <a:off x="1257300" y="4851400"/>
            <a:ext cx="1524000" cy="276999"/>
          </a:xfrm>
          <a:prstGeom prst="rect">
            <a:avLst/>
          </a:prstGeom>
          <a:noFill/>
        </p:spPr>
        <p:txBody>
          <a:bodyPr vert="horz" wrap="square" lIns="0" tIns="0" rIns="0" bIns="0" rtlCol="0">
            <a:noAutofit/>
          </a:bodyPr>
          <a:lstStyle/>
          <a:p>
            <a:r>
              <a:rPr lang="en-IN" sz="1400" b="1">
                <a:solidFill>
                  <a:srgbClr val="F5A524"/>
                </a:solidFill>
                <a:latin typeface="Aptos" panose="020B0004020202020204" pitchFamily="34" charset="0"/>
              </a:rPr>
              <a:t>Push it</a:t>
            </a:r>
          </a:p>
        </p:txBody>
      </p:sp>
      <p:sp>
        <p:nvSpPr>
          <p:cNvPr id="21" name="TextBox 20">
            <a:extLst>
              <a:ext uri="{FF2B5EF4-FFF2-40B4-BE49-F238E27FC236}">
                <a16:creationId xmlns:a16="http://schemas.microsoft.com/office/drawing/2014/main" id="{B97D8B1A-0877-5831-3840-5DB80AC1D13D}"/>
              </a:ext>
            </a:extLst>
          </p:cNvPr>
          <p:cNvSpPr txBox="1"/>
          <p:nvPr/>
        </p:nvSpPr>
        <p:spPr>
          <a:xfrm>
            <a:off x="1257300" y="5143500"/>
            <a:ext cx="34036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Actually, show only CNG tankers under ₹1 lakh in Kolkata.</a:t>
            </a:r>
            <a:endParaRPr lang="en-IN" sz="1400">
              <a:solidFill>
                <a:srgbClr val="E8EBF0"/>
              </a:solidFill>
              <a:latin typeface="Aptos" panose="020B0004020202020204" pitchFamily="34" charset="0"/>
            </a:endParaRPr>
          </a:p>
        </p:txBody>
      </p:sp>
      <p:pic>
        <p:nvPicPr>
          <p:cNvPr id="23" name="Picture 22">
            <a:extLst>
              <a:ext uri="{FF2B5EF4-FFF2-40B4-BE49-F238E27FC236}">
                <a16:creationId xmlns:a16="http://schemas.microsoft.com/office/drawing/2014/main" id="{B7B2C795-757B-F5B8-F81F-74162449913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940300" y="1676400"/>
            <a:ext cx="6604000" cy="4533900"/>
          </a:xfrm>
          <a:prstGeom prst="rect">
            <a:avLst/>
          </a:prstGeom>
          <a:ln w="12700">
            <a:solidFill>
              <a:srgbClr val="181D27"/>
            </a:solidFill>
          </a:ln>
        </p:spPr>
      </p:pic>
      <p:sp>
        <p:nvSpPr>
          <p:cNvPr id="24" name="TextBox 23">
            <a:extLst>
              <a:ext uri="{FF2B5EF4-FFF2-40B4-BE49-F238E27FC236}">
                <a16:creationId xmlns:a16="http://schemas.microsoft.com/office/drawing/2014/main" id="{72CBF03F-2285-B60C-B079-D4AD4CBC3702}"/>
              </a:ext>
            </a:extLst>
          </p:cNvPr>
          <p:cNvSpPr txBox="1"/>
          <p:nvPr/>
        </p:nvSpPr>
        <p:spPr>
          <a:xfrm>
            <a:off x="9385300" y="6273800"/>
            <a:ext cx="2159000" cy="276999"/>
          </a:xfrm>
          <a:prstGeom prst="rect">
            <a:avLst/>
          </a:prstGeom>
          <a:noFill/>
        </p:spPr>
        <p:txBody>
          <a:bodyPr vert="horz" wrap="square" lIns="0" tIns="0" rIns="0" bIns="0" rtlCol="0">
            <a:noAutofit/>
          </a:bodyPr>
          <a:lstStyle/>
          <a:p>
            <a:pPr algn="r"/>
            <a:r>
              <a:rPr lang="en-IN" sz="900">
                <a:solidFill>
                  <a:srgbClr val="596170"/>
                </a:solidFill>
                <a:latin typeface="Aptos" panose="020B0004020202020204" pitchFamily="34" charset="0"/>
              </a:rPr>
              <a:t>Actual localhost interface</a:t>
            </a:r>
          </a:p>
        </p:txBody>
      </p:sp>
    </p:spTree>
    <p:extLst>
      <p:ext uri="{BB962C8B-B14F-4D97-AF65-F5344CB8AC3E}">
        <p14:creationId xmlns:p14="http://schemas.microsoft.com/office/powerpoint/2010/main" val="3208612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0FBC75-0D1E-A507-EC7B-43232E1A6D51}"/>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ARCHITECTURE</a:t>
            </a:r>
          </a:p>
        </p:txBody>
      </p:sp>
      <p:sp>
        <p:nvSpPr>
          <p:cNvPr id="3" name="TextBox 2">
            <a:extLst>
              <a:ext uri="{FF2B5EF4-FFF2-40B4-BE49-F238E27FC236}">
                <a16:creationId xmlns:a16="http://schemas.microsoft.com/office/drawing/2014/main" id="{BCF6D7F1-138C-3BDB-9474-FEF38B7A872A}"/>
              </a:ext>
            </a:extLst>
          </p:cNvPr>
          <p:cNvSpPr txBox="1"/>
          <p:nvPr/>
        </p:nvSpPr>
        <p:spPr>
          <a:xfrm>
            <a:off x="711200" y="673100"/>
            <a:ext cx="10795000" cy="276999"/>
          </a:xfrm>
          <a:prstGeom prst="rect">
            <a:avLst/>
          </a:prstGeom>
          <a:noFill/>
        </p:spPr>
        <p:txBody>
          <a:bodyPr vert="horz" wrap="square" lIns="0" tIns="0" rIns="0" bIns="0" rtlCol="0">
            <a:noAutofit/>
          </a:bodyPr>
          <a:lstStyle/>
          <a:p>
            <a:r>
              <a:rPr lang="en-IN" sz="3100" b="1">
                <a:solidFill>
                  <a:srgbClr val="F7F8FA"/>
                </a:solidFill>
                <a:latin typeface="Aptos Display" panose="020B0004020202020204" pitchFamily="34" charset="0"/>
              </a:rPr>
              <a:t>Seven seams, one process</a:t>
            </a:r>
          </a:p>
        </p:txBody>
      </p:sp>
      <p:cxnSp>
        <p:nvCxnSpPr>
          <p:cNvPr id="4" name="Straight Connector 3">
            <a:extLst>
              <a:ext uri="{FF2B5EF4-FFF2-40B4-BE49-F238E27FC236}">
                <a16:creationId xmlns:a16="http://schemas.microsoft.com/office/drawing/2014/main" id="{937D23CD-8F3C-0991-38D9-3FEB175F8C94}"/>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71AB173E-2473-45E0-EA56-B2E37EB39AC2}"/>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03</a:t>
            </a:r>
          </a:p>
        </p:txBody>
      </p:sp>
      <p:sp>
        <p:nvSpPr>
          <p:cNvPr id="6" name="TextBox 5">
            <a:extLst>
              <a:ext uri="{FF2B5EF4-FFF2-40B4-BE49-F238E27FC236}">
                <a16:creationId xmlns:a16="http://schemas.microsoft.com/office/drawing/2014/main" id="{0A7BCBE2-0D50-1E9C-56BD-B9AF3DF96817}"/>
              </a:ext>
            </a:extLst>
          </p:cNvPr>
          <p:cNvSpPr txBox="1"/>
          <p:nvPr/>
        </p:nvSpPr>
        <p:spPr>
          <a:xfrm>
            <a:off x="736600" y="1524000"/>
            <a:ext cx="10668000" cy="276999"/>
          </a:xfrm>
          <a:prstGeom prst="rect">
            <a:avLst/>
          </a:prstGeom>
          <a:noFill/>
        </p:spPr>
        <p:txBody>
          <a:bodyPr vert="horz" wrap="square" lIns="0" tIns="0" rIns="0" bIns="0" rtlCol="0">
            <a:noAutofit/>
          </a:bodyPr>
          <a:lstStyle/>
          <a:p>
            <a:r>
              <a:rPr lang="en-US" sz="1600">
                <a:solidFill>
                  <a:srgbClr val="9299A6"/>
                </a:solidFill>
                <a:latin typeface="Aptos" panose="020B0004020202020204" pitchFamily="34" charset="0"/>
              </a:rPr>
              <a:t>The live path stays short. State and evaluation observe it without becoming extra agents.</a:t>
            </a:r>
            <a:endParaRPr lang="en-IN" sz="1600">
              <a:solidFill>
                <a:srgbClr val="9299A6"/>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85CE5A7B-CA73-6AA9-FED4-F0FF127A41D1}"/>
              </a:ext>
            </a:extLst>
          </p:cNvPr>
          <p:cNvSpPr/>
          <p:nvPr/>
        </p:nvSpPr>
        <p:spPr>
          <a:xfrm>
            <a:off x="736600" y="2336800"/>
            <a:ext cx="1676400" cy="13208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C114515-3B6F-3AD4-0BCA-55045C7E3E07}"/>
              </a:ext>
            </a:extLst>
          </p:cNvPr>
          <p:cNvSpPr txBox="1"/>
          <p:nvPr/>
        </p:nvSpPr>
        <p:spPr>
          <a:xfrm>
            <a:off x="914400" y="2514600"/>
            <a:ext cx="381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01</a:t>
            </a:r>
          </a:p>
        </p:txBody>
      </p:sp>
      <p:sp>
        <p:nvSpPr>
          <p:cNvPr id="9" name="TextBox 8">
            <a:extLst>
              <a:ext uri="{FF2B5EF4-FFF2-40B4-BE49-F238E27FC236}">
                <a16:creationId xmlns:a16="http://schemas.microsoft.com/office/drawing/2014/main" id="{8A283852-0085-1A16-318C-EEA6A3CA92DF}"/>
              </a:ext>
            </a:extLst>
          </p:cNvPr>
          <p:cNvSpPr txBox="1"/>
          <p:nvPr/>
        </p:nvSpPr>
        <p:spPr>
          <a:xfrm>
            <a:off x="914400" y="2819400"/>
            <a:ext cx="13208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Voice interface</a:t>
            </a:r>
          </a:p>
        </p:txBody>
      </p:sp>
      <p:sp>
        <p:nvSpPr>
          <p:cNvPr id="10" name="TextBox 9">
            <a:extLst>
              <a:ext uri="{FF2B5EF4-FFF2-40B4-BE49-F238E27FC236}">
                <a16:creationId xmlns:a16="http://schemas.microsoft.com/office/drawing/2014/main" id="{1EBCA3BE-2FF9-D550-6807-8F78206CF3E3}"/>
              </a:ext>
            </a:extLst>
          </p:cNvPr>
          <p:cNvSpPr txBox="1"/>
          <p:nvPr/>
        </p:nvSpPr>
        <p:spPr>
          <a:xfrm>
            <a:off x="914400" y="3251200"/>
            <a:ext cx="13208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Mic + playback</a:t>
            </a:r>
          </a:p>
        </p:txBody>
      </p:sp>
      <p:sp>
        <p:nvSpPr>
          <p:cNvPr id="11" name="Rectangle: Rounded Corners 10">
            <a:extLst>
              <a:ext uri="{FF2B5EF4-FFF2-40B4-BE49-F238E27FC236}">
                <a16:creationId xmlns:a16="http://schemas.microsoft.com/office/drawing/2014/main" id="{07673144-8813-BF37-E5A9-91C87B93BD6D}"/>
              </a:ext>
            </a:extLst>
          </p:cNvPr>
          <p:cNvSpPr/>
          <p:nvPr/>
        </p:nvSpPr>
        <p:spPr>
          <a:xfrm>
            <a:off x="2768600" y="2336800"/>
            <a:ext cx="1422400" cy="13208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CA8E39EF-684B-F401-62FA-D8C138687E06}"/>
              </a:ext>
            </a:extLst>
          </p:cNvPr>
          <p:cNvSpPr txBox="1"/>
          <p:nvPr/>
        </p:nvSpPr>
        <p:spPr>
          <a:xfrm>
            <a:off x="2946400" y="2514600"/>
            <a:ext cx="381000" cy="276999"/>
          </a:xfrm>
          <a:prstGeom prst="rect">
            <a:avLst/>
          </a:prstGeom>
          <a:noFill/>
        </p:spPr>
        <p:txBody>
          <a:bodyPr vert="horz" wrap="square" lIns="0" tIns="0" rIns="0" bIns="0" rtlCol="0">
            <a:noAutofit/>
          </a:bodyPr>
          <a:lstStyle/>
          <a:p>
            <a:r>
              <a:rPr lang="en-IN" sz="1000" b="1">
                <a:solidFill>
                  <a:srgbClr val="7C5CFF"/>
                </a:solidFill>
                <a:latin typeface="Aptos" panose="020B0004020202020204" pitchFamily="34" charset="0"/>
              </a:rPr>
              <a:t>02</a:t>
            </a:r>
          </a:p>
        </p:txBody>
      </p:sp>
      <p:sp>
        <p:nvSpPr>
          <p:cNvPr id="13" name="TextBox 12">
            <a:extLst>
              <a:ext uri="{FF2B5EF4-FFF2-40B4-BE49-F238E27FC236}">
                <a16:creationId xmlns:a16="http://schemas.microsoft.com/office/drawing/2014/main" id="{CA506CC2-EAE3-C4EE-AA04-5E42555E287A}"/>
              </a:ext>
            </a:extLst>
          </p:cNvPr>
          <p:cNvSpPr txBox="1"/>
          <p:nvPr/>
        </p:nvSpPr>
        <p:spPr>
          <a:xfrm>
            <a:off x="2946400" y="2819400"/>
            <a:ext cx="10668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Speech to text</a:t>
            </a:r>
          </a:p>
        </p:txBody>
      </p:sp>
      <p:sp>
        <p:nvSpPr>
          <p:cNvPr id="14" name="TextBox 13">
            <a:extLst>
              <a:ext uri="{FF2B5EF4-FFF2-40B4-BE49-F238E27FC236}">
                <a16:creationId xmlns:a16="http://schemas.microsoft.com/office/drawing/2014/main" id="{B7987982-29E4-41B8-E341-F259604FEC01}"/>
              </a:ext>
            </a:extLst>
          </p:cNvPr>
          <p:cNvSpPr txBox="1"/>
          <p:nvPr/>
        </p:nvSpPr>
        <p:spPr>
          <a:xfrm>
            <a:off x="2946400" y="3251200"/>
            <a:ext cx="10668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Groq Whisper</a:t>
            </a:r>
          </a:p>
        </p:txBody>
      </p:sp>
      <p:sp>
        <p:nvSpPr>
          <p:cNvPr id="15" name="Rectangle: Rounded Corners 14">
            <a:extLst>
              <a:ext uri="{FF2B5EF4-FFF2-40B4-BE49-F238E27FC236}">
                <a16:creationId xmlns:a16="http://schemas.microsoft.com/office/drawing/2014/main" id="{E6CBD65E-8B7C-CF6C-9533-7DECB8C2686A}"/>
              </a:ext>
            </a:extLst>
          </p:cNvPr>
          <p:cNvSpPr/>
          <p:nvPr/>
        </p:nvSpPr>
        <p:spPr>
          <a:xfrm>
            <a:off x="4546600" y="2336800"/>
            <a:ext cx="1803400" cy="13208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0F5B2B4D-9B36-23B1-BC11-47FA37CF0C32}"/>
              </a:ext>
            </a:extLst>
          </p:cNvPr>
          <p:cNvSpPr txBox="1"/>
          <p:nvPr/>
        </p:nvSpPr>
        <p:spPr>
          <a:xfrm>
            <a:off x="4724400" y="2514600"/>
            <a:ext cx="381000" cy="276999"/>
          </a:xfrm>
          <a:prstGeom prst="rect">
            <a:avLst/>
          </a:prstGeom>
          <a:noFill/>
        </p:spPr>
        <p:txBody>
          <a:bodyPr vert="horz" wrap="square" lIns="0" tIns="0" rIns="0" bIns="0" rtlCol="0">
            <a:noAutofit/>
          </a:bodyPr>
          <a:lstStyle/>
          <a:p>
            <a:r>
              <a:rPr lang="en-IN" sz="1000" b="1">
                <a:solidFill>
                  <a:srgbClr val="64E6FF"/>
                </a:solidFill>
                <a:latin typeface="Aptos" panose="020B0004020202020204" pitchFamily="34" charset="0"/>
              </a:rPr>
              <a:t>03</a:t>
            </a:r>
          </a:p>
        </p:txBody>
      </p:sp>
      <p:sp>
        <p:nvSpPr>
          <p:cNvPr id="17" name="TextBox 16">
            <a:extLst>
              <a:ext uri="{FF2B5EF4-FFF2-40B4-BE49-F238E27FC236}">
                <a16:creationId xmlns:a16="http://schemas.microsoft.com/office/drawing/2014/main" id="{81EAB4D2-90BC-9F4E-5FA1-250135110029}"/>
              </a:ext>
            </a:extLst>
          </p:cNvPr>
          <p:cNvSpPr txBox="1"/>
          <p:nvPr/>
        </p:nvSpPr>
        <p:spPr>
          <a:xfrm>
            <a:off x="4724400" y="2819400"/>
            <a:ext cx="14478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Understanding</a:t>
            </a:r>
          </a:p>
        </p:txBody>
      </p:sp>
      <p:sp>
        <p:nvSpPr>
          <p:cNvPr id="18" name="TextBox 17">
            <a:extLst>
              <a:ext uri="{FF2B5EF4-FFF2-40B4-BE49-F238E27FC236}">
                <a16:creationId xmlns:a16="http://schemas.microsoft.com/office/drawing/2014/main" id="{335F4CA8-A0F9-2157-1135-E0BDEFCB7B78}"/>
              </a:ext>
            </a:extLst>
          </p:cNvPr>
          <p:cNvSpPr txBox="1"/>
          <p:nvPr/>
        </p:nvSpPr>
        <p:spPr>
          <a:xfrm>
            <a:off x="4724400" y="3251200"/>
            <a:ext cx="14478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One agent</a:t>
            </a:r>
          </a:p>
        </p:txBody>
      </p:sp>
      <p:sp>
        <p:nvSpPr>
          <p:cNvPr id="19" name="Rectangle: Rounded Corners 18">
            <a:extLst>
              <a:ext uri="{FF2B5EF4-FFF2-40B4-BE49-F238E27FC236}">
                <a16:creationId xmlns:a16="http://schemas.microsoft.com/office/drawing/2014/main" id="{10B1BB25-73CD-5DED-182C-94D98858DF42}"/>
              </a:ext>
            </a:extLst>
          </p:cNvPr>
          <p:cNvSpPr/>
          <p:nvPr/>
        </p:nvSpPr>
        <p:spPr>
          <a:xfrm>
            <a:off x="6705600" y="2336800"/>
            <a:ext cx="1676400" cy="13208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35B95825-BF7B-10AF-DE5E-65D766DCA648}"/>
              </a:ext>
            </a:extLst>
          </p:cNvPr>
          <p:cNvSpPr txBox="1"/>
          <p:nvPr/>
        </p:nvSpPr>
        <p:spPr>
          <a:xfrm>
            <a:off x="6883400" y="2514600"/>
            <a:ext cx="381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04</a:t>
            </a:r>
          </a:p>
        </p:txBody>
      </p:sp>
      <p:sp>
        <p:nvSpPr>
          <p:cNvPr id="21" name="TextBox 20">
            <a:extLst>
              <a:ext uri="{FF2B5EF4-FFF2-40B4-BE49-F238E27FC236}">
                <a16:creationId xmlns:a16="http://schemas.microsoft.com/office/drawing/2014/main" id="{2F39CDD6-3991-EBC2-84A4-52E95C452D49}"/>
              </a:ext>
            </a:extLst>
          </p:cNvPr>
          <p:cNvSpPr txBox="1"/>
          <p:nvPr/>
        </p:nvSpPr>
        <p:spPr>
          <a:xfrm>
            <a:off x="6883400" y="2819400"/>
            <a:ext cx="13208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Catalog search</a:t>
            </a:r>
          </a:p>
        </p:txBody>
      </p:sp>
      <p:sp>
        <p:nvSpPr>
          <p:cNvPr id="22" name="TextBox 21">
            <a:extLst>
              <a:ext uri="{FF2B5EF4-FFF2-40B4-BE49-F238E27FC236}">
                <a16:creationId xmlns:a16="http://schemas.microsoft.com/office/drawing/2014/main" id="{009D0B5F-E1F7-6671-513B-21917D6291D1}"/>
              </a:ext>
            </a:extLst>
          </p:cNvPr>
          <p:cNvSpPr txBox="1"/>
          <p:nvPr/>
        </p:nvSpPr>
        <p:spPr>
          <a:xfrm>
            <a:off x="6883400" y="3251200"/>
            <a:ext cx="13208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Hard filters</a:t>
            </a:r>
          </a:p>
        </p:txBody>
      </p:sp>
      <p:sp>
        <p:nvSpPr>
          <p:cNvPr id="23" name="Rectangle: Rounded Corners 22">
            <a:extLst>
              <a:ext uri="{FF2B5EF4-FFF2-40B4-BE49-F238E27FC236}">
                <a16:creationId xmlns:a16="http://schemas.microsoft.com/office/drawing/2014/main" id="{5D49D984-4068-FC2F-A538-7F167FCD6675}"/>
              </a:ext>
            </a:extLst>
          </p:cNvPr>
          <p:cNvSpPr/>
          <p:nvPr/>
        </p:nvSpPr>
        <p:spPr>
          <a:xfrm>
            <a:off x="8737600" y="2336800"/>
            <a:ext cx="2286000" cy="13208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977B70FA-519E-8CA8-9185-D3135F211664}"/>
              </a:ext>
            </a:extLst>
          </p:cNvPr>
          <p:cNvSpPr txBox="1"/>
          <p:nvPr/>
        </p:nvSpPr>
        <p:spPr>
          <a:xfrm>
            <a:off x="8915400" y="2514600"/>
            <a:ext cx="381000" cy="276999"/>
          </a:xfrm>
          <a:prstGeom prst="rect">
            <a:avLst/>
          </a:prstGeom>
          <a:noFill/>
        </p:spPr>
        <p:txBody>
          <a:bodyPr vert="horz" wrap="square" lIns="0" tIns="0" rIns="0" bIns="0" rtlCol="0">
            <a:noAutofit/>
          </a:bodyPr>
          <a:lstStyle/>
          <a:p>
            <a:r>
              <a:rPr lang="en-IN" sz="1000" b="1">
                <a:solidFill>
                  <a:srgbClr val="7C5CFF"/>
                </a:solidFill>
                <a:latin typeface="Aptos" panose="020B0004020202020204" pitchFamily="34" charset="0"/>
              </a:rPr>
              <a:t>05</a:t>
            </a:r>
          </a:p>
        </p:txBody>
      </p:sp>
      <p:sp>
        <p:nvSpPr>
          <p:cNvPr id="25" name="TextBox 24">
            <a:extLst>
              <a:ext uri="{FF2B5EF4-FFF2-40B4-BE49-F238E27FC236}">
                <a16:creationId xmlns:a16="http://schemas.microsoft.com/office/drawing/2014/main" id="{FC970FEC-A50D-9819-B935-70DBA3369442}"/>
              </a:ext>
            </a:extLst>
          </p:cNvPr>
          <p:cNvSpPr txBox="1"/>
          <p:nvPr/>
        </p:nvSpPr>
        <p:spPr>
          <a:xfrm>
            <a:off x="8915400" y="2819400"/>
            <a:ext cx="19304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Response + TTS</a:t>
            </a:r>
          </a:p>
        </p:txBody>
      </p:sp>
      <p:sp>
        <p:nvSpPr>
          <p:cNvPr id="26" name="TextBox 25">
            <a:extLst>
              <a:ext uri="{FF2B5EF4-FFF2-40B4-BE49-F238E27FC236}">
                <a16:creationId xmlns:a16="http://schemas.microsoft.com/office/drawing/2014/main" id="{DBA10FD2-F4BA-8F6E-4C7B-BE1FCADDCD4D}"/>
              </a:ext>
            </a:extLst>
          </p:cNvPr>
          <p:cNvSpPr txBox="1"/>
          <p:nvPr/>
        </p:nvSpPr>
        <p:spPr>
          <a:xfrm>
            <a:off x="8915400" y="3251200"/>
            <a:ext cx="19304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Grounded audio</a:t>
            </a:r>
          </a:p>
        </p:txBody>
      </p:sp>
      <p:cxnSp>
        <p:nvCxnSpPr>
          <p:cNvPr id="27" name="Straight Connector 26">
            <a:extLst>
              <a:ext uri="{FF2B5EF4-FFF2-40B4-BE49-F238E27FC236}">
                <a16:creationId xmlns:a16="http://schemas.microsoft.com/office/drawing/2014/main" id="{A4EC7620-4666-5215-3EDF-C786911D815D}"/>
              </a:ext>
            </a:extLst>
          </p:cNvPr>
          <p:cNvCxnSpPr/>
          <p:nvPr/>
        </p:nvCxnSpPr>
        <p:spPr>
          <a:xfrm>
            <a:off x="2413000" y="2997200"/>
            <a:ext cx="3556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7C19C7F-170A-A56A-40A8-E22FC7C66F04}"/>
              </a:ext>
            </a:extLst>
          </p:cNvPr>
          <p:cNvCxnSpPr/>
          <p:nvPr/>
        </p:nvCxnSpPr>
        <p:spPr>
          <a:xfrm>
            <a:off x="4191000" y="2997200"/>
            <a:ext cx="3556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EF542E6-2070-8375-0DE7-3D86BD2BB6FF}"/>
              </a:ext>
            </a:extLst>
          </p:cNvPr>
          <p:cNvCxnSpPr/>
          <p:nvPr/>
        </p:nvCxnSpPr>
        <p:spPr>
          <a:xfrm>
            <a:off x="6350000" y="2997200"/>
            <a:ext cx="3556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FE2A33D-6F0E-E902-F1A6-E83691DCCA19}"/>
              </a:ext>
            </a:extLst>
          </p:cNvPr>
          <p:cNvCxnSpPr/>
          <p:nvPr/>
        </p:nvCxnSpPr>
        <p:spPr>
          <a:xfrm>
            <a:off x="8382000" y="2997200"/>
            <a:ext cx="3556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246261E7-90F9-EEDB-12E9-00D2B5185029}"/>
              </a:ext>
            </a:extLst>
          </p:cNvPr>
          <p:cNvSpPr/>
          <p:nvPr/>
        </p:nvSpPr>
        <p:spPr>
          <a:xfrm>
            <a:off x="3606800" y="4419600"/>
            <a:ext cx="2743200" cy="1041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E1186FDF-12B8-1866-C55B-B64A0BEDAAFB}"/>
              </a:ext>
            </a:extLst>
          </p:cNvPr>
          <p:cNvSpPr txBox="1"/>
          <p:nvPr/>
        </p:nvSpPr>
        <p:spPr>
          <a:xfrm>
            <a:off x="3810000" y="4622800"/>
            <a:ext cx="330200" cy="276999"/>
          </a:xfrm>
          <a:prstGeom prst="rect">
            <a:avLst/>
          </a:prstGeom>
          <a:noFill/>
        </p:spPr>
        <p:txBody>
          <a:bodyPr vert="horz" wrap="square" lIns="0" tIns="0" rIns="0" bIns="0" rtlCol="0">
            <a:noAutofit/>
          </a:bodyPr>
          <a:lstStyle/>
          <a:p>
            <a:r>
              <a:rPr lang="en-IN" sz="1000" b="1">
                <a:solidFill>
                  <a:srgbClr val="4ADE80"/>
                </a:solidFill>
                <a:latin typeface="Aptos" panose="020B0004020202020204" pitchFamily="34" charset="0"/>
              </a:rPr>
              <a:t>06</a:t>
            </a:r>
          </a:p>
        </p:txBody>
      </p:sp>
      <p:sp>
        <p:nvSpPr>
          <p:cNvPr id="33" name="TextBox 32">
            <a:extLst>
              <a:ext uri="{FF2B5EF4-FFF2-40B4-BE49-F238E27FC236}">
                <a16:creationId xmlns:a16="http://schemas.microsoft.com/office/drawing/2014/main" id="{1A9FAD94-36DC-E05C-FA03-692B45E004BF}"/>
              </a:ext>
            </a:extLst>
          </p:cNvPr>
          <p:cNvSpPr txBox="1"/>
          <p:nvPr/>
        </p:nvSpPr>
        <p:spPr>
          <a:xfrm>
            <a:off x="4241800" y="4572000"/>
            <a:ext cx="19050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Conversation state</a:t>
            </a:r>
          </a:p>
        </p:txBody>
      </p:sp>
      <p:sp>
        <p:nvSpPr>
          <p:cNvPr id="34" name="TextBox 33">
            <a:extLst>
              <a:ext uri="{FF2B5EF4-FFF2-40B4-BE49-F238E27FC236}">
                <a16:creationId xmlns:a16="http://schemas.microsoft.com/office/drawing/2014/main" id="{10CB9FC5-A510-D059-9899-89CBFE7D84DB}"/>
              </a:ext>
            </a:extLst>
          </p:cNvPr>
          <p:cNvSpPr txBox="1"/>
          <p:nvPr/>
        </p:nvSpPr>
        <p:spPr>
          <a:xfrm>
            <a:off x="4241800" y="4914900"/>
            <a:ext cx="19050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Slots + result references</a:t>
            </a:r>
          </a:p>
        </p:txBody>
      </p:sp>
      <p:sp>
        <p:nvSpPr>
          <p:cNvPr id="35" name="Rectangle: Rounded Corners 34">
            <a:extLst>
              <a:ext uri="{FF2B5EF4-FFF2-40B4-BE49-F238E27FC236}">
                <a16:creationId xmlns:a16="http://schemas.microsoft.com/office/drawing/2014/main" id="{4CDA4104-C232-36F9-19CA-C07F607B4499}"/>
              </a:ext>
            </a:extLst>
          </p:cNvPr>
          <p:cNvSpPr/>
          <p:nvPr/>
        </p:nvSpPr>
        <p:spPr>
          <a:xfrm>
            <a:off x="7213600" y="4419600"/>
            <a:ext cx="2743200" cy="1041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B4BF15CA-E95F-4A96-116B-C12DDE5FFF8C}"/>
              </a:ext>
            </a:extLst>
          </p:cNvPr>
          <p:cNvSpPr txBox="1"/>
          <p:nvPr/>
        </p:nvSpPr>
        <p:spPr>
          <a:xfrm>
            <a:off x="7416800" y="4622800"/>
            <a:ext cx="330200" cy="276999"/>
          </a:xfrm>
          <a:prstGeom prst="rect">
            <a:avLst/>
          </a:prstGeom>
          <a:noFill/>
        </p:spPr>
        <p:txBody>
          <a:bodyPr vert="horz" wrap="square" lIns="0" tIns="0" rIns="0" bIns="0" rtlCol="0">
            <a:noAutofit/>
          </a:bodyPr>
          <a:lstStyle/>
          <a:p>
            <a:r>
              <a:rPr lang="en-IN" sz="1000" b="1">
                <a:solidFill>
                  <a:srgbClr val="F5A524"/>
                </a:solidFill>
                <a:latin typeface="Aptos" panose="020B0004020202020204" pitchFamily="34" charset="0"/>
              </a:rPr>
              <a:t>07</a:t>
            </a:r>
          </a:p>
        </p:txBody>
      </p:sp>
      <p:sp>
        <p:nvSpPr>
          <p:cNvPr id="37" name="TextBox 36">
            <a:extLst>
              <a:ext uri="{FF2B5EF4-FFF2-40B4-BE49-F238E27FC236}">
                <a16:creationId xmlns:a16="http://schemas.microsoft.com/office/drawing/2014/main" id="{C77B227A-6C5D-D7CC-A009-6968AD24D15E}"/>
              </a:ext>
            </a:extLst>
          </p:cNvPr>
          <p:cNvSpPr txBox="1"/>
          <p:nvPr/>
        </p:nvSpPr>
        <p:spPr>
          <a:xfrm>
            <a:off x="7848600" y="4572000"/>
            <a:ext cx="19050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Evaluation</a:t>
            </a:r>
          </a:p>
        </p:txBody>
      </p:sp>
      <p:sp>
        <p:nvSpPr>
          <p:cNvPr id="38" name="TextBox 37">
            <a:extLst>
              <a:ext uri="{FF2B5EF4-FFF2-40B4-BE49-F238E27FC236}">
                <a16:creationId xmlns:a16="http://schemas.microsoft.com/office/drawing/2014/main" id="{FB00ECD3-8104-7556-9754-EA8D9E1B1577}"/>
              </a:ext>
            </a:extLst>
          </p:cNvPr>
          <p:cNvSpPr txBox="1"/>
          <p:nvPr/>
        </p:nvSpPr>
        <p:spPr>
          <a:xfrm>
            <a:off x="7848600" y="4914900"/>
            <a:ext cx="19050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Cases + timings</a:t>
            </a:r>
          </a:p>
        </p:txBody>
      </p:sp>
      <p:cxnSp>
        <p:nvCxnSpPr>
          <p:cNvPr id="39" name="Straight Connector 38">
            <a:extLst>
              <a:ext uri="{FF2B5EF4-FFF2-40B4-BE49-F238E27FC236}">
                <a16:creationId xmlns:a16="http://schemas.microsoft.com/office/drawing/2014/main" id="{B22C68ED-5D85-36EA-AC40-A4CF1B1B2416}"/>
              </a:ext>
            </a:extLst>
          </p:cNvPr>
          <p:cNvCxnSpPr/>
          <p:nvPr/>
        </p:nvCxnSpPr>
        <p:spPr>
          <a:xfrm flipH="1">
            <a:off x="4978400" y="3657600"/>
            <a:ext cx="469900" cy="762000"/>
          </a:xfrm>
          <a:prstGeom prst="line">
            <a:avLst/>
          </a:prstGeom>
          <a:ln w="19050">
            <a:solidFill>
              <a:srgbClr val="4ADE80"/>
            </a:solidFill>
            <a:prstDash val="dash"/>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42A8C09-A2C9-BA5A-0DCD-F8367C951434}"/>
              </a:ext>
            </a:extLst>
          </p:cNvPr>
          <p:cNvCxnSpPr/>
          <p:nvPr/>
        </p:nvCxnSpPr>
        <p:spPr>
          <a:xfrm flipH="1">
            <a:off x="8585200" y="3657600"/>
            <a:ext cx="1295400" cy="762000"/>
          </a:xfrm>
          <a:prstGeom prst="line">
            <a:avLst/>
          </a:prstGeom>
          <a:ln w="19050">
            <a:solidFill>
              <a:srgbClr val="F5A524"/>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03A341CB-EB7E-E4CB-C798-D0E84AFED933}"/>
              </a:ext>
            </a:extLst>
          </p:cNvPr>
          <p:cNvSpPr txBox="1"/>
          <p:nvPr/>
        </p:nvSpPr>
        <p:spPr>
          <a:xfrm>
            <a:off x="736600" y="5918200"/>
            <a:ext cx="10033000" cy="276999"/>
          </a:xfrm>
          <a:prstGeom prst="rect">
            <a:avLst/>
          </a:prstGeom>
          <a:noFill/>
        </p:spPr>
        <p:txBody>
          <a:bodyPr vert="horz" wrap="square" lIns="0" tIns="0" rIns="0" bIns="0" rtlCol="0">
            <a:noAutofit/>
          </a:bodyPr>
          <a:lstStyle/>
          <a:p>
            <a:r>
              <a:rPr lang="en-US" sz="1500" b="1">
                <a:solidFill>
                  <a:srgbClr val="E8EBF0"/>
                </a:solidFill>
                <a:latin typeface="Aptos" panose="020B0004020202020204" pitchFamily="34" charset="0"/>
              </a:rPr>
              <a:t>Every seam has a current implementation and a clean production replacement.</a:t>
            </a:r>
            <a:endParaRPr lang="en-IN" sz="1500" b="1">
              <a:solidFill>
                <a:srgbClr val="E8EBF0"/>
              </a:solidFill>
              <a:latin typeface="Aptos" panose="020B0004020202020204" pitchFamily="34" charset="0"/>
            </a:endParaRPr>
          </a:p>
        </p:txBody>
      </p:sp>
    </p:spTree>
    <p:extLst>
      <p:ext uri="{BB962C8B-B14F-4D97-AF65-F5344CB8AC3E}">
        <p14:creationId xmlns:p14="http://schemas.microsoft.com/office/powerpoint/2010/main" val="518492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DDF264-7BE0-F64A-232C-BF4D0D8F75C9}"/>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SEARCH CORRECTNESS</a:t>
            </a:r>
          </a:p>
        </p:txBody>
      </p:sp>
      <p:sp>
        <p:nvSpPr>
          <p:cNvPr id="3" name="TextBox 2">
            <a:extLst>
              <a:ext uri="{FF2B5EF4-FFF2-40B4-BE49-F238E27FC236}">
                <a16:creationId xmlns:a16="http://schemas.microsoft.com/office/drawing/2014/main" id="{EA00116D-1518-04FF-4CC8-A2B7B8252FBB}"/>
              </a:ext>
            </a:extLst>
          </p:cNvPr>
          <p:cNvSpPr txBox="1"/>
          <p:nvPr/>
        </p:nvSpPr>
        <p:spPr>
          <a:xfrm>
            <a:off x="711200" y="673100"/>
            <a:ext cx="10795000" cy="276999"/>
          </a:xfrm>
          <a:prstGeom prst="rect">
            <a:avLst/>
          </a:prstGeom>
          <a:noFill/>
        </p:spPr>
        <p:txBody>
          <a:bodyPr vert="horz" wrap="square" lIns="0" tIns="0" rIns="0" bIns="0" rtlCol="0">
            <a:noAutofit/>
          </a:bodyPr>
          <a:lstStyle/>
          <a:p>
            <a:r>
              <a:rPr lang="en-IN" sz="3100" b="1">
                <a:solidFill>
                  <a:srgbClr val="F7F8FA"/>
                </a:solidFill>
                <a:latin typeface="Aptos Display" panose="020B0004020202020204" pitchFamily="34" charset="0"/>
              </a:rPr>
              <a:t>₹5 lakh means ₹5 lakh</a:t>
            </a:r>
          </a:p>
        </p:txBody>
      </p:sp>
      <p:cxnSp>
        <p:nvCxnSpPr>
          <p:cNvPr id="4" name="Straight Connector 3">
            <a:extLst>
              <a:ext uri="{FF2B5EF4-FFF2-40B4-BE49-F238E27FC236}">
                <a16:creationId xmlns:a16="http://schemas.microsoft.com/office/drawing/2014/main" id="{468E1694-E2D4-755A-B31B-7E8DCF57E601}"/>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FEBD7BBE-E2C4-8E06-C60B-B358A5579077}"/>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04</a:t>
            </a:r>
          </a:p>
        </p:txBody>
      </p:sp>
      <p:sp>
        <p:nvSpPr>
          <p:cNvPr id="6" name="TextBox 5">
            <a:extLst>
              <a:ext uri="{FF2B5EF4-FFF2-40B4-BE49-F238E27FC236}">
                <a16:creationId xmlns:a16="http://schemas.microsoft.com/office/drawing/2014/main" id="{AB9B1330-F17E-CAB3-13A8-8286D9FBDF12}"/>
              </a:ext>
            </a:extLst>
          </p:cNvPr>
          <p:cNvSpPr txBox="1"/>
          <p:nvPr/>
        </p:nvSpPr>
        <p:spPr>
          <a:xfrm>
            <a:off x="736600" y="1524000"/>
            <a:ext cx="10414000" cy="276999"/>
          </a:xfrm>
          <a:prstGeom prst="rect">
            <a:avLst/>
          </a:prstGeom>
          <a:noFill/>
        </p:spPr>
        <p:txBody>
          <a:bodyPr vert="horz" wrap="square" lIns="0" tIns="0" rIns="0" bIns="0" rtlCol="0">
            <a:noAutofit/>
          </a:bodyPr>
          <a:lstStyle/>
          <a:p>
            <a:r>
              <a:rPr lang="en-US" sz="1600">
                <a:solidFill>
                  <a:srgbClr val="9299A6"/>
                </a:solidFill>
                <a:latin typeface="Aptos" panose="020B0004020202020204" pitchFamily="34" charset="0"/>
              </a:rPr>
              <a:t>Ranking can reorder eligible rows. It cannot rescue a row that breaks a constraint.</a:t>
            </a:r>
            <a:endParaRPr lang="en-IN" sz="1600">
              <a:solidFill>
                <a:srgbClr val="9299A6"/>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5A18C753-B1BC-FBE1-8D4D-A01E78582056}"/>
              </a:ext>
            </a:extLst>
          </p:cNvPr>
          <p:cNvSpPr/>
          <p:nvPr/>
        </p:nvSpPr>
        <p:spPr>
          <a:xfrm>
            <a:off x="736600" y="2286000"/>
            <a:ext cx="1219200" cy="11176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538D001E-F7ED-9103-9640-48D89162CA9E}"/>
              </a:ext>
            </a:extLst>
          </p:cNvPr>
          <p:cNvSpPr txBox="1"/>
          <p:nvPr/>
        </p:nvSpPr>
        <p:spPr>
          <a:xfrm>
            <a:off x="863600" y="2514600"/>
            <a:ext cx="965200" cy="276999"/>
          </a:xfrm>
          <a:prstGeom prst="rect">
            <a:avLst/>
          </a:prstGeom>
          <a:noFill/>
        </p:spPr>
        <p:txBody>
          <a:bodyPr vert="horz" wrap="square" lIns="0" tIns="0" rIns="0" bIns="0" rtlCol="0">
            <a:noAutofit/>
          </a:bodyPr>
          <a:lstStyle/>
          <a:p>
            <a:r>
              <a:rPr lang="en-IN" sz="1400" b="1">
                <a:solidFill>
                  <a:srgbClr val="F7F8FA"/>
                </a:solidFill>
                <a:latin typeface="Aptos" panose="020B0004020202020204" pitchFamily="34" charset="0"/>
              </a:rPr>
              <a:t>User words</a:t>
            </a:r>
          </a:p>
        </p:txBody>
      </p:sp>
      <p:sp>
        <p:nvSpPr>
          <p:cNvPr id="9" name="TextBox 8">
            <a:extLst>
              <a:ext uri="{FF2B5EF4-FFF2-40B4-BE49-F238E27FC236}">
                <a16:creationId xmlns:a16="http://schemas.microsoft.com/office/drawing/2014/main" id="{1EC2FBD8-3717-62B2-A460-E486B3ABD58D}"/>
              </a:ext>
            </a:extLst>
          </p:cNvPr>
          <p:cNvSpPr txBox="1"/>
          <p:nvPr/>
        </p:nvSpPr>
        <p:spPr>
          <a:xfrm>
            <a:off x="863600" y="2921000"/>
            <a:ext cx="965200" cy="276999"/>
          </a:xfrm>
          <a:prstGeom prst="rect">
            <a:avLst/>
          </a:prstGeom>
          <a:noFill/>
        </p:spPr>
        <p:txBody>
          <a:bodyPr vert="horz" wrap="square" lIns="0" tIns="0" rIns="0" bIns="0" rtlCol="0">
            <a:noAutofit/>
          </a:bodyPr>
          <a:lstStyle/>
          <a:p>
            <a:r>
              <a:rPr lang="en-IN" sz="1000">
                <a:solidFill>
                  <a:srgbClr val="9299A6"/>
                </a:solidFill>
                <a:latin typeface="Aptos" panose="020B0004020202020204" pitchFamily="34" charset="0"/>
              </a:rPr>
              <a:t>natural request</a:t>
            </a:r>
          </a:p>
        </p:txBody>
      </p:sp>
      <p:sp>
        <p:nvSpPr>
          <p:cNvPr id="10" name="Rectangle: Rounded Corners 9">
            <a:extLst>
              <a:ext uri="{FF2B5EF4-FFF2-40B4-BE49-F238E27FC236}">
                <a16:creationId xmlns:a16="http://schemas.microsoft.com/office/drawing/2014/main" id="{2828C9E6-BE75-3C4F-EE45-BCE3D8A64B23}"/>
              </a:ext>
            </a:extLst>
          </p:cNvPr>
          <p:cNvSpPr/>
          <p:nvPr/>
        </p:nvSpPr>
        <p:spPr>
          <a:xfrm>
            <a:off x="2209800" y="2286000"/>
            <a:ext cx="1219200" cy="11176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73AA2C5E-418D-06E5-4939-5DDB2706AD42}"/>
              </a:ext>
            </a:extLst>
          </p:cNvPr>
          <p:cNvSpPr txBox="1"/>
          <p:nvPr/>
        </p:nvSpPr>
        <p:spPr>
          <a:xfrm>
            <a:off x="2336800" y="2514600"/>
            <a:ext cx="965200" cy="276999"/>
          </a:xfrm>
          <a:prstGeom prst="rect">
            <a:avLst/>
          </a:prstGeom>
          <a:noFill/>
        </p:spPr>
        <p:txBody>
          <a:bodyPr vert="horz" wrap="square" lIns="0" tIns="0" rIns="0" bIns="0" rtlCol="0">
            <a:noAutofit/>
          </a:bodyPr>
          <a:lstStyle/>
          <a:p>
            <a:r>
              <a:rPr lang="en-IN" sz="1400" b="1">
                <a:solidFill>
                  <a:srgbClr val="F7F8FA"/>
                </a:solidFill>
                <a:latin typeface="Aptos" panose="020B0004020202020204" pitchFamily="34" charset="0"/>
              </a:rPr>
              <a:t>Typed slots</a:t>
            </a:r>
          </a:p>
        </p:txBody>
      </p:sp>
      <p:sp>
        <p:nvSpPr>
          <p:cNvPr id="12" name="TextBox 11">
            <a:extLst>
              <a:ext uri="{FF2B5EF4-FFF2-40B4-BE49-F238E27FC236}">
                <a16:creationId xmlns:a16="http://schemas.microsoft.com/office/drawing/2014/main" id="{5BA54363-E0AA-BA0F-7E41-D7DF6E849FC4}"/>
              </a:ext>
            </a:extLst>
          </p:cNvPr>
          <p:cNvSpPr txBox="1"/>
          <p:nvPr/>
        </p:nvSpPr>
        <p:spPr>
          <a:xfrm>
            <a:off x="2336800" y="2921000"/>
            <a:ext cx="965200" cy="276999"/>
          </a:xfrm>
          <a:prstGeom prst="rect">
            <a:avLst/>
          </a:prstGeom>
          <a:noFill/>
        </p:spPr>
        <p:txBody>
          <a:bodyPr vert="horz" wrap="square" lIns="0" tIns="0" rIns="0" bIns="0" rtlCol="0">
            <a:noAutofit/>
          </a:bodyPr>
          <a:lstStyle/>
          <a:p>
            <a:r>
              <a:rPr lang="en-IN" sz="1000">
                <a:solidFill>
                  <a:srgbClr val="9299A6"/>
                </a:solidFill>
                <a:latin typeface="Aptos" panose="020B0004020202020204" pitchFamily="34" charset="0"/>
              </a:rPr>
              <a:t>budget, fuel, city</a:t>
            </a:r>
          </a:p>
        </p:txBody>
      </p:sp>
      <p:sp>
        <p:nvSpPr>
          <p:cNvPr id="13" name="Rectangle: Rounded Corners 12">
            <a:extLst>
              <a:ext uri="{FF2B5EF4-FFF2-40B4-BE49-F238E27FC236}">
                <a16:creationId xmlns:a16="http://schemas.microsoft.com/office/drawing/2014/main" id="{4164BD3D-AA20-4D3D-3039-9E79D5AD0D73}"/>
              </a:ext>
            </a:extLst>
          </p:cNvPr>
          <p:cNvSpPr/>
          <p:nvPr/>
        </p:nvSpPr>
        <p:spPr>
          <a:xfrm>
            <a:off x="3683000" y="2286000"/>
            <a:ext cx="1219200" cy="11176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F9018CEE-B50C-F3DA-1862-7529120BDF18}"/>
              </a:ext>
            </a:extLst>
          </p:cNvPr>
          <p:cNvSpPr txBox="1"/>
          <p:nvPr/>
        </p:nvSpPr>
        <p:spPr>
          <a:xfrm>
            <a:off x="3810000" y="2514600"/>
            <a:ext cx="965200" cy="276999"/>
          </a:xfrm>
          <a:prstGeom prst="rect">
            <a:avLst/>
          </a:prstGeom>
          <a:noFill/>
        </p:spPr>
        <p:txBody>
          <a:bodyPr vert="horz" wrap="square" lIns="0" tIns="0" rIns="0" bIns="0" rtlCol="0">
            <a:noAutofit/>
          </a:bodyPr>
          <a:lstStyle/>
          <a:p>
            <a:r>
              <a:rPr lang="en-IN" sz="1400" b="1">
                <a:solidFill>
                  <a:srgbClr val="F7F8FA"/>
                </a:solidFill>
                <a:latin typeface="Aptos" panose="020B0004020202020204" pitchFamily="34" charset="0"/>
              </a:rPr>
              <a:t>SQL filters</a:t>
            </a:r>
          </a:p>
        </p:txBody>
      </p:sp>
      <p:sp>
        <p:nvSpPr>
          <p:cNvPr id="15" name="TextBox 14">
            <a:extLst>
              <a:ext uri="{FF2B5EF4-FFF2-40B4-BE49-F238E27FC236}">
                <a16:creationId xmlns:a16="http://schemas.microsoft.com/office/drawing/2014/main" id="{493BB0BA-D4C6-0915-3089-98322E892F33}"/>
              </a:ext>
            </a:extLst>
          </p:cNvPr>
          <p:cNvSpPr txBox="1"/>
          <p:nvPr/>
        </p:nvSpPr>
        <p:spPr>
          <a:xfrm>
            <a:off x="3810000" y="2921000"/>
            <a:ext cx="965200" cy="276999"/>
          </a:xfrm>
          <a:prstGeom prst="rect">
            <a:avLst/>
          </a:prstGeom>
          <a:noFill/>
        </p:spPr>
        <p:txBody>
          <a:bodyPr vert="horz" wrap="square" lIns="0" tIns="0" rIns="0" bIns="0" rtlCol="0">
            <a:noAutofit/>
          </a:bodyPr>
          <a:lstStyle/>
          <a:p>
            <a:r>
              <a:rPr lang="en-IN" sz="1000">
                <a:solidFill>
                  <a:srgbClr val="9299A6"/>
                </a:solidFill>
                <a:latin typeface="Aptos" panose="020B0004020202020204" pitchFamily="34" charset="0"/>
              </a:rPr>
              <a:t>parameters only</a:t>
            </a:r>
          </a:p>
        </p:txBody>
      </p:sp>
      <p:sp>
        <p:nvSpPr>
          <p:cNvPr id="16" name="Rectangle: Rounded Corners 15">
            <a:extLst>
              <a:ext uri="{FF2B5EF4-FFF2-40B4-BE49-F238E27FC236}">
                <a16:creationId xmlns:a16="http://schemas.microsoft.com/office/drawing/2014/main" id="{4D0E22E7-A824-15A1-D1D2-199AA4D7ABBE}"/>
              </a:ext>
            </a:extLst>
          </p:cNvPr>
          <p:cNvSpPr/>
          <p:nvPr/>
        </p:nvSpPr>
        <p:spPr>
          <a:xfrm>
            <a:off x="5156200" y="2286000"/>
            <a:ext cx="1219200" cy="11176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91E0334-5AED-3027-0FC6-C0AF48C798D1}"/>
              </a:ext>
            </a:extLst>
          </p:cNvPr>
          <p:cNvSpPr txBox="1"/>
          <p:nvPr/>
        </p:nvSpPr>
        <p:spPr>
          <a:xfrm>
            <a:off x="5283200" y="2514600"/>
            <a:ext cx="965200" cy="276999"/>
          </a:xfrm>
          <a:prstGeom prst="rect">
            <a:avLst/>
          </a:prstGeom>
          <a:noFill/>
        </p:spPr>
        <p:txBody>
          <a:bodyPr vert="horz" wrap="square" lIns="0" tIns="0" rIns="0" bIns="0" rtlCol="0">
            <a:noAutofit/>
          </a:bodyPr>
          <a:lstStyle/>
          <a:p>
            <a:r>
              <a:rPr lang="en-IN" sz="1400" b="1">
                <a:solidFill>
                  <a:srgbClr val="F7F8FA"/>
                </a:solidFill>
                <a:latin typeface="Aptos" panose="020B0004020202020204" pitchFamily="34" charset="0"/>
              </a:rPr>
              <a:t>Invariant</a:t>
            </a:r>
          </a:p>
        </p:txBody>
      </p:sp>
      <p:sp>
        <p:nvSpPr>
          <p:cNvPr id="18" name="TextBox 17">
            <a:extLst>
              <a:ext uri="{FF2B5EF4-FFF2-40B4-BE49-F238E27FC236}">
                <a16:creationId xmlns:a16="http://schemas.microsoft.com/office/drawing/2014/main" id="{27976C9F-5A46-AC46-E412-39B694EE2F1D}"/>
              </a:ext>
            </a:extLst>
          </p:cNvPr>
          <p:cNvSpPr txBox="1"/>
          <p:nvPr/>
        </p:nvSpPr>
        <p:spPr>
          <a:xfrm>
            <a:off x="5283200" y="2921000"/>
            <a:ext cx="965200" cy="276999"/>
          </a:xfrm>
          <a:prstGeom prst="rect">
            <a:avLst/>
          </a:prstGeom>
          <a:noFill/>
        </p:spPr>
        <p:txBody>
          <a:bodyPr vert="horz" wrap="square" lIns="0" tIns="0" rIns="0" bIns="0" rtlCol="0">
            <a:noAutofit/>
          </a:bodyPr>
          <a:lstStyle/>
          <a:p>
            <a:r>
              <a:rPr lang="en-IN" sz="1000">
                <a:solidFill>
                  <a:srgbClr val="9299A6"/>
                </a:solidFill>
                <a:latin typeface="Aptos" panose="020B0004020202020204" pitchFamily="34" charset="0"/>
              </a:rPr>
              <a:t>recheck every row</a:t>
            </a:r>
          </a:p>
        </p:txBody>
      </p:sp>
      <p:sp>
        <p:nvSpPr>
          <p:cNvPr id="19" name="Rectangle: Rounded Corners 18">
            <a:extLst>
              <a:ext uri="{FF2B5EF4-FFF2-40B4-BE49-F238E27FC236}">
                <a16:creationId xmlns:a16="http://schemas.microsoft.com/office/drawing/2014/main" id="{5E87BF91-3CC2-0A32-587D-71FA603C9B4B}"/>
              </a:ext>
            </a:extLst>
          </p:cNvPr>
          <p:cNvSpPr/>
          <p:nvPr/>
        </p:nvSpPr>
        <p:spPr>
          <a:xfrm>
            <a:off x="6629400" y="2286000"/>
            <a:ext cx="1219200" cy="11176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929CE25-2E46-4167-C4F8-0DE5AB614C98}"/>
              </a:ext>
            </a:extLst>
          </p:cNvPr>
          <p:cNvSpPr txBox="1"/>
          <p:nvPr/>
        </p:nvSpPr>
        <p:spPr>
          <a:xfrm>
            <a:off x="6756400" y="2514600"/>
            <a:ext cx="965200" cy="276999"/>
          </a:xfrm>
          <a:prstGeom prst="rect">
            <a:avLst/>
          </a:prstGeom>
          <a:noFill/>
        </p:spPr>
        <p:txBody>
          <a:bodyPr vert="horz" wrap="square" lIns="0" tIns="0" rIns="0" bIns="0" rtlCol="0">
            <a:noAutofit/>
          </a:bodyPr>
          <a:lstStyle/>
          <a:p>
            <a:r>
              <a:rPr lang="en-IN" sz="1400" b="1">
                <a:solidFill>
                  <a:srgbClr val="F7F8FA"/>
                </a:solidFill>
                <a:latin typeface="Aptos" panose="020B0004020202020204" pitchFamily="34" charset="0"/>
              </a:rPr>
              <a:t>Top 3</a:t>
            </a:r>
          </a:p>
        </p:txBody>
      </p:sp>
      <p:sp>
        <p:nvSpPr>
          <p:cNvPr id="21" name="TextBox 20">
            <a:extLst>
              <a:ext uri="{FF2B5EF4-FFF2-40B4-BE49-F238E27FC236}">
                <a16:creationId xmlns:a16="http://schemas.microsoft.com/office/drawing/2014/main" id="{2AD030CF-41A4-3373-1147-32FE16D0B689}"/>
              </a:ext>
            </a:extLst>
          </p:cNvPr>
          <p:cNvSpPr txBox="1"/>
          <p:nvPr/>
        </p:nvSpPr>
        <p:spPr>
          <a:xfrm>
            <a:off x="6756400" y="2921000"/>
            <a:ext cx="965200" cy="276999"/>
          </a:xfrm>
          <a:prstGeom prst="rect">
            <a:avLst/>
          </a:prstGeom>
          <a:noFill/>
        </p:spPr>
        <p:txBody>
          <a:bodyPr vert="horz" wrap="square" lIns="0" tIns="0" rIns="0" bIns="0" rtlCol="0">
            <a:noAutofit/>
          </a:bodyPr>
          <a:lstStyle/>
          <a:p>
            <a:r>
              <a:rPr lang="en-IN" sz="1000">
                <a:solidFill>
                  <a:srgbClr val="9299A6"/>
                </a:solidFill>
                <a:latin typeface="Aptos" panose="020B0004020202020204" pitchFamily="34" charset="0"/>
              </a:rPr>
              <a:t>rank valid rows</a:t>
            </a:r>
          </a:p>
        </p:txBody>
      </p:sp>
      <p:cxnSp>
        <p:nvCxnSpPr>
          <p:cNvPr id="22" name="Straight Connector 21">
            <a:extLst>
              <a:ext uri="{FF2B5EF4-FFF2-40B4-BE49-F238E27FC236}">
                <a16:creationId xmlns:a16="http://schemas.microsoft.com/office/drawing/2014/main" id="{9C716709-68B9-33D0-2F4F-7AFF36D16A52}"/>
              </a:ext>
            </a:extLst>
          </p:cNvPr>
          <p:cNvCxnSpPr/>
          <p:nvPr/>
        </p:nvCxnSpPr>
        <p:spPr>
          <a:xfrm>
            <a:off x="1955800" y="2844800"/>
            <a:ext cx="2540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83831DE-A1E6-0557-7091-756123D18574}"/>
              </a:ext>
            </a:extLst>
          </p:cNvPr>
          <p:cNvCxnSpPr/>
          <p:nvPr/>
        </p:nvCxnSpPr>
        <p:spPr>
          <a:xfrm>
            <a:off x="3429000" y="2844800"/>
            <a:ext cx="2540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98F7EAF-986F-8ED9-02EC-1016493F5DDF}"/>
              </a:ext>
            </a:extLst>
          </p:cNvPr>
          <p:cNvCxnSpPr/>
          <p:nvPr/>
        </p:nvCxnSpPr>
        <p:spPr>
          <a:xfrm>
            <a:off x="4902200" y="2844800"/>
            <a:ext cx="2540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4BA947B-EEA6-8D26-1680-D9D6F31CD5C7}"/>
              </a:ext>
            </a:extLst>
          </p:cNvPr>
          <p:cNvCxnSpPr/>
          <p:nvPr/>
        </p:nvCxnSpPr>
        <p:spPr>
          <a:xfrm>
            <a:off x="6375400" y="2844800"/>
            <a:ext cx="2540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A201C6AF-EDDE-4525-D2EE-0F7817CA6180}"/>
              </a:ext>
            </a:extLst>
          </p:cNvPr>
          <p:cNvSpPr txBox="1"/>
          <p:nvPr/>
        </p:nvSpPr>
        <p:spPr>
          <a:xfrm>
            <a:off x="8420100" y="2044700"/>
            <a:ext cx="29845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Ranking weights</a:t>
            </a:r>
          </a:p>
        </p:txBody>
      </p:sp>
      <p:sp>
        <p:nvSpPr>
          <p:cNvPr id="27" name="TextBox 26">
            <a:extLst>
              <a:ext uri="{FF2B5EF4-FFF2-40B4-BE49-F238E27FC236}">
                <a16:creationId xmlns:a16="http://schemas.microsoft.com/office/drawing/2014/main" id="{C1D23685-900D-C237-2FE3-847971F14004}"/>
              </a:ext>
            </a:extLst>
          </p:cNvPr>
          <p:cNvSpPr txBox="1"/>
          <p:nvPr/>
        </p:nvSpPr>
        <p:spPr>
          <a:xfrm>
            <a:off x="8420100" y="2578100"/>
            <a:ext cx="15875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Purpose fit</a:t>
            </a:r>
          </a:p>
        </p:txBody>
      </p:sp>
      <p:sp>
        <p:nvSpPr>
          <p:cNvPr id="28" name="Rectangle 27">
            <a:extLst>
              <a:ext uri="{FF2B5EF4-FFF2-40B4-BE49-F238E27FC236}">
                <a16:creationId xmlns:a16="http://schemas.microsoft.com/office/drawing/2014/main" id="{AA5CE201-C237-E0CC-B9C5-07860F257A4B}"/>
              </a:ext>
            </a:extLst>
          </p:cNvPr>
          <p:cNvSpPr/>
          <p:nvPr/>
        </p:nvSpPr>
        <p:spPr>
          <a:xfrm>
            <a:off x="10033000" y="2603500"/>
            <a:ext cx="1168400" cy="1016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1B02CC31-D7AA-FE09-E869-F69F8A497663}"/>
              </a:ext>
            </a:extLst>
          </p:cNvPr>
          <p:cNvSpPr/>
          <p:nvPr/>
        </p:nvSpPr>
        <p:spPr>
          <a:xfrm>
            <a:off x="10033000" y="2603500"/>
            <a:ext cx="1168400" cy="101600"/>
          </a:xfrm>
          <a:prstGeom prst="rect">
            <a:avLst/>
          </a:prstGeom>
          <a:solidFill>
            <a:srgbClr val="7C5C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B93190CC-5A1C-B35F-1C5D-FD9A2C7EC6CA}"/>
              </a:ext>
            </a:extLst>
          </p:cNvPr>
          <p:cNvSpPr txBox="1"/>
          <p:nvPr/>
        </p:nvSpPr>
        <p:spPr>
          <a:xfrm>
            <a:off x="11290300" y="2552700"/>
            <a:ext cx="444500" cy="276999"/>
          </a:xfrm>
          <a:prstGeom prst="rect">
            <a:avLst/>
          </a:prstGeom>
          <a:noFill/>
        </p:spPr>
        <p:txBody>
          <a:bodyPr vert="horz" wrap="square" lIns="0" tIns="0" rIns="0" bIns="0" rtlCol="0">
            <a:noAutofit/>
          </a:bodyPr>
          <a:lstStyle/>
          <a:p>
            <a:pPr algn="r"/>
            <a:r>
              <a:rPr lang="en-IN" sz="1000" b="1">
                <a:solidFill>
                  <a:srgbClr val="E8EBF0"/>
                </a:solidFill>
                <a:latin typeface="Aptos" panose="020B0004020202020204" pitchFamily="34" charset="0"/>
              </a:rPr>
              <a:t>30%</a:t>
            </a:r>
          </a:p>
        </p:txBody>
      </p:sp>
      <p:sp>
        <p:nvSpPr>
          <p:cNvPr id="31" name="TextBox 30">
            <a:extLst>
              <a:ext uri="{FF2B5EF4-FFF2-40B4-BE49-F238E27FC236}">
                <a16:creationId xmlns:a16="http://schemas.microsoft.com/office/drawing/2014/main" id="{A20401E3-9D94-8AFB-3A2F-D59E358AC989}"/>
              </a:ext>
            </a:extLst>
          </p:cNvPr>
          <p:cNvSpPr txBox="1"/>
          <p:nvPr/>
        </p:nvSpPr>
        <p:spPr>
          <a:xfrm>
            <a:off x="8420100" y="3048000"/>
            <a:ext cx="15875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Verified papers</a:t>
            </a:r>
          </a:p>
        </p:txBody>
      </p:sp>
      <p:sp>
        <p:nvSpPr>
          <p:cNvPr id="32" name="Rectangle 31">
            <a:extLst>
              <a:ext uri="{FF2B5EF4-FFF2-40B4-BE49-F238E27FC236}">
                <a16:creationId xmlns:a16="http://schemas.microsoft.com/office/drawing/2014/main" id="{4759A940-5F65-A227-9E0E-FDAD18188E08}"/>
              </a:ext>
            </a:extLst>
          </p:cNvPr>
          <p:cNvSpPr/>
          <p:nvPr/>
        </p:nvSpPr>
        <p:spPr>
          <a:xfrm>
            <a:off x="10033000" y="3073400"/>
            <a:ext cx="1168400" cy="1016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01FDB28C-D32E-1709-F31D-5CB9B084C7AE}"/>
              </a:ext>
            </a:extLst>
          </p:cNvPr>
          <p:cNvSpPr/>
          <p:nvPr/>
        </p:nvSpPr>
        <p:spPr>
          <a:xfrm>
            <a:off x="10033000" y="3073400"/>
            <a:ext cx="584200" cy="101600"/>
          </a:xfrm>
          <a:prstGeom prst="rect">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D8A3126F-E89E-5435-6D99-4585D17AF798}"/>
              </a:ext>
            </a:extLst>
          </p:cNvPr>
          <p:cNvSpPr txBox="1"/>
          <p:nvPr/>
        </p:nvSpPr>
        <p:spPr>
          <a:xfrm>
            <a:off x="11290300" y="3022600"/>
            <a:ext cx="444500" cy="276999"/>
          </a:xfrm>
          <a:prstGeom prst="rect">
            <a:avLst/>
          </a:prstGeom>
          <a:noFill/>
        </p:spPr>
        <p:txBody>
          <a:bodyPr vert="horz" wrap="square" lIns="0" tIns="0" rIns="0" bIns="0" rtlCol="0">
            <a:noAutofit/>
          </a:bodyPr>
          <a:lstStyle/>
          <a:p>
            <a:pPr algn="r"/>
            <a:r>
              <a:rPr lang="en-IN" sz="1000" b="1">
                <a:solidFill>
                  <a:srgbClr val="E8EBF0"/>
                </a:solidFill>
                <a:latin typeface="Aptos" panose="020B0004020202020204" pitchFamily="34" charset="0"/>
              </a:rPr>
              <a:t>15%</a:t>
            </a:r>
          </a:p>
        </p:txBody>
      </p:sp>
      <p:sp>
        <p:nvSpPr>
          <p:cNvPr id="35" name="TextBox 34">
            <a:extLst>
              <a:ext uri="{FF2B5EF4-FFF2-40B4-BE49-F238E27FC236}">
                <a16:creationId xmlns:a16="http://schemas.microsoft.com/office/drawing/2014/main" id="{EDC35392-193F-1D25-1193-3613ABDBFA14}"/>
              </a:ext>
            </a:extLst>
          </p:cNvPr>
          <p:cNvSpPr txBox="1"/>
          <p:nvPr/>
        </p:nvSpPr>
        <p:spPr>
          <a:xfrm>
            <a:off x="8420100" y="3517900"/>
            <a:ext cx="15875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Budget proximity</a:t>
            </a:r>
          </a:p>
        </p:txBody>
      </p:sp>
      <p:sp>
        <p:nvSpPr>
          <p:cNvPr id="36" name="Rectangle 35">
            <a:extLst>
              <a:ext uri="{FF2B5EF4-FFF2-40B4-BE49-F238E27FC236}">
                <a16:creationId xmlns:a16="http://schemas.microsoft.com/office/drawing/2014/main" id="{0524F176-A225-C626-E66A-953E260A5929}"/>
              </a:ext>
            </a:extLst>
          </p:cNvPr>
          <p:cNvSpPr/>
          <p:nvPr/>
        </p:nvSpPr>
        <p:spPr>
          <a:xfrm>
            <a:off x="10033000" y="3543300"/>
            <a:ext cx="1168400" cy="1016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BF76EED1-C2BB-B337-8A59-25745EFE8D2E}"/>
              </a:ext>
            </a:extLst>
          </p:cNvPr>
          <p:cNvSpPr/>
          <p:nvPr/>
        </p:nvSpPr>
        <p:spPr>
          <a:xfrm>
            <a:off x="10033000" y="3543300"/>
            <a:ext cx="584200" cy="101600"/>
          </a:xfrm>
          <a:prstGeom prst="rect">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F2A1951B-C13E-2C3F-052F-36CC0CB3E39D}"/>
              </a:ext>
            </a:extLst>
          </p:cNvPr>
          <p:cNvSpPr txBox="1"/>
          <p:nvPr/>
        </p:nvSpPr>
        <p:spPr>
          <a:xfrm>
            <a:off x="11290300" y="3492500"/>
            <a:ext cx="444500" cy="276999"/>
          </a:xfrm>
          <a:prstGeom prst="rect">
            <a:avLst/>
          </a:prstGeom>
          <a:noFill/>
        </p:spPr>
        <p:txBody>
          <a:bodyPr vert="horz" wrap="square" lIns="0" tIns="0" rIns="0" bIns="0" rtlCol="0">
            <a:noAutofit/>
          </a:bodyPr>
          <a:lstStyle/>
          <a:p>
            <a:pPr algn="r"/>
            <a:r>
              <a:rPr lang="en-IN" sz="1000" b="1">
                <a:solidFill>
                  <a:srgbClr val="E8EBF0"/>
                </a:solidFill>
                <a:latin typeface="Aptos" panose="020B0004020202020204" pitchFamily="34" charset="0"/>
              </a:rPr>
              <a:t>15%</a:t>
            </a:r>
          </a:p>
        </p:txBody>
      </p:sp>
      <p:sp>
        <p:nvSpPr>
          <p:cNvPr id="39" name="TextBox 38">
            <a:extLst>
              <a:ext uri="{FF2B5EF4-FFF2-40B4-BE49-F238E27FC236}">
                <a16:creationId xmlns:a16="http://schemas.microsoft.com/office/drawing/2014/main" id="{A493E88B-C517-38D3-16A1-94C581CFB9C1}"/>
              </a:ext>
            </a:extLst>
          </p:cNvPr>
          <p:cNvSpPr txBox="1"/>
          <p:nvPr/>
        </p:nvSpPr>
        <p:spPr>
          <a:xfrm>
            <a:off x="8420100" y="3987800"/>
            <a:ext cx="15875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Lower mileage</a:t>
            </a:r>
          </a:p>
        </p:txBody>
      </p:sp>
      <p:sp>
        <p:nvSpPr>
          <p:cNvPr id="40" name="Rectangle 39">
            <a:extLst>
              <a:ext uri="{FF2B5EF4-FFF2-40B4-BE49-F238E27FC236}">
                <a16:creationId xmlns:a16="http://schemas.microsoft.com/office/drawing/2014/main" id="{AA4DFC14-7C28-A4A3-BA94-1ACA8F6CB41C}"/>
              </a:ext>
            </a:extLst>
          </p:cNvPr>
          <p:cNvSpPr/>
          <p:nvPr/>
        </p:nvSpPr>
        <p:spPr>
          <a:xfrm>
            <a:off x="10033000" y="4013200"/>
            <a:ext cx="1168400" cy="1016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40">
            <a:extLst>
              <a:ext uri="{FF2B5EF4-FFF2-40B4-BE49-F238E27FC236}">
                <a16:creationId xmlns:a16="http://schemas.microsoft.com/office/drawing/2014/main" id="{B0AB8AE5-4298-34C4-F9F3-44CB50A5F517}"/>
              </a:ext>
            </a:extLst>
          </p:cNvPr>
          <p:cNvSpPr/>
          <p:nvPr/>
        </p:nvSpPr>
        <p:spPr>
          <a:xfrm>
            <a:off x="10033000" y="4013200"/>
            <a:ext cx="584200" cy="101600"/>
          </a:xfrm>
          <a:prstGeom prst="rect">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7FC4D0DD-8E07-E712-95C7-0945055CC107}"/>
              </a:ext>
            </a:extLst>
          </p:cNvPr>
          <p:cNvSpPr txBox="1"/>
          <p:nvPr/>
        </p:nvSpPr>
        <p:spPr>
          <a:xfrm>
            <a:off x="11290300" y="3962400"/>
            <a:ext cx="444500" cy="276999"/>
          </a:xfrm>
          <a:prstGeom prst="rect">
            <a:avLst/>
          </a:prstGeom>
          <a:noFill/>
        </p:spPr>
        <p:txBody>
          <a:bodyPr vert="horz" wrap="square" lIns="0" tIns="0" rIns="0" bIns="0" rtlCol="0">
            <a:noAutofit/>
          </a:bodyPr>
          <a:lstStyle/>
          <a:p>
            <a:pPr algn="r"/>
            <a:r>
              <a:rPr lang="en-IN" sz="1000" b="1">
                <a:solidFill>
                  <a:srgbClr val="E8EBF0"/>
                </a:solidFill>
                <a:latin typeface="Aptos" panose="020B0004020202020204" pitchFamily="34" charset="0"/>
              </a:rPr>
              <a:t>15%</a:t>
            </a:r>
          </a:p>
        </p:txBody>
      </p:sp>
      <p:sp>
        <p:nvSpPr>
          <p:cNvPr id="43" name="TextBox 42">
            <a:extLst>
              <a:ext uri="{FF2B5EF4-FFF2-40B4-BE49-F238E27FC236}">
                <a16:creationId xmlns:a16="http://schemas.microsoft.com/office/drawing/2014/main" id="{B486EEF7-E101-983C-875F-602F37689C6A}"/>
              </a:ext>
            </a:extLst>
          </p:cNvPr>
          <p:cNvSpPr txBox="1"/>
          <p:nvPr/>
        </p:nvSpPr>
        <p:spPr>
          <a:xfrm>
            <a:off x="8420100" y="4457700"/>
            <a:ext cx="15875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Condition</a:t>
            </a:r>
          </a:p>
        </p:txBody>
      </p:sp>
      <p:sp>
        <p:nvSpPr>
          <p:cNvPr id="44" name="Rectangle 43">
            <a:extLst>
              <a:ext uri="{FF2B5EF4-FFF2-40B4-BE49-F238E27FC236}">
                <a16:creationId xmlns:a16="http://schemas.microsoft.com/office/drawing/2014/main" id="{C209F03C-4FBA-6AE5-F41E-BB754C848CE5}"/>
              </a:ext>
            </a:extLst>
          </p:cNvPr>
          <p:cNvSpPr/>
          <p:nvPr/>
        </p:nvSpPr>
        <p:spPr>
          <a:xfrm>
            <a:off x="10033000" y="4483100"/>
            <a:ext cx="1168400" cy="1016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ADF74AF6-20D1-8B74-2C08-EA88D98802CD}"/>
              </a:ext>
            </a:extLst>
          </p:cNvPr>
          <p:cNvSpPr/>
          <p:nvPr/>
        </p:nvSpPr>
        <p:spPr>
          <a:xfrm>
            <a:off x="10033000" y="4483100"/>
            <a:ext cx="584200" cy="101600"/>
          </a:xfrm>
          <a:prstGeom prst="rect">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extBox 45">
            <a:extLst>
              <a:ext uri="{FF2B5EF4-FFF2-40B4-BE49-F238E27FC236}">
                <a16:creationId xmlns:a16="http://schemas.microsoft.com/office/drawing/2014/main" id="{1617E578-F863-3BD9-4F9A-40E39985BBF7}"/>
              </a:ext>
            </a:extLst>
          </p:cNvPr>
          <p:cNvSpPr txBox="1"/>
          <p:nvPr/>
        </p:nvSpPr>
        <p:spPr>
          <a:xfrm>
            <a:off x="11290300" y="4432300"/>
            <a:ext cx="444500" cy="276999"/>
          </a:xfrm>
          <a:prstGeom prst="rect">
            <a:avLst/>
          </a:prstGeom>
          <a:noFill/>
        </p:spPr>
        <p:txBody>
          <a:bodyPr vert="horz" wrap="square" lIns="0" tIns="0" rIns="0" bIns="0" rtlCol="0">
            <a:noAutofit/>
          </a:bodyPr>
          <a:lstStyle/>
          <a:p>
            <a:pPr algn="r"/>
            <a:r>
              <a:rPr lang="en-IN" sz="1000" b="1">
                <a:solidFill>
                  <a:srgbClr val="E8EBF0"/>
                </a:solidFill>
                <a:latin typeface="Aptos" panose="020B0004020202020204" pitchFamily="34" charset="0"/>
              </a:rPr>
              <a:t>15%</a:t>
            </a:r>
          </a:p>
        </p:txBody>
      </p:sp>
      <p:sp>
        <p:nvSpPr>
          <p:cNvPr id="47" name="TextBox 46">
            <a:extLst>
              <a:ext uri="{FF2B5EF4-FFF2-40B4-BE49-F238E27FC236}">
                <a16:creationId xmlns:a16="http://schemas.microsoft.com/office/drawing/2014/main" id="{F9923C15-6C15-4DD9-B7C3-7C8028264A06}"/>
              </a:ext>
            </a:extLst>
          </p:cNvPr>
          <p:cNvSpPr txBox="1"/>
          <p:nvPr/>
        </p:nvSpPr>
        <p:spPr>
          <a:xfrm>
            <a:off x="8420100" y="4927600"/>
            <a:ext cx="15875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Newer year</a:t>
            </a:r>
          </a:p>
        </p:txBody>
      </p:sp>
      <p:sp>
        <p:nvSpPr>
          <p:cNvPr id="48" name="Rectangle 47">
            <a:extLst>
              <a:ext uri="{FF2B5EF4-FFF2-40B4-BE49-F238E27FC236}">
                <a16:creationId xmlns:a16="http://schemas.microsoft.com/office/drawing/2014/main" id="{2857F245-F811-F01D-9E08-3327C2A0FFB7}"/>
              </a:ext>
            </a:extLst>
          </p:cNvPr>
          <p:cNvSpPr/>
          <p:nvPr/>
        </p:nvSpPr>
        <p:spPr>
          <a:xfrm>
            <a:off x="10033000" y="4953000"/>
            <a:ext cx="1168400" cy="1016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48">
            <a:extLst>
              <a:ext uri="{FF2B5EF4-FFF2-40B4-BE49-F238E27FC236}">
                <a16:creationId xmlns:a16="http://schemas.microsoft.com/office/drawing/2014/main" id="{7D9BB62F-F8D1-1A31-899E-E7D679D0828A}"/>
              </a:ext>
            </a:extLst>
          </p:cNvPr>
          <p:cNvSpPr/>
          <p:nvPr/>
        </p:nvSpPr>
        <p:spPr>
          <a:xfrm>
            <a:off x="10033000" y="4953000"/>
            <a:ext cx="389467" cy="101600"/>
          </a:xfrm>
          <a:prstGeom prst="rect">
            <a:avLst/>
          </a:prstGeom>
          <a:solidFill>
            <a:srgbClr val="64E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4123F661-C6EE-22F2-B8CC-A4EE2642C7EF}"/>
              </a:ext>
            </a:extLst>
          </p:cNvPr>
          <p:cNvSpPr txBox="1"/>
          <p:nvPr/>
        </p:nvSpPr>
        <p:spPr>
          <a:xfrm>
            <a:off x="11290300" y="4902200"/>
            <a:ext cx="444500" cy="276999"/>
          </a:xfrm>
          <a:prstGeom prst="rect">
            <a:avLst/>
          </a:prstGeom>
          <a:noFill/>
        </p:spPr>
        <p:txBody>
          <a:bodyPr vert="horz" wrap="square" lIns="0" tIns="0" rIns="0" bIns="0" rtlCol="0">
            <a:noAutofit/>
          </a:bodyPr>
          <a:lstStyle/>
          <a:p>
            <a:pPr algn="r"/>
            <a:r>
              <a:rPr lang="en-IN" sz="1000" b="1">
                <a:solidFill>
                  <a:srgbClr val="E8EBF0"/>
                </a:solidFill>
                <a:latin typeface="Aptos" panose="020B0004020202020204" pitchFamily="34" charset="0"/>
              </a:rPr>
              <a:t>10%</a:t>
            </a:r>
          </a:p>
        </p:txBody>
      </p:sp>
      <p:cxnSp>
        <p:nvCxnSpPr>
          <p:cNvPr id="51" name="Straight Connector 50">
            <a:extLst>
              <a:ext uri="{FF2B5EF4-FFF2-40B4-BE49-F238E27FC236}">
                <a16:creationId xmlns:a16="http://schemas.microsoft.com/office/drawing/2014/main" id="{3E37DA28-2C30-5063-497A-A71D0436ACAA}"/>
              </a:ext>
            </a:extLst>
          </p:cNvPr>
          <p:cNvCxnSpPr/>
          <p:nvPr/>
        </p:nvCxnSpPr>
        <p:spPr>
          <a:xfrm>
            <a:off x="736600" y="4406900"/>
            <a:ext cx="71120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BB956061-2DB9-D7B0-1ACF-BE70EA894BF8}"/>
              </a:ext>
            </a:extLst>
          </p:cNvPr>
          <p:cNvSpPr txBox="1"/>
          <p:nvPr/>
        </p:nvSpPr>
        <p:spPr>
          <a:xfrm>
            <a:off x="736600" y="4711700"/>
            <a:ext cx="7035800" cy="276999"/>
          </a:xfrm>
          <a:prstGeom prst="rect">
            <a:avLst/>
          </a:prstGeom>
          <a:noFill/>
        </p:spPr>
        <p:txBody>
          <a:bodyPr vert="horz" wrap="square" lIns="0" tIns="0" rIns="0" bIns="0" rtlCol="0">
            <a:noAutofit/>
          </a:bodyPr>
          <a:lstStyle/>
          <a:p>
            <a:r>
              <a:rPr lang="en-US" sz="1700" b="1">
                <a:solidFill>
                  <a:srgbClr val="E8EBF0"/>
                </a:solidFill>
                <a:latin typeface="Aptos" panose="020B0004020202020204" pitchFamily="34" charset="0"/>
              </a:rPr>
              <a:t>No match? Vivi tests one constraint at a time and names the first relaxation that produces a valid row.</a:t>
            </a:r>
            <a:endParaRPr lang="en-IN" sz="1700" b="1">
              <a:solidFill>
                <a:srgbClr val="E8EBF0"/>
              </a:solidFill>
              <a:latin typeface="Aptos" panose="020B0004020202020204" pitchFamily="34" charset="0"/>
            </a:endParaRPr>
          </a:p>
        </p:txBody>
      </p:sp>
      <p:sp>
        <p:nvSpPr>
          <p:cNvPr id="53" name="TextBox 52">
            <a:extLst>
              <a:ext uri="{FF2B5EF4-FFF2-40B4-BE49-F238E27FC236}">
                <a16:creationId xmlns:a16="http://schemas.microsoft.com/office/drawing/2014/main" id="{A12CD9A6-BFF5-3ABF-7393-B9B32A812719}"/>
              </a:ext>
            </a:extLst>
          </p:cNvPr>
          <p:cNvSpPr txBox="1"/>
          <p:nvPr/>
        </p:nvSpPr>
        <p:spPr>
          <a:xfrm>
            <a:off x="8420100" y="5664200"/>
            <a:ext cx="3048000" cy="276999"/>
          </a:xfrm>
          <a:prstGeom prst="rect">
            <a:avLst/>
          </a:prstGeom>
          <a:noFill/>
        </p:spPr>
        <p:txBody>
          <a:bodyPr vert="horz" wrap="square" lIns="0" tIns="0" rIns="0" bIns="0" rtlCol="0">
            <a:noAutofit/>
          </a:bodyPr>
          <a:lstStyle/>
          <a:p>
            <a:r>
              <a:rPr lang="en-US" sz="1100">
                <a:solidFill>
                  <a:srgbClr val="596170"/>
                </a:solidFill>
                <a:latin typeface="Aptos" panose="020B0004020202020204" pitchFamily="34" charset="0"/>
              </a:rPr>
              <a:t>Unused signals drop to zero. The remaining weights are normalized.</a:t>
            </a:r>
            <a:endParaRPr lang="en-IN" sz="1100">
              <a:solidFill>
                <a:srgbClr val="596170"/>
              </a:solidFill>
              <a:latin typeface="Aptos" panose="020B0004020202020204" pitchFamily="34" charset="0"/>
            </a:endParaRPr>
          </a:p>
        </p:txBody>
      </p:sp>
    </p:spTree>
    <p:extLst>
      <p:ext uri="{BB962C8B-B14F-4D97-AF65-F5344CB8AC3E}">
        <p14:creationId xmlns:p14="http://schemas.microsoft.com/office/powerpoint/2010/main" val="1267136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241308-66B2-D138-5245-4425C956E462}"/>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GROUNDING BOUNDARY</a:t>
            </a:r>
          </a:p>
        </p:txBody>
      </p:sp>
      <p:sp>
        <p:nvSpPr>
          <p:cNvPr id="3" name="TextBox 2">
            <a:extLst>
              <a:ext uri="{FF2B5EF4-FFF2-40B4-BE49-F238E27FC236}">
                <a16:creationId xmlns:a16="http://schemas.microsoft.com/office/drawing/2014/main" id="{09F8C5EC-F9F1-F355-40DF-31BD8C3A3E55}"/>
              </a:ext>
            </a:extLst>
          </p:cNvPr>
          <p:cNvSpPr txBox="1"/>
          <p:nvPr/>
        </p:nvSpPr>
        <p:spPr>
          <a:xfrm>
            <a:off x="711200" y="673100"/>
            <a:ext cx="10795000" cy="276999"/>
          </a:xfrm>
          <a:prstGeom prst="rect">
            <a:avLst/>
          </a:prstGeom>
          <a:noFill/>
        </p:spPr>
        <p:txBody>
          <a:bodyPr vert="horz" wrap="square" lIns="0" tIns="0" rIns="0" bIns="0" rtlCol="0">
            <a:noAutofit/>
          </a:bodyPr>
          <a:lstStyle/>
          <a:p>
            <a:r>
              <a:rPr lang="en-IN" sz="3100" b="1">
                <a:solidFill>
                  <a:srgbClr val="F7F8FA"/>
                </a:solidFill>
                <a:latin typeface="Aptos Display" panose="020B0004020202020204" pitchFamily="34" charset="0"/>
              </a:rPr>
              <a:t>Where the model stops</a:t>
            </a:r>
          </a:p>
        </p:txBody>
      </p:sp>
      <p:cxnSp>
        <p:nvCxnSpPr>
          <p:cNvPr id="4" name="Straight Connector 3">
            <a:extLst>
              <a:ext uri="{FF2B5EF4-FFF2-40B4-BE49-F238E27FC236}">
                <a16:creationId xmlns:a16="http://schemas.microsoft.com/office/drawing/2014/main" id="{953CC1EE-CC7F-E1F4-7929-7A8A5C8B9DCC}"/>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CB506A7F-201C-7B50-13F5-D8F3CE39F6C2}"/>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05</a:t>
            </a:r>
          </a:p>
        </p:txBody>
      </p:sp>
      <p:sp>
        <p:nvSpPr>
          <p:cNvPr id="6" name="TextBox 5">
            <a:extLst>
              <a:ext uri="{FF2B5EF4-FFF2-40B4-BE49-F238E27FC236}">
                <a16:creationId xmlns:a16="http://schemas.microsoft.com/office/drawing/2014/main" id="{70FE1254-93A7-51D5-B3B5-E4D87D089570}"/>
              </a:ext>
            </a:extLst>
          </p:cNvPr>
          <p:cNvSpPr txBox="1"/>
          <p:nvPr/>
        </p:nvSpPr>
        <p:spPr>
          <a:xfrm>
            <a:off x="736600" y="1714500"/>
            <a:ext cx="4191000" cy="276999"/>
          </a:xfrm>
          <a:prstGeom prst="rect">
            <a:avLst/>
          </a:prstGeom>
          <a:noFill/>
        </p:spPr>
        <p:txBody>
          <a:bodyPr vert="horz" wrap="square" lIns="0" tIns="0" rIns="0" bIns="0" rtlCol="0">
            <a:noAutofit/>
          </a:bodyPr>
          <a:lstStyle/>
          <a:p>
            <a:r>
              <a:rPr lang="en-IN" sz="1100" b="1">
                <a:solidFill>
                  <a:srgbClr val="7C5CFF"/>
                </a:solidFill>
                <a:latin typeface="Aptos" panose="020B0004020202020204" pitchFamily="34" charset="0"/>
              </a:rPr>
              <a:t>MODEL</a:t>
            </a:r>
          </a:p>
        </p:txBody>
      </p:sp>
      <p:sp>
        <p:nvSpPr>
          <p:cNvPr id="7" name="TextBox 6">
            <a:extLst>
              <a:ext uri="{FF2B5EF4-FFF2-40B4-BE49-F238E27FC236}">
                <a16:creationId xmlns:a16="http://schemas.microsoft.com/office/drawing/2014/main" id="{7933802C-5AEE-0C89-5450-4926A876422B}"/>
              </a:ext>
            </a:extLst>
          </p:cNvPr>
          <p:cNvSpPr txBox="1"/>
          <p:nvPr/>
        </p:nvSpPr>
        <p:spPr>
          <a:xfrm>
            <a:off x="6680200" y="1714500"/>
            <a:ext cx="4191000" cy="276999"/>
          </a:xfrm>
          <a:prstGeom prst="rect">
            <a:avLst/>
          </a:prstGeom>
          <a:noFill/>
        </p:spPr>
        <p:txBody>
          <a:bodyPr vert="horz" wrap="square" lIns="0" tIns="0" rIns="0" bIns="0" rtlCol="0">
            <a:noAutofit/>
          </a:bodyPr>
          <a:lstStyle/>
          <a:p>
            <a:r>
              <a:rPr lang="en-IN" sz="1100" b="1">
                <a:solidFill>
                  <a:srgbClr val="42B6FF"/>
                </a:solidFill>
                <a:latin typeface="Aptos" panose="020B0004020202020204" pitchFamily="34" charset="0"/>
              </a:rPr>
              <a:t>APPLICATION</a:t>
            </a:r>
          </a:p>
        </p:txBody>
      </p:sp>
      <p:cxnSp>
        <p:nvCxnSpPr>
          <p:cNvPr id="8" name="Straight Connector 7">
            <a:extLst>
              <a:ext uri="{FF2B5EF4-FFF2-40B4-BE49-F238E27FC236}">
                <a16:creationId xmlns:a16="http://schemas.microsoft.com/office/drawing/2014/main" id="{AEF2BEF1-CEA1-DD37-260C-59D09888972B}"/>
              </a:ext>
            </a:extLst>
          </p:cNvPr>
          <p:cNvCxnSpPr/>
          <p:nvPr/>
        </p:nvCxnSpPr>
        <p:spPr>
          <a:xfrm>
            <a:off x="6096000" y="1676400"/>
            <a:ext cx="0" cy="3276600"/>
          </a:xfrm>
          <a:prstGeom prst="line">
            <a:avLst/>
          </a:prstGeom>
          <a:ln w="19050">
            <a:solidFill>
              <a:srgbClr val="181D27"/>
            </a:solidFill>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F6D21E4F-E375-DB6D-C4EE-F004859BE59D}"/>
              </a:ext>
            </a:extLst>
          </p:cNvPr>
          <p:cNvSpPr/>
          <p:nvPr/>
        </p:nvSpPr>
        <p:spPr>
          <a:xfrm>
            <a:off x="736600" y="2298700"/>
            <a:ext cx="114300" cy="114300"/>
          </a:xfrm>
          <a:prstGeom prst="ellipse">
            <a:avLst/>
          </a:prstGeom>
          <a:solidFill>
            <a:srgbClr val="7C5C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3C07294-DA57-81F4-E07B-136B767940B0}"/>
              </a:ext>
            </a:extLst>
          </p:cNvPr>
          <p:cNvSpPr txBox="1"/>
          <p:nvPr/>
        </p:nvSpPr>
        <p:spPr>
          <a:xfrm>
            <a:off x="736600" y="2349500"/>
            <a:ext cx="114300" cy="276999"/>
          </a:xfrm>
          <a:prstGeom prst="rect">
            <a:avLst/>
          </a:prstGeom>
          <a:noFill/>
        </p:spPr>
        <p:txBody>
          <a:bodyPr vert="horz" wrap="square" lIns="0" tIns="0" rIns="0" bIns="0" rtlCol="0">
            <a:noAutofit/>
          </a:bodyPr>
          <a:lstStyle/>
          <a:p>
            <a:pPr algn="ctr"/>
            <a:endParaRPr lang="en-IN" sz="1400" b="1">
              <a:solidFill>
                <a:srgbClr val="F7F8FA"/>
              </a:solidFill>
              <a:latin typeface="Aptos" panose="020B0004020202020204" pitchFamily="34" charset="0"/>
            </a:endParaRPr>
          </a:p>
        </p:txBody>
      </p:sp>
      <p:sp>
        <p:nvSpPr>
          <p:cNvPr id="11" name="TextBox 10">
            <a:extLst>
              <a:ext uri="{FF2B5EF4-FFF2-40B4-BE49-F238E27FC236}">
                <a16:creationId xmlns:a16="http://schemas.microsoft.com/office/drawing/2014/main" id="{44815A98-6DE9-B590-DEBA-DA6AE763617E}"/>
              </a:ext>
            </a:extLst>
          </p:cNvPr>
          <p:cNvSpPr txBox="1"/>
          <p:nvPr/>
        </p:nvSpPr>
        <p:spPr>
          <a:xfrm>
            <a:off x="1041400" y="2247900"/>
            <a:ext cx="4254500" cy="276999"/>
          </a:xfrm>
          <a:prstGeom prst="rect">
            <a:avLst/>
          </a:prstGeom>
          <a:noFill/>
        </p:spPr>
        <p:txBody>
          <a:bodyPr vert="horz" wrap="square" lIns="0" tIns="0" rIns="0" bIns="0" rtlCol="0">
            <a:noAutofit/>
          </a:bodyPr>
          <a:lstStyle/>
          <a:p>
            <a:r>
              <a:rPr lang="en-IN">
                <a:solidFill>
                  <a:srgbClr val="E8EBF0"/>
                </a:solidFill>
                <a:latin typeface="Aptos" panose="020B0004020202020204" pitchFamily="34" charset="0"/>
              </a:rPr>
              <a:t>Choose one typed tool</a:t>
            </a:r>
          </a:p>
        </p:txBody>
      </p:sp>
      <p:sp>
        <p:nvSpPr>
          <p:cNvPr id="12" name="Oval 11">
            <a:extLst>
              <a:ext uri="{FF2B5EF4-FFF2-40B4-BE49-F238E27FC236}">
                <a16:creationId xmlns:a16="http://schemas.microsoft.com/office/drawing/2014/main" id="{67EBF93B-FE8F-36DC-C264-793D6F0555AF}"/>
              </a:ext>
            </a:extLst>
          </p:cNvPr>
          <p:cNvSpPr/>
          <p:nvPr/>
        </p:nvSpPr>
        <p:spPr>
          <a:xfrm>
            <a:off x="736600" y="3035300"/>
            <a:ext cx="114300" cy="114300"/>
          </a:xfrm>
          <a:prstGeom prst="ellipse">
            <a:avLst/>
          </a:prstGeom>
          <a:solidFill>
            <a:srgbClr val="7C5C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E81CAC5B-133D-5CE8-98C5-825F9B236533}"/>
              </a:ext>
            </a:extLst>
          </p:cNvPr>
          <p:cNvSpPr txBox="1"/>
          <p:nvPr/>
        </p:nvSpPr>
        <p:spPr>
          <a:xfrm>
            <a:off x="736600" y="3086100"/>
            <a:ext cx="114300" cy="276999"/>
          </a:xfrm>
          <a:prstGeom prst="rect">
            <a:avLst/>
          </a:prstGeom>
          <a:noFill/>
        </p:spPr>
        <p:txBody>
          <a:bodyPr vert="horz" wrap="square" lIns="0" tIns="0" rIns="0" bIns="0" rtlCol="0">
            <a:noAutofit/>
          </a:bodyPr>
          <a:lstStyle/>
          <a:p>
            <a:pPr algn="ctr"/>
            <a:endParaRPr lang="en-IN" sz="1400" b="1">
              <a:solidFill>
                <a:srgbClr val="F7F8FA"/>
              </a:solidFill>
              <a:latin typeface="Aptos" panose="020B0004020202020204" pitchFamily="34" charset="0"/>
            </a:endParaRPr>
          </a:p>
        </p:txBody>
      </p:sp>
      <p:sp>
        <p:nvSpPr>
          <p:cNvPr id="14" name="TextBox 13">
            <a:extLst>
              <a:ext uri="{FF2B5EF4-FFF2-40B4-BE49-F238E27FC236}">
                <a16:creationId xmlns:a16="http://schemas.microsoft.com/office/drawing/2014/main" id="{E3648B31-6C49-595C-21C6-8B2ECA034FE6}"/>
              </a:ext>
            </a:extLst>
          </p:cNvPr>
          <p:cNvSpPr txBox="1"/>
          <p:nvPr/>
        </p:nvSpPr>
        <p:spPr>
          <a:xfrm>
            <a:off x="1041400" y="2984500"/>
            <a:ext cx="4254500" cy="276999"/>
          </a:xfrm>
          <a:prstGeom prst="rect">
            <a:avLst/>
          </a:prstGeom>
          <a:noFill/>
        </p:spPr>
        <p:txBody>
          <a:bodyPr vert="horz" wrap="square" lIns="0" tIns="0" rIns="0" bIns="0" rtlCol="0">
            <a:noAutofit/>
          </a:bodyPr>
          <a:lstStyle/>
          <a:p>
            <a:r>
              <a:rPr lang="en-IN">
                <a:solidFill>
                  <a:srgbClr val="E8EBF0"/>
                </a:solidFill>
                <a:latin typeface="Aptos" panose="020B0004020202020204" pitchFamily="34" charset="0"/>
              </a:rPr>
              <a:t>Extract slot changes</a:t>
            </a:r>
          </a:p>
        </p:txBody>
      </p:sp>
      <p:sp>
        <p:nvSpPr>
          <p:cNvPr id="15" name="Oval 14">
            <a:extLst>
              <a:ext uri="{FF2B5EF4-FFF2-40B4-BE49-F238E27FC236}">
                <a16:creationId xmlns:a16="http://schemas.microsoft.com/office/drawing/2014/main" id="{794AFEDB-CE04-E54A-4369-96156A90B29A}"/>
              </a:ext>
            </a:extLst>
          </p:cNvPr>
          <p:cNvSpPr/>
          <p:nvPr/>
        </p:nvSpPr>
        <p:spPr>
          <a:xfrm>
            <a:off x="736600" y="3771900"/>
            <a:ext cx="114300" cy="114300"/>
          </a:xfrm>
          <a:prstGeom prst="ellipse">
            <a:avLst/>
          </a:prstGeom>
          <a:solidFill>
            <a:srgbClr val="7C5C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83979D6C-4047-3639-01D3-2A04272741B7}"/>
              </a:ext>
            </a:extLst>
          </p:cNvPr>
          <p:cNvSpPr txBox="1"/>
          <p:nvPr/>
        </p:nvSpPr>
        <p:spPr>
          <a:xfrm>
            <a:off x="736600" y="3822700"/>
            <a:ext cx="114300" cy="276999"/>
          </a:xfrm>
          <a:prstGeom prst="rect">
            <a:avLst/>
          </a:prstGeom>
          <a:noFill/>
        </p:spPr>
        <p:txBody>
          <a:bodyPr vert="horz" wrap="square" lIns="0" tIns="0" rIns="0" bIns="0" rtlCol="0">
            <a:noAutofit/>
          </a:bodyPr>
          <a:lstStyle/>
          <a:p>
            <a:pPr algn="ctr"/>
            <a:endParaRPr lang="en-IN" sz="1400" b="1">
              <a:solidFill>
                <a:srgbClr val="F7F8FA"/>
              </a:solidFill>
              <a:latin typeface="Aptos" panose="020B0004020202020204" pitchFamily="34" charset="0"/>
            </a:endParaRPr>
          </a:p>
        </p:txBody>
      </p:sp>
      <p:sp>
        <p:nvSpPr>
          <p:cNvPr id="17" name="TextBox 16">
            <a:extLst>
              <a:ext uri="{FF2B5EF4-FFF2-40B4-BE49-F238E27FC236}">
                <a16:creationId xmlns:a16="http://schemas.microsoft.com/office/drawing/2014/main" id="{3F4EBCC9-7DC1-3371-A08E-78C9B0688228}"/>
              </a:ext>
            </a:extLst>
          </p:cNvPr>
          <p:cNvSpPr txBox="1"/>
          <p:nvPr/>
        </p:nvSpPr>
        <p:spPr>
          <a:xfrm>
            <a:off x="1041400" y="3721100"/>
            <a:ext cx="4254500" cy="276999"/>
          </a:xfrm>
          <a:prstGeom prst="rect">
            <a:avLst/>
          </a:prstGeom>
          <a:noFill/>
        </p:spPr>
        <p:txBody>
          <a:bodyPr vert="horz" wrap="square" lIns="0" tIns="0" rIns="0" bIns="0" rtlCol="0">
            <a:noAutofit/>
          </a:bodyPr>
          <a:lstStyle/>
          <a:p>
            <a:r>
              <a:rPr lang="en-US">
                <a:solidFill>
                  <a:srgbClr val="E8EBF0"/>
                </a:solidFill>
                <a:latin typeface="Aptos" panose="020B0004020202020204" pitchFamily="34" charset="0"/>
              </a:rPr>
              <a:t>Phrase a detail answer when useful</a:t>
            </a:r>
            <a:endParaRPr lang="en-IN">
              <a:solidFill>
                <a:srgbClr val="E8EBF0"/>
              </a:solidFill>
              <a:latin typeface="Aptos" panose="020B0004020202020204" pitchFamily="34" charset="0"/>
            </a:endParaRPr>
          </a:p>
        </p:txBody>
      </p:sp>
      <p:sp>
        <p:nvSpPr>
          <p:cNvPr id="18" name="Oval 17">
            <a:extLst>
              <a:ext uri="{FF2B5EF4-FFF2-40B4-BE49-F238E27FC236}">
                <a16:creationId xmlns:a16="http://schemas.microsoft.com/office/drawing/2014/main" id="{23442537-45B7-350A-3026-08B17D3C684F}"/>
              </a:ext>
            </a:extLst>
          </p:cNvPr>
          <p:cNvSpPr/>
          <p:nvPr/>
        </p:nvSpPr>
        <p:spPr>
          <a:xfrm>
            <a:off x="6680200" y="2298700"/>
            <a:ext cx="114300" cy="114300"/>
          </a:xfrm>
          <a:prstGeom prst="ellipse">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D50C7EE8-0C65-C7D9-C2B5-2DCF4BE1EC7E}"/>
              </a:ext>
            </a:extLst>
          </p:cNvPr>
          <p:cNvSpPr txBox="1"/>
          <p:nvPr/>
        </p:nvSpPr>
        <p:spPr>
          <a:xfrm>
            <a:off x="6680200" y="2349500"/>
            <a:ext cx="114300" cy="276999"/>
          </a:xfrm>
          <a:prstGeom prst="rect">
            <a:avLst/>
          </a:prstGeom>
          <a:noFill/>
        </p:spPr>
        <p:txBody>
          <a:bodyPr vert="horz" wrap="square" lIns="0" tIns="0" rIns="0" bIns="0" rtlCol="0">
            <a:noAutofit/>
          </a:bodyPr>
          <a:lstStyle/>
          <a:p>
            <a:pPr algn="ctr"/>
            <a:endParaRPr lang="en-IN" sz="1400" b="1">
              <a:solidFill>
                <a:srgbClr val="F7F8FA"/>
              </a:solidFill>
              <a:latin typeface="Aptos" panose="020B0004020202020204" pitchFamily="34" charset="0"/>
            </a:endParaRPr>
          </a:p>
        </p:txBody>
      </p:sp>
      <p:sp>
        <p:nvSpPr>
          <p:cNvPr id="20" name="TextBox 19">
            <a:extLst>
              <a:ext uri="{FF2B5EF4-FFF2-40B4-BE49-F238E27FC236}">
                <a16:creationId xmlns:a16="http://schemas.microsoft.com/office/drawing/2014/main" id="{D3100460-0D57-6C3B-A93C-DAAC693AD304}"/>
              </a:ext>
            </a:extLst>
          </p:cNvPr>
          <p:cNvSpPr txBox="1"/>
          <p:nvPr/>
        </p:nvSpPr>
        <p:spPr>
          <a:xfrm>
            <a:off x="6985000" y="2247900"/>
            <a:ext cx="4318000" cy="276999"/>
          </a:xfrm>
          <a:prstGeom prst="rect">
            <a:avLst/>
          </a:prstGeom>
          <a:noFill/>
        </p:spPr>
        <p:txBody>
          <a:bodyPr vert="horz" wrap="square" lIns="0" tIns="0" rIns="0" bIns="0" rtlCol="0">
            <a:noAutofit/>
          </a:bodyPr>
          <a:lstStyle/>
          <a:p>
            <a:r>
              <a:rPr lang="en-US">
                <a:solidFill>
                  <a:srgbClr val="E8EBF0"/>
                </a:solidFill>
                <a:latin typeface="Aptos" panose="020B0004020202020204" pitchFamily="34" charset="0"/>
              </a:rPr>
              <a:t>Build SQL and enforce filters</a:t>
            </a:r>
            <a:endParaRPr lang="en-IN">
              <a:solidFill>
                <a:srgbClr val="E8EBF0"/>
              </a:solidFill>
              <a:latin typeface="Aptos" panose="020B0004020202020204" pitchFamily="34" charset="0"/>
            </a:endParaRPr>
          </a:p>
        </p:txBody>
      </p:sp>
      <p:sp>
        <p:nvSpPr>
          <p:cNvPr id="21" name="Oval 20">
            <a:extLst>
              <a:ext uri="{FF2B5EF4-FFF2-40B4-BE49-F238E27FC236}">
                <a16:creationId xmlns:a16="http://schemas.microsoft.com/office/drawing/2014/main" id="{9C6EDEEC-EF36-0E24-CE45-296C13273A99}"/>
              </a:ext>
            </a:extLst>
          </p:cNvPr>
          <p:cNvSpPr/>
          <p:nvPr/>
        </p:nvSpPr>
        <p:spPr>
          <a:xfrm>
            <a:off x="6680200" y="2946400"/>
            <a:ext cx="114300" cy="114300"/>
          </a:xfrm>
          <a:prstGeom prst="ellipse">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ABBBF5F5-A118-8634-EFA2-2F4E825CD61D}"/>
              </a:ext>
            </a:extLst>
          </p:cNvPr>
          <p:cNvSpPr txBox="1"/>
          <p:nvPr/>
        </p:nvSpPr>
        <p:spPr>
          <a:xfrm>
            <a:off x="6680200" y="2997200"/>
            <a:ext cx="114300" cy="276999"/>
          </a:xfrm>
          <a:prstGeom prst="rect">
            <a:avLst/>
          </a:prstGeom>
          <a:noFill/>
        </p:spPr>
        <p:txBody>
          <a:bodyPr vert="horz" wrap="square" lIns="0" tIns="0" rIns="0" bIns="0" rtlCol="0">
            <a:noAutofit/>
          </a:bodyPr>
          <a:lstStyle/>
          <a:p>
            <a:pPr algn="ctr"/>
            <a:endParaRPr lang="en-IN" sz="1400" b="1">
              <a:solidFill>
                <a:srgbClr val="F7F8FA"/>
              </a:solidFill>
              <a:latin typeface="Aptos" panose="020B0004020202020204" pitchFamily="34" charset="0"/>
            </a:endParaRPr>
          </a:p>
        </p:txBody>
      </p:sp>
      <p:sp>
        <p:nvSpPr>
          <p:cNvPr id="23" name="TextBox 22">
            <a:extLst>
              <a:ext uri="{FF2B5EF4-FFF2-40B4-BE49-F238E27FC236}">
                <a16:creationId xmlns:a16="http://schemas.microsoft.com/office/drawing/2014/main" id="{6366A50D-B0BF-AE8D-5C25-24B05C42D77F}"/>
              </a:ext>
            </a:extLst>
          </p:cNvPr>
          <p:cNvSpPr txBox="1"/>
          <p:nvPr/>
        </p:nvSpPr>
        <p:spPr>
          <a:xfrm>
            <a:off x="6985000" y="2895600"/>
            <a:ext cx="4318000" cy="276999"/>
          </a:xfrm>
          <a:prstGeom prst="rect">
            <a:avLst/>
          </a:prstGeom>
          <a:noFill/>
        </p:spPr>
        <p:txBody>
          <a:bodyPr vert="horz" wrap="square" lIns="0" tIns="0" rIns="0" bIns="0" rtlCol="0">
            <a:noAutofit/>
          </a:bodyPr>
          <a:lstStyle/>
          <a:p>
            <a:r>
              <a:rPr lang="en-IN">
                <a:solidFill>
                  <a:srgbClr val="E8EBF0"/>
                </a:solidFill>
                <a:latin typeface="Aptos" panose="020B0004020202020204" pitchFamily="34" charset="0"/>
              </a:rPr>
              <a:t>Rank eligible vehicles</a:t>
            </a:r>
          </a:p>
        </p:txBody>
      </p:sp>
      <p:sp>
        <p:nvSpPr>
          <p:cNvPr id="24" name="Oval 23">
            <a:extLst>
              <a:ext uri="{FF2B5EF4-FFF2-40B4-BE49-F238E27FC236}">
                <a16:creationId xmlns:a16="http://schemas.microsoft.com/office/drawing/2014/main" id="{8718E5C8-F131-8F7A-C665-51F9535B51AA}"/>
              </a:ext>
            </a:extLst>
          </p:cNvPr>
          <p:cNvSpPr/>
          <p:nvPr/>
        </p:nvSpPr>
        <p:spPr>
          <a:xfrm>
            <a:off x="6680200" y="3594100"/>
            <a:ext cx="114300" cy="114300"/>
          </a:xfrm>
          <a:prstGeom prst="ellipse">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E197BD85-1D9D-BDFB-06D7-09D358C1E599}"/>
              </a:ext>
            </a:extLst>
          </p:cNvPr>
          <p:cNvSpPr txBox="1"/>
          <p:nvPr/>
        </p:nvSpPr>
        <p:spPr>
          <a:xfrm>
            <a:off x="6680200" y="3644900"/>
            <a:ext cx="114300" cy="276999"/>
          </a:xfrm>
          <a:prstGeom prst="rect">
            <a:avLst/>
          </a:prstGeom>
          <a:noFill/>
        </p:spPr>
        <p:txBody>
          <a:bodyPr vert="horz" wrap="square" lIns="0" tIns="0" rIns="0" bIns="0" rtlCol="0">
            <a:noAutofit/>
          </a:bodyPr>
          <a:lstStyle/>
          <a:p>
            <a:pPr algn="ctr"/>
            <a:endParaRPr lang="en-IN" sz="1400" b="1">
              <a:solidFill>
                <a:srgbClr val="F7F8FA"/>
              </a:solidFill>
              <a:latin typeface="Aptos" panose="020B0004020202020204" pitchFamily="34" charset="0"/>
            </a:endParaRPr>
          </a:p>
        </p:txBody>
      </p:sp>
      <p:sp>
        <p:nvSpPr>
          <p:cNvPr id="26" name="TextBox 25">
            <a:extLst>
              <a:ext uri="{FF2B5EF4-FFF2-40B4-BE49-F238E27FC236}">
                <a16:creationId xmlns:a16="http://schemas.microsoft.com/office/drawing/2014/main" id="{F73D2E05-E5CD-9729-7D02-2C365B2750A0}"/>
              </a:ext>
            </a:extLst>
          </p:cNvPr>
          <p:cNvSpPr txBox="1"/>
          <p:nvPr/>
        </p:nvSpPr>
        <p:spPr>
          <a:xfrm>
            <a:off x="6985000" y="3543300"/>
            <a:ext cx="4318000" cy="276999"/>
          </a:xfrm>
          <a:prstGeom prst="rect">
            <a:avLst/>
          </a:prstGeom>
          <a:noFill/>
        </p:spPr>
        <p:txBody>
          <a:bodyPr vert="horz" wrap="square" lIns="0" tIns="0" rIns="0" bIns="0" rtlCol="0">
            <a:noAutofit/>
          </a:bodyPr>
          <a:lstStyle/>
          <a:p>
            <a:r>
              <a:rPr lang="en-US">
                <a:solidFill>
                  <a:srgbClr val="E8EBF0"/>
                </a:solidFill>
                <a:latin typeface="Aptos" panose="020B0004020202020204" pitchFamily="34" charset="0"/>
              </a:rPr>
              <a:t>Validate IDs and numeric facts</a:t>
            </a:r>
            <a:endParaRPr lang="en-IN">
              <a:solidFill>
                <a:srgbClr val="E8EBF0"/>
              </a:solidFill>
              <a:latin typeface="Aptos" panose="020B0004020202020204" pitchFamily="34" charset="0"/>
            </a:endParaRPr>
          </a:p>
        </p:txBody>
      </p:sp>
      <p:sp>
        <p:nvSpPr>
          <p:cNvPr id="27" name="Oval 26">
            <a:extLst>
              <a:ext uri="{FF2B5EF4-FFF2-40B4-BE49-F238E27FC236}">
                <a16:creationId xmlns:a16="http://schemas.microsoft.com/office/drawing/2014/main" id="{12BE20FB-0237-6837-784D-D19271DCDBE5}"/>
              </a:ext>
            </a:extLst>
          </p:cNvPr>
          <p:cNvSpPr/>
          <p:nvPr/>
        </p:nvSpPr>
        <p:spPr>
          <a:xfrm>
            <a:off x="6680200" y="4241800"/>
            <a:ext cx="114300" cy="114300"/>
          </a:xfrm>
          <a:prstGeom prst="ellipse">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0EDA3910-781A-D33F-7861-8F182A6F5C08}"/>
              </a:ext>
            </a:extLst>
          </p:cNvPr>
          <p:cNvSpPr txBox="1"/>
          <p:nvPr/>
        </p:nvSpPr>
        <p:spPr>
          <a:xfrm>
            <a:off x="6680200" y="4292600"/>
            <a:ext cx="114300" cy="276999"/>
          </a:xfrm>
          <a:prstGeom prst="rect">
            <a:avLst/>
          </a:prstGeom>
          <a:noFill/>
        </p:spPr>
        <p:txBody>
          <a:bodyPr vert="horz" wrap="square" lIns="0" tIns="0" rIns="0" bIns="0" rtlCol="0">
            <a:noAutofit/>
          </a:bodyPr>
          <a:lstStyle/>
          <a:p>
            <a:pPr algn="ctr"/>
            <a:endParaRPr lang="en-IN" sz="1400" b="1">
              <a:solidFill>
                <a:srgbClr val="F7F8FA"/>
              </a:solidFill>
              <a:latin typeface="Aptos" panose="020B0004020202020204" pitchFamily="34" charset="0"/>
            </a:endParaRPr>
          </a:p>
        </p:txBody>
      </p:sp>
      <p:sp>
        <p:nvSpPr>
          <p:cNvPr id="29" name="TextBox 28">
            <a:extLst>
              <a:ext uri="{FF2B5EF4-FFF2-40B4-BE49-F238E27FC236}">
                <a16:creationId xmlns:a16="http://schemas.microsoft.com/office/drawing/2014/main" id="{FCB4FB42-3ACD-0F41-97B3-F8CEE975DBB8}"/>
              </a:ext>
            </a:extLst>
          </p:cNvPr>
          <p:cNvSpPr txBox="1"/>
          <p:nvPr/>
        </p:nvSpPr>
        <p:spPr>
          <a:xfrm>
            <a:off x="6985000" y="4191000"/>
            <a:ext cx="4318000" cy="276999"/>
          </a:xfrm>
          <a:prstGeom prst="rect">
            <a:avLst/>
          </a:prstGeom>
          <a:noFill/>
        </p:spPr>
        <p:txBody>
          <a:bodyPr vert="horz" wrap="square" lIns="0" tIns="0" rIns="0" bIns="0" rtlCol="0">
            <a:noAutofit/>
          </a:bodyPr>
          <a:lstStyle/>
          <a:p>
            <a:r>
              <a:rPr lang="en-IN">
                <a:solidFill>
                  <a:srgbClr val="E8EBF0"/>
                </a:solidFill>
                <a:latin typeface="Aptos" panose="020B0004020202020204" pitchFamily="34" charset="0"/>
              </a:rPr>
              <a:t>Use deterministic fallback</a:t>
            </a:r>
          </a:p>
        </p:txBody>
      </p:sp>
      <p:sp>
        <p:nvSpPr>
          <p:cNvPr id="30" name="Rectangle: Rounded Corners 29">
            <a:extLst>
              <a:ext uri="{FF2B5EF4-FFF2-40B4-BE49-F238E27FC236}">
                <a16:creationId xmlns:a16="http://schemas.microsoft.com/office/drawing/2014/main" id="{F64E99E4-5342-CDD5-4D93-0C1603E0CB99}"/>
              </a:ext>
            </a:extLst>
          </p:cNvPr>
          <p:cNvSpPr/>
          <p:nvPr/>
        </p:nvSpPr>
        <p:spPr>
          <a:xfrm>
            <a:off x="736600" y="5295900"/>
            <a:ext cx="10718800" cy="736600"/>
          </a:xfrm>
          <a:prstGeom prst="roundRect">
            <a:avLst/>
          </a:prstGeom>
          <a:solidFill>
            <a:srgbClr val="11151D"/>
          </a:solidFill>
          <a:ln w="15875">
            <a:solidFill>
              <a:srgbClr val="7C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048C9138-A74F-993C-FBC6-DED07B52F4A1}"/>
              </a:ext>
            </a:extLst>
          </p:cNvPr>
          <p:cNvSpPr txBox="1"/>
          <p:nvPr/>
        </p:nvSpPr>
        <p:spPr>
          <a:xfrm>
            <a:off x="1041400" y="5461000"/>
            <a:ext cx="10109200" cy="276999"/>
          </a:xfrm>
          <a:prstGeom prst="rect">
            <a:avLst/>
          </a:prstGeom>
          <a:noFill/>
        </p:spPr>
        <p:txBody>
          <a:bodyPr vert="horz" wrap="square" lIns="0" tIns="0" rIns="0" bIns="0" rtlCol="0">
            <a:noAutofit/>
          </a:bodyPr>
          <a:lstStyle/>
          <a:p>
            <a:pPr algn="ctr"/>
            <a:r>
              <a:rPr lang="en-US" b="1">
                <a:solidFill>
                  <a:srgbClr val="F7F8FA"/>
                </a:solidFill>
                <a:latin typeface="Aptos" panose="020B0004020202020204" pitchFamily="34" charset="0"/>
              </a:rPr>
              <a:t>If a generated answer changes a listing ID or number, Vivi discards it and shows the deterministic answer.</a:t>
            </a:r>
            <a:endParaRPr lang="en-IN" b="1">
              <a:solidFill>
                <a:srgbClr val="F7F8FA"/>
              </a:solidFill>
              <a:latin typeface="Aptos" panose="020B0004020202020204" pitchFamily="34" charset="0"/>
            </a:endParaRPr>
          </a:p>
        </p:txBody>
      </p:sp>
    </p:spTree>
    <p:extLst>
      <p:ext uri="{BB962C8B-B14F-4D97-AF65-F5344CB8AC3E}">
        <p14:creationId xmlns:p14="http://schemas.microsoft.com/office/powerpoint/2010/main" val="1595675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7014D6-47F7-5E5F-837F-1C44823A308E}"/>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CONVERSATION STATE</a:t>
            </a:r>
          </a:p>
        </p:txBody>
      </p:sp>
      <p:sp>
        <p:nvSpPr>
          <p:cNvPr id="3" name="TextBox 2">
            <a:extLst>
              <a:ext uri="{FF2B5EF4-FFF2-40B4-BE49-F238E27FC236}">
                <a16:creationId xmlns:a16="http://schemas.microsoft.com/office/drawing/2014/main" id="{815EB285-2EC4-DA27-3D85-C6A23E3D5042}"/>
              </a:ext>
            </a:extLst>
          </p:cNvPr>
          <p:cNvSpPr txBox="1"/>
          <p:nvPr/>
        </p:nvSpPr>
        <p:spPr>
          <a:xfrm>
            <a:off x="711200" y="673100"/>
            <a:ext cx="10795000" cy="276999"/>
          </a:xfrm>
          <a:prstGeom prst="rect">
            <a:avLst/>
          </a:prstGeom>
          <a:noFill/>
        </p:spPr>
        <p:txBody>
          <a:bodyPr vert="horz" wrap="square" lIns="0" tIns="0" rIns="0" bIns="0" rtlCol="0">
            <a:noAutofit/>
          </a:bodyPr>
          <a:lstStyle/>
          <a:p>
            <a:r>
              <a:rPr lang="en-US" sz="3100" b="1">
                <a:solidFill>
                  <a:srgbClr val="F7F8FA"/>
                </a:solidFill>
                <a:latin typeface="Aptos Display" panose="020B0004020202020204" pitchFamily="34" charset="0"/>
              </a:rPr>
              <a:t>Each turn changes only what the buyer changed</a:t>
            </a:r>
            <a:endParaRPr lang="en-IN" sz="3100" b="1">
              <a:solidFill>
                <a:srgbClr val="F7F8FA"/>
              </a:solidFill>
              <a:latin typeface="Aptos Display" panose="020B0004020202020204" pitchFamily="34" charset="0"/>
            </a:endParaRPr>
          </a:p>
        </p:txBody>
      </p:sp>
      <p:cxnSp>
        <p:nvCxnSpPr>
          <p:cNvPr id="4" name="Straight Connector 3">
            <a:extLst>
              <a:ext uri="{FF2B5EF4-FFF2-40B4-BE49-F238E27FC236}">
                <a16:creationId xmlns:a16="http://schemas.microsoft.com/office/drawing/2014/main" id="{A663EED9-6251-4B46-AC92-4F8EAC655F21}"/>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CD3D8E30-F02E-0B19-71EC-B716DEB9207A}"/>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06</a:t>
            </a:r>
          </a:p>
        </p:txBody>
      </p:sp>
      <p:sp>
        <p:nvSpPr>
          <p:cNvPr id="6" name="TextBox 5">
            <a:extLst>
              <a:ext uri="{FF2B5EF4-FFF2-40B4-BE49-F238E27FC236}">
                <a16:creationId xmlns:a16="http://schemas.microsoft.com/office/drawing/2014/main" id="{734C3338-E2D2-7389-44D1-D604A141FD1F}"/>
              </a:ext>
            </a:extLst>
          </p:cNvPr>
          <p:cNvSpPr txBox="1"/>
          <p:nvPr/>
        </p:nvSpPr>
        <p:spPr>
          <a:xfrm>
            <a:off x="736600" y="1625600"/>
            <a:ext cx="635000" cy="276999"/>
          </a:xfrm>
          <a:prstGeom prst="rect">
            <a:avLst/>
          </a:prstGeom>
          <a:noFill/>
        </p:spPr>
        <p:txBody>
          <a:bodyPr vert="horz" wrap="square" lIns="0" tIns="0" rIns="0" bIns="0" rtlCol="0">
            <a:noAutofit/>
          </a:bodyPr>
          <a:lstStyle/>
          <a:p>
            <a:r>
              <a:rPr lang="en-IN" sz="900" b="1">
                <a:solidFill>
                  <a:srgbClr val="596170"/>
                </a:solidFill>
                <a:latin typeface="Aptos" panose="020B0004020202020204" pitchFamily="34" charset="0"/>
              </a:rPr>
              <a:t>TURN</a:t>
            </a:r>
          </a:p>
        </p:txBody>
      </p:sp>
      <p:sp>
        <p:nvSpPr>
          <p:cNvPr id="7" name="TextBox 6">
            <a:extLst>
              <a:ext uri="{FF2B5EF4-FFF2-40B4-BE49-F238E27FC236}">
                <a16:creationId xmlns:a16="http://schemas.microsoft.com/office/drawing/2014/main" id="{1631A19F-B473-23DA-A4C8-3BE6E4EAB4FD}"/>
              </a:ext>
            </a:extLst>
          </p:cNvPr>
          <p:cNvSpPr txBox="1"/>
          <p:nvPr/>
        </p:nvSpPr>
        <p:spPr>
          <a:xfrm>
            <a:off x="1460500" y="1625600"/>
            <a:ext cx="5207000" cy="276999"/>
          </a:xfrm>
          <a:prstGeom prst="rect">
            <a:avLst/>
          </a:prstGeom>
          <a:noFill/>
        </p:spPr>
        <p:txBody>
          <a:bodyPr vert="horz" wrap="square" lIns="0" tIns="0" rIns="0" bIns="0" rtlCol="0">
            <a:noAutofit/>
          </a:bodyPr>
          <a:lstStyle/>
          <a:p>
            <a:r>
              <a:rPr lang="en-IN" sz="900" b="1">
                <a:solidFill>
                  <a:srgbClr val="596170"/>
                </a:solidFill>
                <a:latin typeface="Aptos" panose="020B0004020202020204" pitchFamily="34" charset="0"/>
              </a:rPr>
              <a:t>WHAT THE BUYER SAYS</a:t>
            </a:r>
          </a:p>
        </p:txBody>
      </p:sp>
      <p:sp>
        <p:nvSpPr>
          <p:cNvPr id="8" name="TextBox 7">
            <a:extLst>
              <a:ext uri="{FF2B5EF4-FFF2-40B4-BE49-F238E27FC236}">
                <a16:creationId xmlns:a16="http://schemas.microsoft.com/office/drawing/2014/main" id="{DBD72E79-E92D-0882-057F-6036E3BD13C8}"/>
              </a:ext>
            </a:extLst>
          </p:cNvPr>
          <p:cNvSpPr txBox="1"/>
          <p:nvPr/>
        </p:nvSpPr>
        <p:spPr>
          <a:xfrm>
            <a:off x="7188200" y="1625600"/>
            <a:ext cx="4191000" cy="276999"/>
          </a:xfrm>
          <a:prstGeom prst="rect">
            <a:avLst/>
          </a:prstGeom>
          <a:noFill/>
        </p:spPr>
        <p:txBody>
          <a:bodyPr vert="horz" wrap="square" lIns="0" tIns="0" rIns="0" bIns="0" rtlCol="0">
            <a:noAutofit/>
          </a:bodyPr>
          <a:lstStyle/>
          <a:p>
            <a:r>
              <a:rPr lang="en-IN" sz="900" b="1">
                <a:solidFill>
                  <a:srgbClr val="596170"/>
                </a:solidFill>
                <a:latin typeface="Aptos" panose="020B0004020202020204" pitchFamily="34" charset="0"/>
              </a:rPr>
              <a:t>WHAT VIVI DOES</a:t>
            </a:r>
          </a:p>
        </p:txBody>
      </p:sp>
      <p:cxnSp>
        <p:nvCxnSpPr>
          <p:cNvPr id="9" name="Straight Connector 8">
            <a:extLst>
              <a:ext uri="{FF2B5EF4-FFF2-40B4-BE49-F238E27FC236}">
                <a16:creationId xmlns:a16="http://schemas.microsoft.com/office/drawing/2014/main" id="{E672DE3F-1BBA-AD26-10EC-174B671B65F5}"/>
              </a:ext>
            </a:extLst>
          </p:cNvPr>
          <p:cNvCxnSpPr/>
          <p:nvPr/>
        </p:nvCxnSpPr>
        <p:spPr>
          <a:xfrm>
            <a:off x="736600" y="28321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07B3868-E08F-55F6-D67B-AA6DD48787D1}"/>
              </a:ext>
            </a:extLst>
          </p:cNvPr>
          <p:cNvSpPr txBox="1"/>
          <p:nvPr/>
        </p:nvSpPr>
        <p:spPr>
          <a:xfrm>
            <a:off x="736600" y="2006600"/>
            <a:ext cx="533400" cy="276999"/>
          </a:xfrm>
          <a:prstGeom prst="rect">
            <a:avLst/>
          </a:prstGeom>
          <a:noFill/>
        </p:spPr>
        <p:txBody>
          <a:bodyPr vert="horz" wrap="square" lIns="0" tIns="0" rIns="0" bIns="0" rtlCol="0">
            <a:noAutofit/>
          </a:bodyPr>
          <a:lstStyle/>
          <a:p>
            <a:r>
              <a:rPr lang="en-IN" sz="1200" b="1">
                <a:solidFill>
                  <a:srgbClr val="42B6FF"/>
                </a:solidFill>
                <a:latin typeface="Aptos" panose="020B0004020202020204" pitchFamily="34" charset="0"/>
              </a:rPr>
              <a:t>01</a:t>
            </a:r>
          </a:p>
        </p:txBody>
      </p:sp>
      <p:sp>
        <p:nvSpPr>
          <p:cNvPr id="11" name="TextBox 10">
            <a:extLst>
              <a:ext uri="{FF2B5EF4-FFF2-40B4-BE49-F238E27FC236}">
                <a16:creationId xmlns:a16="http://schemas.microsoft.com/office/drawing/2014/main" id="{561D1A74-C6D5-99A7-683A-4C1040156388}"/>
              </a:ext>
            </a:extLst>
          </p:cNvPr>
          <p:cNvSpPr txBox="1"/>
          <p:nvPr/>
        </p:nvSpPr>
        <p:spPr>
          <a:xfrm>
            <a:off x="1460500" y="2006600"/>
            <a:ext cx="5181600" cy="276999"/>
          </a:xfrm>
          <a:prstGeom prst="rect">
            <a:avLst/>
          </a:prstGeom>
          <a:noFill/>
        </p:spPr>
        <p:txBody>
          <a:bodyPr vert="horz" wrap="square" lIns="0" tIns="0" rIns="0" bIns="0" rtlCol="0">
            <a:noAutofit/>
          </a:bodyPr>
          <a:lstStyle/>
          <a:p>
            <a:r>
              <a:rPr lang="en-US" sz="1700">
                <a:solidFill>
                  <a:srgbClr val="F7F8FA"/>
                </a:solidFill>
                <a:latin typeface="Aptos" panose="020B0004020202020204" pitchFamily="34" charset="0"/>
              </a:rPr>
              <a:t>Small truck under 5 lakh for city delivery</a:t>
            </a:r>
            <a:endParaRPr lang="en-IN" sz="1700">
              <a:solidFill>
                <a:srgbClr val="F7F8FA"/>
              </a:solidFill>
              <a:latin typeface="Aptos" panose="020B0004020202020204" pitchFamily="34" charset="0"/>
            </a:endParaRPr>
          </a:p>
        </p:txBody>
      </p:sp>
      <p:sp>
        <p:nvSpPr>
          <p:cNvPr id="12" name="TextBox 11">
            <a:extLst>
              <a:ext uri="{FF2B5EF4-FFF2-40B4-BE49-F238E27FC236}">
                <a16:creationId xmlns:a16="http://schemas.microsoft.com/office/drawing/2014/main" id="{51EABA1E-7607-2B1A-1B25-8651DE338F1E}"/>
              </a:ext>
            </a:extLst>
          </p:cNvPr>
          <p:cNvSpPr txBox="1"/>
          <p:nvPr/>
        </p:nvSpPr>
        <p:spPr>
          <a:xfrm>
            <a:off x="7188200" y="2006600"/>
            <a:ext cx="4140200" cy="276999"/>
          </a:xfrm>
          <a:prstGeom prst="rect">
            <a:avLst/>
          </a:prstGeom>
          <a:noFill/>
        </p:spPr>
        <p:txBody>
          <a:bodyPr vert="horz" wrap="square" lIns="0" tIns="0" rIns="0" bIns="0" rtlCol="0">
            <a:noAutofit/>
          </a:bodyPr>
          <a:lstStyle/>
          <a:p>
            <a:r>
              <a:rPr lang="en-US" sz="1600" b="1">
                <a:solidFill>
                  <a:srgbClr val="E8EBF0"/>
                </a:solidFill>
                <a:latin typeface="Aptos" panose="020B0004020202020204" pitchFamily="34" charset="0"/>
              </a:rPr>
              <a:t>Sets category, budget and purpose</a:t>
            </a:r>
            <a:endParaRPr lang="en-IN" sz="1600" b="1">
              <a:solidFill>
                <a:srgbClr val="E8EBF0"/>
              </a:solidFill>
              <a:latin typeface="Aptos" panose="020B0004020202020204" pitchFamily="34" charset="0"/>
            </a:endParaRPr>
          </a:p>
        </p:txBody>
      </p:sp>
      <p:cxnSp>
        <p:nvCxnSpPr>
          <p:cNvPr id="13" name="Straight Connector 12">
            <a:extLst>
              <a:ext uri="{FF2B5EF4-FFF2-40B4-BE49-F238E27FC236}">
                <a16:creationId xmlns:a16="http://schemas.microsoft.com/office/drawing/2014/main" id="{4034C9D4-D5DC-B2A2-33AF-0F4C4EBE2F10}"/>
              </a:ext>
            </a:extLst>
          </p:cNvPr>
          <p:cNvCxnSpPr/>
          <p:nvPr/>
        </p:nvCxnSpPr>
        <p:spPr>
          <a:xfrm>
            <a:off x="736600" y="37846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09C1262-4827-65AF-3BA5-044E02BC65CE}"/>
              </a:ext>
            </a:extLst>
          </p:cNvPr>
          <p:cNvSpPr txBox="1"/>
          <p:nvPr/>
        </p:nvSpPr>
        <p:spPr>
          <a:xfrm>
            <a:off x="736600" y="2959100"/>
            <a:ext cx="533400" cy="276999"/>
          </a:xfrm>
          <a:prstGeom prst="rect">
            <a:avLst/>
          </a:prstGeom>
          <a:noFill/>
        </p:spPr>
        <p:txBody>
          <a:bodyPr vert="horz" wrap="square" lIns="0" tIns="0" rIns="0" bIns="0" rtlCol="0">
            <a:noAutofit/>
          </a:bodyPr>
          <a:lstStyle/>
          <a:p>
            <a:r>
              <a:rPr lang="en-IN" sz="1200" b="1">
                <a:solidFill>
                  <a:srgbClr val="7C5CFF"/>
                </a:solidFill>
                <a:latin typeface="Aptos" panose="020B0004020202020204" pitchFamily="34" charset="0"/>
              </a:rPr>
              <a:t>02</a:t>
            </a:r>
          </a:p>
        </p:txBody>
      </p:sp>
      <p:sp>
        <p:nvSpPr>
          <p:cNvPr id="15" name="TextBox 14">
            <a:extLst>
              <a:ext uri="{FF2B5EF4-FFF2-40B4-BE49-F238E27FC236}">
                <a16:creationId xmlns:a16="http://schemas.microsoft.com/office/drawing/2014/main" id="{E3EF71CB-D0FA-47DC-33EA-C1304E4C0EF6}"/>
              </a:ext>
            </a:extLst>
          </p:cNvPr>
          <p:cNvSpPr txBox="1"/>
          <p:nvPr/>
        </p:nvSpPr>
        <p:spPr>
          <a:xfrm>
            <a:off x="1460500" y="2959100"/>
            <a:ext cx="5181600" cy="276999"/>
          </a:xfrm>
          <a:prstGeom prst="rect">
            <a:avLst/>
          </a:prstGeom>
          <a:noFill/>
        </p:spPr>
        <p:txBody>
          <a:bodyPr vert="horz" wrap="square" lIns="0" tIns="0" rIns="0" bIns="0" rtlCol="0">
            <a:noAutofit/>
          </a:bodyPr>
          <a:lstStyle/>
          <a:p>
            <a:r>
              <a:rPr lang="en-IN" sz="1700">
                <a:solidFill>
                  <a:srgbClr val="F7F8FA"/>
                </a:solidFill>
                <a:latin typeface="Aptos" panose="020B0004020202020204" pitchFamily="34" charset="0"/>
              </a:rPr>
              <a:t>Nahi, diesel nahi, CNG</a:t>
            </a:r>
          </a:p>
        </p:txBody>
      </p:sp>
      <p:sp>
        <p:nvSpPr>
          <p:cNvPr id="16" name="TextBox 15">
            <a:extLst>
              <a:ext uri="{FF2B5EF4-FFF2-40B4-BE49-F238E27FC236}">
                <a16:creationId xmlns:a16="http://schemas.microsoft.com/office/drawing/2014/main" id="{24516DBF-E935-E0FE-FB28-86DD84B7214E}"/>
              </a:ext>
            </a:extLst>
          </p:cNvPr>
          <p:cNvSpPr txBox="1"/>
          <p:nvPr/>
        </p:nvSpPr>
        <p:spPr>
          <a:xfrm>
            <a:off x="7188200" y="2959100"/>
            <a:ext cx="4140200" cy="276999"/>
          </a:xfrm>
          <a:prstGeom prst="rect">
            <a:avLst/>
          </a:prstGeom>
          <a:noFill/>
        </p:spPr>
        <p:txBody>
          <a:bodyPr vert="horz" wrap="square" lIns="0" tIns="0" rIns="0" bIns="0" rtlCol="0">
            <a:noAutofit/>
          </a:bodyPr>
          <a:lstStyle/>
          <a:p>
            <a:r>
              <a:rPr lang="en-IN" sz="1600" b="1">
                <a:solidFill>
                  <a:srgbClr val="E8EBF0"/>
                </a:solidFill>
                <a:latin typeface="Aptos" panose="020B0004020202020204" pitchFamily="34" charset="0"/>
              </a:rPr>
              <a:t>Changes fuel only</a:t>
            </a:r>
          </a:p>
        </p:txBody>
      </p:sp>
      <p:cxnSp>
        <p:nvCxnSpPr>
          <p:cNvPr id="17" name="Straight Connector 16">
            <a:extLst>
              <a:ext uri="{FF2B5EF4-FFF2-40B4-BE49-F238E27FC236}">
                <a16:creationId xmlns:a16="http://schemas.microsoft.com/office/drawing/2014/main" id="{C650D5EE-FC0F-82B2-5887-F9C5411E2640}"/>
              </a:ext>
            </a:extLst>
          </p:cNvPr>
          <p:cNvCxnSpPr/>
          <p:nvPr/>
        </p:nvCxnSpPr>
        <p:spPr>
          <a:xfrm>
            <a:off x="736600" y="47371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D19BBAF9-10C5-63C9-22EF-6737B66B0853}"/>
              </a:ext>
            </a:extLst>
          </p:cNvPr>
          <p:cNvSpPr txBox="1"/>
          <p:nvPr/>
        </p:nvSpPr>
        <p:spPr>
          <a:xfrm>
            <a:off x="736600" y="3911600"/>
            <a:ext cx="533400" cy="276999"/>
          </a:xfrm>
          <a:prstGeom prst="rect">
            <a:avLst/>
          </a:prstGeom>
          <a:noFill/>
        </p:spPr>
        <p:txBody>
          <a:bodyPr vert="horz" wrap="square" lIns="0" tIns="0" rIns="0" bIns="0" rtlCol="0">
            <a:noAutofit/>
          </a:bodyPr>
          <a:lstStyle/>
          <a:p>
            <a:r>
              <a:rPr lang="en-IN" sz="1200" b="1">
                <a:solidFill>
                  <a:srgbClr val="64E6FF"/>
                </a:solidFill>
                <a:latin typeface="Aptos" panose="020B0004020202020204" pitchFamily="34" charset="0"/>
              </a:rPr>
              <a:t>03</a:t>
            </a:r>
          </a:p>
        </p:txBody>
      </p:sp>
      <p:sp>
        <p:nvSpPr>
          <p:cNvPr id="19" name="TextBox 18">
            <a:extLst>
              <a:ext uri="{FF2B5EF4-FFF2-40B4-BE49-F238E27FC236}">
                <a16:creationId xmlns:a16="http://schemas.microsoft.com/office/drawing/2014/main" id="{2C676978-349E-BAFF-8D74-70B144FA0C62}"/>
              </a:ext>
            </a:extLst>
          </p:cNvPr>
          <p:cNvSpPr txBox="1"/>
          <p:nvPr/>
        </p:nvSpPr>
        <p:spPr>
          <a:xfrm>
            <a:off x="1460500" y="3911600"/>
            <a:ext cx="5181600" cy="276999"/>
          </a:xfrm>
          <a:prstGeom prst="rect">
            <a:avLst/>
          </a:prstGeom>
          <a:noFill/>
        </p:spPr>
        <p:txBody>
          <a:bodyPr vert="horz" wrap="square" lIns="0" tIns="0" rIns="0" bIns="0" rtlCol="0">
            <a:noAutofit/>
          </a:bodyPr>
          <a:lstStyle/>
          <a:p>
            <a:r>
              <a:rPr lang="en-US" sz="1700">
                <a:solidFill>
                  <a:srgbClr val="F7F8FA"/>
                </a:solidFill>
                <a:latin typeface="Aptos" panose="020B0004020202020204" pitchFamily="34" charset="0"/>
              </a:rPr>
              <a:t>Second one ka payload aur GVW kya hai?</a:t>
            </a:r>
            <a:endParaRPr lang="en-IN" sz="1700">
              <a:solidFill>
                <a:srgbClr val="F7F8FA"/>
              </a:solidFill>
              <a:latin typeface="Aptos" panose="020B0004020202020204" pitchFamily="34" charset="0"/>
            </a:endParaRPr>
          </a:p>
        </p:txBody>
      </p:sp>
      <p:sp>
        <p:nvSpPr>
          <p:cNvPr id="20" name="TextBox 19">
            <a:extLst>
              <a:ext uri="{FF2B5EF4-FFF2-40B4-BE49-F238E27FC236}">
                <a16:creationId xmlns:a16="http://schemas.microsoft.com/office/drawing/2014/main" id="{BDC9B79A-525D-8228-3DD0-146776B12581}"/>
              </a:ext>
            </a:extLst>
          </p:cNvPr>
          <p:cNvSpPr txBox="1"/>
          <p:nvPr/>
        </p:nvSpPr>
        <p:spPr>
          <a:xfrm>
            <a:off x="7188200" y="3911600"/>
            <a:ext cx="4140200" cy="276999"/>
          </a:xfrm>
          <a:prstGeom prst="rect">
            <a:avLst/>
          </a:prstGeom>
          <a:noFill/>
        </p:spPr>
        <p:txBody>
          <a:bodyPr vert="horz" wrap="square" lIns="0" tIns="0" rIns="0" bIns="0" rtlCol="0">
            <a:noAutofit/>
          </a:bodyPr>
          <a:lstStyle/>
          <a:p>
            <a:r>
              <a:rPr lang="en-US" sz="1600" b="1">
                <a:solidFill>
                  <a:srgbClr val="E8EBF0"/>
                </a:solidFill>
                <a:latin typeface="Aptos" panose="020B0004020202020204" pitchFamily="34" charset="0"/>
              </a:rPr>
              <a:t>Reads two fields from saved result 2</a:t>
            </a:r>
            <a:endParaRPr lang="en-IN" sz="1600" b="1">
              <a:solidFill>
                <a:srgbClr val="E8EBF0"/>
              </a:solidFill>
              <a:latin typeface="Aptos" panose="020B0004020202020204" pitchFamily="34" charset="0"/>
            </a:endParaRPr>
          </a:p>
        </p:txBody>
      </p:sp>
      <p:cxnSp>
        <p:nvCxnSpPr>
          <p:cNvPr id="21" name="Straight Connector 20">
            <a:extLst>
              <a:ext uri="{FF2B5EF4-FFF2-40B4-BE49-F238E27FC236}">
                <a16:creationId xmlns:a16="http://schemas.microsoft.com/office/drawing/2014/main" id="{7A209B0B-6269-E4B2-47F6-DF1CDFC17CE4}"/>
              </a:ext>
            </a:extLst>
          </p:cNvPr>
          <p:cNvCxnSpPr/>
          <p:nvPr/>
        </p:nvCxnSpPr>
        <p:spPr>
          <a:xfrm>
            <a:off x="736600" y="56896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C6AAECD-045B-53DD-6915-C4F0B2D86548}"/>
              </a:ext>
            </a:extLst>
          </p:cNvPr>
          <p:cNvSpPr txBox="1"/>
          <p:nvPr/>
        </p:nvSpPr>
        <p:spPr>
          <a:xfrm>
            <a:off x="736600" y="4864100"/>
            <a:ext cx="533400" cy="276999"/>
          </a:xfrm>
          <a:prstGeom prst="rect">
            <a:avLst/>
          </a:prstGeom>
          <a:noFill/>
        </p:spPr>
        <p:txBody>
          <a:bodyPr vert="horz" wrap="square" lIns="0" tIns="0" rIns="0" bIns="0" rtlCol="0">
            <a:noAutofit/>
          </a:bodyPr>
          <a:lstStyle/>
          <a:p>
            <a:r>
              <a:rPr lang="en-IN" sz="1200" b="1">
                <a:solidFill>
                  <a:srgbClr val="F5A524"/>
                </a:solidFill>
                <a:latin typeface="Aptos" panose="020B0004020202020204" pitchFamily="34" charset="0"/>
              </a:rPr>
              <a:t>04</a:t>
            </a:r>
          </a:p>
        </p:txBody>
      </p:sp>
      <p:sp>
        <p:nvSpPr>
          <p:cNvPr id="23" name="TextBox 22">
            <a:extLst>
              <a:ext uri="{FF2B5EF4-FFF2-40B4-BE49-F238E27FC236}">
                <a16:creationId xmlns:a16="http://schemas.microsoft.com/office/drawing/2014/main" id="{5E967693-E188-79DA-F862-455C3034A8DA}"/>
              </a:ext>
            </a:extLst>
          </p:cNvPr>
          <p:cNvSpPr txBox="1"/>
          <p:nvPr/>
        </p:nvSpPr>
        <p:spPr>
          <a:xfrm>
            <a:off x="1460500" y="4864100"/>
            <a:ext cx="5181600" cy="276999"/>
          </a:xfrm>
          <a:prstGeom prst="rect">
            <a:avLst/>
          </a:prstGeom>
          <a:noFill/>
        </p:spPr>
        <p:txBody>
          <a:bodyPr vert="horz" wrap="square" lIns="0" tIns="0" rIns="0" bIns="0" rtlCol="0">
            <a:noAutofit/>
          </a:bodyPr>
          <a:lstStyle/>
          <a:p>
            <a:r>
              <a:rPr lang="sv-SE" sz="1700">
                <a:solidFill>
                  <a:srgbClr val="F7F8FA"/>
                </a:solidFill>
                <a:latin typeface="Aptos" panose="020B0004020202020204" pitchFamily="34" charset="0"/>
              </a:rPr>
              <a:t>CNG tanker under ₹1 lakh in Kolkata</a:t>
            </a:r>
            <a:endParaRPr lang="en-IN" sz="1700">
              <a:solidFill>
                <a:srgbClr val="F7F8FA"/>
              </a:solidFill>
              <a:latin typeface="Aptos" panose="020B0004020202020204" pitchFamily="34" charset="0"/>
            </a:endParaRPr>
          </a:p>
        </p:txBody>
      </p:sp>
      <p:sp>
        <p:nvSpPr>
          <p:cNvPr id="24" name="TextBox 23">
            <a:extLst>
              <a:ext uri="{FF2B5EF4-FFF2-40B4-BE49-F238E27FC236}">
                <a16:creationId xmlns:a16="http://schemas.microsoft.com/office/drawing/2014/main" id="{7048D4C3-3499-69D8-30EF-C731D7B19D79}"/>
              </a:ext>
            </a:extLst>
          </p:cNvPr>
          <p:cNvSpPr txBox="1"/>
          <p:nvPr/>
        </p:nvSpPr>
        <p:spPr>
          <a:xfrm>
            <a:off x="7188200" y="4864100"/>
            <a:ext cx="4140200" cy="276999"/>
          </a:xfrm>
          <a:prstGeom prst="rect">
            <a:avLst/>
          </a:prstGeom>
          <a:noFill/>
        </p:spPr>
        <p:txBody>
          <a:bodyPr vert="horz" wrap="square" lIns="0" tIns="0" rIns="0" bIns="0" rtlCol="0">
            <a:noAutofit/>
          </a:bodyPr>
          <a:lstStyle/>
          <a:p>
            <a:r>
              <a:rPr lang="en-US" sz="1600" b="1">
                <a:solidFill>
                  <a:srgbClr val="E8EBF0"/>
                </a:solidFill>
                <a:latin typeface="Aptos" panose="020B0004020202020204" pitchFamily="34" charset="0"/>
              </a:rPr>
              <a:t>Reports zero results and keeps prior IDs</a:t>
            </a:r>
            <a:endParaRPr lang="en-IN" sz="1600" b="1">
              <a:solidFill>
                <a:srgbClr val="E8EBF0"/>
              </a:solidFill>
              <a:latin typeface="Aptos" panose="020B0004020202020204" pitchFamily="34" charset="0"/>
            </a:endParaRPr>
          </a:p>
        </p:txBody>
      </p:sp>
      <p:sp>
        <p:nvSpPr>
          <p:cNvPr id="25" name="TextBox 24">
            <a:extLst>
              <a:ext uri="{FF2B5EF4-FFF2-40B4-BE49-F238E27FC236}">
                <a16:creationId xmlns:a16="http://schemas.microsoft.com/office/drawing/2014/main" id="{54F8CC66-6256-67D7-831D-F4352A110689}"/>
              </a:ext>
            </a:extLst>
          </p:cNvPr>
          <p:cNvSpPr txBox="1"/>
          <p:nvPr/>
        </p:nvSpPr>
        <p:spPr>
          <a:xfrm>
            <a:off x="736600" y="5930900"/>
            <a:ext cx="10414000" cy="276999"/>
          </a:xfrm>
          <a:prstGeom prst="rect">
            <a:avLst/>
          </a:prstGeom>
          <a:noFill/>
        </p:spPr>
        <p:txBody>
          <a:bodyPr vert="horz" wrap="square" lIns="0" tIns="0" rIns="0" bIns="0" rtlCol="0">
            <a:noAutofit/>
          </a:bodyPr>
          <a:lstStyle/>
          <a:p>
            <a:r>
              <a:rPr lang="en-US" sz="1500">
                <a:solidFill>
                  <a:srgbClr val="9299A6"/>
                </a:solidFill>
                <a:latin typeface="Aptos" panose="020B0004020202020204" pitchFamily="34" charset="0"/>
              </a:rPr>
              <a:t>A failed search changes the answer. The last valid result set remains available for later references.</a:t>
            </a:r>
            <a:endParaRPr lang="en-IN" sz="1500">
              <a:solidFill>
                <a:srgbClr val="9299A6"/>
              </a:solidFill>
              <a:latin typeface="Aptos" panose="020B0004020202020204" pitchFamily="34" charset="0"/>
            </a:endParaRPr>
          </a:p>
        </p:txBody>
      </p:sp>
    </p:spTree>
    <p:extLst>
      <p:ext uri="{BB962C8B-B14F-4D97-AF65-F5344CB8AC3E}">
        <p14:creationId xmlns:p14="http://schemas.microsoft.com/office/powerpoint/2010/main" val="763469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2A6D2A-AFD1-9B8A-997B-23A2B1C8A6D9}"/>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EVALUATION</a:t>
            </a:r>
          </a:p>
        </p:txBody>
      </p:sp>
      <p:sp>
        <p:nvSpPr>
          <p:cNvPr id="3" name="TextBox 2">
            <a:extLst>
              <a:ext uri="{FF2B5EF4-FFF2-40B4-BE49-F238E27FC236}">
                <a16:creationId xmlns:a16="http://schemas.microsoft.com/office/drawing/2014/main" id="{D7BA962B-7970-7424-D509-B814AF9194C0}"/>
              </a:ext>
            </a:extLst>
          </p:cNvPr>
          <p:cNvSpPr txBox="1"/>
          <p:nvPr/>
        </p:nvSpPr>
        <p:spPr>
          <a:xfrm>
            <a:off x="711200" y="673100"/>
            <a:ext cx="10795000" cy="276999"/>
          </a:xfrm>
          <a:prstGeom prst="rect">
            <a:avLst/>
          </a:prstGeom>
          <a:noFill/>
        </p:spPr>
        <p:txBody>
          <a:bodyPr vert="horz" wrap="square" lIns="0" tIns="0" rIns="0" bIns="0" rtlCol="0">
            <a:noAutofit/>
          </a:bodyPr>
          <a:lstStyle/>
          <a:p>
            <a:r>
              <a:rPr lang="en-US" sz="3100" b="1">
                <a:solidFill>
                  <a:srgbClr val="F7F8FA"/>
                </a:solidFill>
                <a:latin typeface="Aptos Display" panose="020B0004020202020204" pitchFamily="34" charset="0"/>
              </a:rPr>
              <a:t>51 of 52 live cases passed</a:t>
            </a:r>
            <a:endParaRPr lang="en-IN" sz="3100" b="1">
              <a:solidFill>
                <a:srgbClr val="F7F8FA"/>
              </a:solidFill>
              <a:latin typeface="Aptos Display" panose="020B0004020202020204" pitchFamily="34" charset="0"/>
            </a:endParaRPr>
          </a:p>
        </p:txBody>
      </p:sp>
      <p:cxnSp>
        <p:nvCxnSpPr>
          <p:cNvPr id="4" name="Straight Connector 3">
            <a:extLst>
              <a:ext uri="{FF2B5EF4-FFF2-40B4-BE49-F238E27FC236}">
                <a16:creationId xmlns:a16="http://schemas.microsoft.com/office/drawing/2014/main" id="{B7C9F828-5E01-C29E-7F1D-5325ED3AAE52}"/>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7B0538F4-D540-89A9-75C2-00B9F6787E05}"/>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07</a:t>
            </a:r>
          </a:p>
        </p:txBody>
      </p:sp>
      <p:sp>
        <p:nvSpPr>
          <p:cNvPr id="6" name="TextBox 5">
            <a:extLst>
              <a:ext uri="{FF2B5EF4-FFF2-40B4-BE49-F238E27FC236}">
                <a16:creationId xmlns:a16="http://schemas.microsoft.com/office/drawing/2014/main" id="{6C7ED7F7-FBBA-CB13-07F1-D2FFF8B62C86}"/>
              </a:ext>
            </a:extLst>
          </p:cNvPr>
          <p:cNvSpPr txBox="1"/>
          <p:nvPr/>
        </p:nvSpPr>
        <p:spPr>
          <a:xfrm>
            <a:off x="736600" y="1803400"/>
            <a:ext cx="4064000" cy="276999"/>
          </a:xfrm>
          <a:prstGeom prst="rect">
            <a:avLst/>
          </a:prstGeom>
          <a:noFill/>
        </p:spPr>
        <p:txBody>
          <a:bodyPr vert="horz" wrap="square" lIns="0" tIns="0" rIns="0" bIns="0" rtlCol="0">
            <a:noAutofit/>
          </a:bodyPr>
          <a:lstStyle/>
          <a:p>
            <a:r>
              <a:rPr lang="en-IN" sz="5700" b="1">
                <a:solidFill>
                  <a:srgbClr val="F7F8FA"/>
                </a:solidFill>
                <a:latin typeface="Aptos Display" panose="020B0004020202020204" pitchFamily="34" charset="0"/>
              </a:rPr>
              <a:t>98.1%</a:t>
            </a:r>
          </a:p>
        </p:txBody>
      </p:sp>
      <p:sp>
        <p:nvSpPr>
          <p:cNvPr id="7" name="TextBox 6">
            <a:extLst>
              <a:ext uri="{FF2B5EF4-FFF2-40B4-BE49-F238E27FC236}">
                <a16:creationId xmlns:a16="http://schemas.microsoft.com/office/drawing/2014/main" id="{AC69A5CB-C26D-6D52-BDDF-8F04D9B3D94A}"/>
              </a:ext>
            </a:extLst>
          </p:cNvPr>
          <p:cNvSpPr txBox="1"/>
          <p:nvPr/>
        </p:nvSpPr>
        <p:spPr>
          <a:xfrm>
            <a:off x="787400" y="2933700"/>
            <a:ext cx="3556000" cy="276999"/>
          </a:xfrm>
          <a:prstGeom prst="rect">
            <a:avLst/>
          </a:prstGeom>
          <a:noFill/>
        </p:spPr>
        <p:txBody>
          <a:bodyPr vert="horz" wrap="square" lIns="0" tIns="0" rIns="0" bIns="0" rtlCol="0">
            <a:noAutofit/>
          </a:bodyPr>
          <a:lstStyle/>
          <a:p>
            <a:r>
              <a:rPr lang="en-IN" sz="1600">
                <a:solidFill>
                  <a:srgbClr val="9299A6"/>
                </a:solidFill>
                <a:latin typeface="Aptos" panose="020B0004020202020204" pitchFamily="34" charset="0"/>
              </a:rPr>
              <a:t>overall across three suites</a:t>
            </a:r>
          </a:p>
        </p:txBody>
      </p:sp>
      <p:sp>
        <p:nvSpPr>
          <p:cNvPr id="8" name="TextBox 7">
            <a:extLst>
              <a:ext uri="{FF2B5EF4-FFF2-40B4-BE49-F238E27FC236}">
                <a16:creationId xmlns:a16="http://schemas.microsoft.com/office/drawing/2014/main" id="{DD9CDAEA-7AD8-BBD2-F2D9-70D588284EFB}"/>
              </a:ext>
            </a:extLst>
          </p:cNvPr>
          <p:cNvSpPr txBox="1"/>
          <p:nvPr/>
        </p:nvSpPr>
        <p:spPr>
          <a:xfrm>
            <a:off x="787400" y="3556000"/>
            <a:ext cx="3810000" cy="276999"/>
          </a:xfrm>
          <a:prstGeom prst="rect">
            <a:avLst/>
          </a:prstGeom>
          <a:noFill/>
        </p:spPr>
        <p:txBody>
          <a:bodyPr vert="horz" wrap="square" lIns="0" tIns="0" rIns="0" bIns="0" rtlCol="0">
            <a:noAutofit/>
          </a:bodyPr>
          <a:lstStyle/>
          <a:p>
            <a:r>
              <a:rPr lang="en-US" sz="1700" b="1">
                <a:solidFill>
                  <a:srgbClr val="F5A524"/>
                </a:solidFill>
                <a:latin typeface="Aptos" panose="020B0004020202020204" pitchFamily="34" charset="0"/>
              </a:rPr>
              <a:t>The failed case stayed in the score.</a:t>
            </a:r>
            <a:endParaRPr lang="en-IN" sz="1700" b="1">
              <a:solidFill>
                <a:srgbClr val="F5A524"/>
              </a:solidFill>
              <a:latin typeface="Aptos" panose="020B0004020202020204" pitchFamily="34" charset="0"/>
            </a:endParaRPr>
          </a:p>
        </p:txBody>
      </p:sp>
      <p:sp>
        <p:nvSpPr>
          <p:cNvPr id="9" name="TextBox 8">
            <a:extLst>
              <a:ext uri="{FF2B5EF4-FFF2-40B4-BE49-F238E27FC236}">
                <a16:creationId xmlns:a16="http://schemas.microsoft.com/office/drawing/2014/main" id="{30B78D52-1EA7-453D-041A-BD2CF20EE800}"/>
              </a:ext>
            </a:extLst>
          </p:cNvPr>
          <p:cNvSpPr txBox="1"/>
          <p:nvPr/>
        </p:nvSpPr>
        <p:spPr>
          <a:xfrm>
            <a:off x="5461000" y="1917700"/>
            <a:ext cx="2794000" cy="276999"/>
          </a:xfrm>
          <a:prstGeom prst="rect">
            <a:avLst/>
          </a:prstGeom>
          <a:noFill/>
        </p:spPr>
        <p:txBody>
          <a:bodyPr vert="horz" wrap="square" lIns="0" tIns="0" rIns="0" bIns="0" rtlCol="0">
            <a:noAutofit/>
          </a:bodyPr>
          <a:lstStyle/>
          <a:p>
            <a:r>
              <a:rPr lang="en-IN" sz="1500" b="1">
                <a:solidFill>
                  <a:srgbClr val="E8EBF0"/>
                </a:solidFill>
                <a:latin typeface="Aptos" panose="020B0004020202020204" pitchFamily="34" charset="0"/>
              </a:rPr>
              <a:t>Core conversation</a:t>
            </a:r>
          </a:p>
        </p:txBody>
      </p:sp>
      <p:sp>
        <p:nvSpPr>
          <p:cNvPr id="10" name="TextBox 9">
            <a:extLst>
              <a:ext uri="{FF2B5EF4-FFF2-40B4-BE49-F238E27FC236}">
                <a16:creationId xmlns:a16="http://schemas.microsoft.com/office/drawing/2014/main" id="{293CC1F8-CC71-079B-644F-385AD738CE0E}"/>
              </a:ext>
            </a:extLst>
          </p:cNvPr>
          <p:cNvSpPr txBox="1"/>
          <p:nvPr/>
        </p:nvSpPr>
        <p:spPr>
          <a:xfrm>
            <a:off x="10388600" y="1917700"/>
            <a:ext cx="952500" cy="276999"/>
          </a:xfrm>
          <a:prstGeom prst="rect">
            <a:avLst/>
          </a:prstGeom>
          <a:noFill/>
        </p:spPr>
        <p:txBody>
          <a:bodyPr vert="horz" wrap="square" lIns="0" tIns="0" rIns="0" bIns="0" rtlCol="0">
            <a:noAutofit/>
          </a:bodyPr>
          <a:lstStyle/>
          <a:p>
            <a:pPr algn="r"/>
            <a:r>
              <a:rPr lang="en-IN" sz="1500" b="1">
                <a:solidFill>
                  <a:srgbClr val="F7F8FA"/>
                </a:solidFill>
                <a:latin typeface="Aptos" panose="020B0004020202020204" pitchFamily="34" charset="0"/>
              </a:rPr>
              <a:t>28/28</a:t>
            </a:r>
          </a:p>
        </p:txBody>
      </p:sp>
      <p:sp>
        <p:nvSpPr>
          <p:cNvPr id="11" name="Rectangle 10">
            <a:extLst>
              <a:ext uri="{FF2B5EF4-FFF2-40B4-BE49-F238E27FC236}">
                <a16:creationId xmlns:a16="http://schemas.microsoft.com/office/drawing/2014/main" id="{0ABD98ED-F385-184C-1DE1-9890A42E2E21}"/>
              </a:ext>
            </a:extLst>
          </p:cNvPr>
          <p:cNvSpPr/>
          <p:nvPr/>
        </p:nvSpPr>
        <p:spPr>
          <a:xfrm>
            <a:off x="5461000" y="2336800"/>
            <a:ext cx="5880100" cy="1270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FE779913-86A6-D291-8B60-691F811F1B33}"/>
              </a:ext>
            </a:extLst>
          </p:cNvPr>
          <p:cNvSpPr/>
          <p:nvPr/>
        </p:nvSpPr>
        <p:spPr>
          <a:xfrm>
            <a:off x="5461000" y="2336800"/>
            <a:ext cx="5880100" cy="127000"/>
          </a:xfrm>
          <a:prstGeom prst="rect">
            <a:avLst/>
          </a:prstGeom>
          <a:solidFill>
            <a:srgbClr val="4ADE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E16CD12-054A-A583-0FF9-80D4143D4164}"/>
              </a:ext>
            </a:extLst>
          </p:cNvPr>
          <p:cNvSpPr txBox="1"/>
          <p:nvPr/>
        </p:nvSpPr>
        <p:spPr>
          <a:xfrm>
            <a:off x="5461000" y="3086100"/>
            <a:ext cx="2794000" cy="276999"/>
          </a:xfrm>
          <a:prstGeom prst="rect">
            <a:avLst/>
          </a:prstGeom>
          <a:noFill/>
        </p:spPr>
        <p:txBody>
          <a:bodyPr vert="horz" wrap="square" lIns="0" tIns="0" rIns="0" bIns="0" rtlCol="0">
            <a:noAutofit/>
          </a:bodyPr>
          <a:lstStyle/>
          <a:p>
            <a:r>
              <a:rPr lang="en-IN" sz="1500" b="1">
                <a:solidFill>
                  <a:srgbClr val="E8EBF0"/>
                </a:solidFill>
                <a:latin typeface="Aptos" panose="020B0004020202020204" pitchFamily="34" charset="0"/>
              </a:rPr>
              <a:t>Vehicle variants</a:t>
            </a:r>
          </a:p>
        </p:txBody>
      </p:sp>
      <p:sp>
        <p:nvSpPr>
          <p:cNvPr id="14" name="TextBox 13">
            <a:extLst>
              <a:ext uri="{FF2B5EF4-FFF2-40B4-BE49-F238E27FC236}">
                <a16:creationId xmlns:a16="http://schemas.microsoft.com/office/drawing/2014/main" id="{5DA7CD91-8752-A434-F0FC-2D8E2300B552}"/>
              </a:ext>
            </a:extLst>
          </p:cNvPr>
          <p:cNvSpPr txBox="1"/>
          <p:nvPr/>
        </p:nvSpPr>
        <p:spPr>
          <a:xfrm>
            <a:off x="10388600" y="3086100"/>
            <a:ext cx="952500" cy="276999"/>
          </a:xfrm>
          <a:prstGeom prst="rect">
            <a:avLst/>
          </a:prstGeom>
          <a:noFill/>
        </p:spPr>
        <p:txBody>
          <a:bodyPr vert="horz" wrap="square" lIns="0" tIns="0" rIns="0" bIns="0" rtlCol="0">
            <a:noAutofit/>
          </a:bodyPr>
          <a:lstStyle/>
          <a:p>
            <a:pPr algn="r"/>
            <a:r>
              <a:rPr lang="en-IN" sz="1500" b="1">
                <a:solidFill>
                  <a:srgbClr val="F7F8FA"/>
                </a:solidFill>
                <a:latin typeface="Aptos" panose="020B0004020202020204" pitchFamily="34" charset="0"/>
              </a:rPr>
              <a:t>18/18</a:t>
            </a:r>
          </a:p>
        </p:txBody>
      </p:sp>
      <p:sp>
        <p:nvSpPr>
          <p:cNvPr id="15" name="Rectangle 14">
            <a:extLst>
              <a:ext uri="{FF2B5EF4-FFF2-40B4-BE49-F238E27FC236}">
                <a16:creationId xmlns:a16="http://schemas.microsoft.com/office/drawing/2014/main" id="{854E0334-868A-8490-F638-B3B705739A2D}"/>
              </a:ext>
            </a:extLst>
          </p:cNvPr>
          <p:cNvSpPr/>
          <p:nvPr/>
        </p:nvSpPr>
        <p:spPr>
          <a:xfrm>
            <a:off x="5461000" y="3505200"/>
            <a:ext cx="5880100" cy="1270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9B92C5E6-7C32-F244-7E76-C78C4EDCDED2}"/>
              </a:ext>
            </a:extLst>
          </p:cNvPr>
          <p:cNvSpPr/>
          <p:nvPr/>
        </p:nvSpPr>
        <p:spPr>
          <a:xfrm>
            <a:off x="5461000" y="3505200"/>
            <a:ext cx="5880100" cy="127000"/>
          </a:xfrm>
          <a:prstGeom prst="rect">
            <a:avLst/>
          </a:prstGeom>
          <a:solidFill>
            <a:srgbClr val="4ADE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733247B1-7297-7FB0-A34C-CC1531B55AD0}"/>
              </a:ext>
            </a:extLst>
          </p:cNvPr>
          <p:cNvSpPr txBox="1"/>
          <p:nvPr/>
        </p:nvSpPr>
        <p:spPr>
          <a:xfrm>
            <a:off x="5461000" y="4254500"/>
            <a:ext cx="2794000" cy="276999"/>
          </a:xfrm>
          <a:prstGeom prst="rect">
            <a:avLst/>
          </a:prstGeom>
          <a:noFill/>
        </p:spPr>
        <p:txBody>
          <a:bodyPr vert="horz" wrap="square" lIns="0" tIns="0" rIns="0" bIns="0" rtlCol="0">
            <a:noAutofit/>
          </a:bodyPr>
          <a:lstStyle/>
          <a:p>
            <a:r>
              <a:rPr lang="en-IN" sz="1500" b="1">
                <a:solidFill>
                  <a:srgbClr val="E8EBF0"/>
                </a:solidFill>
                <a:latin typeface="Aptos" panose="020B0004020202020204" pitchFamily="34" charset="0"/>
              </a:rPr>
              <a:t>Recorded voice</a:t>
            </a:r>
          </a:p>
        </p:txBody>
      </p:sp>
      <p:sp>
        <p:nvSpPr>
          <p:cNvPr id="18" name="TextBox 17">
            <a:extLst>
              <a:ext uri="{FF2B5EF4-FFF2-40B4-BE49-F238E27FC236}">
                <a16:creationId xmlns:a16="http://schemas.microsoft.com/office/drawing/2014/main" id="{CB56AED8-69A7-D776-4904-7BD914DF744C}"/>
              </a:ext>
            </a:extLst>
          </p:cNvPr>
          <p:cNvSpPr txBox="1"/>
          <p:nvPr/>
        </p:nvSpPr>
        <p:spPr>
          <a:xfrm>
            <a:off x="10388600" y="4254500"/>
            <a:ext cx="952500" cy="276999"/>
          </a:xfrm>
          <a:prstGeom prst="rect">
            <a:avLst/>
          </a:prstGeom>
          <a:noFill/>
        </p:spPr>
        <p:txBody>
          <a:bodyPr vert="horz" wrap="square" lIns="0" tIns="0" rIns="0" bIns="0" rtlCol="0">
            <a:noAutofit/>
          </a:bodyPr>
          <a:lstStyle/>
          <a:p>
            <a:pPr algn="r"/>
            <a:r>
              <a:rPr lang="en-IN" sz="1500" b="1">
                <a:solidFill>
                  <a:srgbClr val="F7F8FA"/>
                </a:solidFill>
                <a:latin typeface="Aptos" panose="020B0004020202020204" pitchFamily="34" charset="0"/>
              </a:rPr>
              <a:t>5/6</a:t>
            </a:r>
          </a:p>
        </p:txBody>
      </p:sp>
      <p:sp>
        <p:nvSpPr>
          <p:cNvPr id="19" name="Rectangle 18">
            <a:extLst>
              <a:ext uri="{FF2B5EF4-FFF2-40B4-BE49-F238E27FC236}">
                <a16:creationId xmlns:a16="http://schemas.microsoft.com/office/drawing/2014/main" id="{CAEAB2A3-7F61-B83F-1773-73ABC40A6013}"/>
              </a:ext>
            </a:extLst>
          </p:cNvPr>
          <p:cNvSpPr/>
          <p:nvPr/>
        </p:nvSpPr>
        <p:spPr>
          <a:xfrm>
            <a:off x="5461000" y="4673600"/>
            <a:ext cx="5880100" cy="1270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480CC75A-D086-7BA0-569C-0332234B938A}"/>
              </a:ext>
            </a:extLst>
          </p:cNvPr>
          <p:cNvSpPr/>
          <p:nvPr/>
        </p:nvSpPr>
        <p:spPr>
          <a:xfrm>
            <a:off x="5461000" y="4673600"/>
            <a:ext cx="4898123" cy="127000"/>
          </a:xfrm>
          <a:prstGeom prst="rect">
            <a:avLst/>
          </a:prstGeom>
          <a:solidFill>
            <a:srgbClr val="F5A5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4DEE5643-D569-C7C6-E309-3B3DAA8FC15D}"/>
              </a:ext>
            </a:extLst>
          </p:cNvPr>
          <p:cNvSpPr/>
          <p:nvPr/>
        </p:nvSpPr>
        <p:spPr>
          <a:xfrm>
            <a:off x="736600" y="5080000"/>
            <a:ext cx="10604500" cy="838200"/>
          </a:xfrm>
          <a:prstGeom prst="roundRect">
            <a:avLst/>
          </a:prstGeom>
          <a:solidFill>
            <a:srgbClr val="11151D"/>
          </a:solidFill>
          <a:ln w="12700">
            <a:solidFill>
              <a:srgbClr val="F5A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EB463631-04C8-6DA9-D4A8-A6F79D03E36A}"/>
              </a:ext>
            </a:extLst>
          </p:cNvPr>
          <p:cNvSpPr txBox="1"/>
          <p:nvPr/>
        </p:nvSpPr>
        <p:spPr>
          <a:xfrm>
            <a:off x="1003300" y="5245100"/>
            <a:ext cx="1270000" cy="276999"/>
          </a:xfrm>
          <a:prstGeom prst="rect">
            <a:avLst/>
          </a:prstGeom>
          <a:noFill/>
        </p:spPr>
        <p:txBody>
          <a:bodyPr vert="horz" wrap="square" lIns="0" tIns="0" rIns="0" bIns="0" rtlCol="0">
            <a:noAutofit/>
          </a:bodyPr>
          <a:lstStyle/>
          <a:p>
            <a:r>
              <a:rPr lang="en-IN" sz="1000" b="1">
                <a:solidFill>
                  <a:srgbClr val="F5A524"/>
                </a:solidFill>
                <a:latin typeface="Aptos" panose="020B0004020202020204" pitchFamily="34" charset="0"/>
              </a:rPr>
              <a:t>Known miss</a:t>
            </a:r>
          </a:p>
        </p:txBody>
      </p:sp>
      <p:sp>
        <p:nvSpPr>
          <p:cNvPr id="23" name="TextBox 22">
            <a:extLst>
              <a:ext uri="{FF2B5EF4-FFF2-40B4-BE49-F238E27FC236}">
                <a16:creationId xmlns:a16="http://schemas.microsoft.com/office/drawing/2014/main" id="{07902F15-CD77-437A-C72D-5E1E9FC2B0F5}"/>
              </a:ext>
            </a:extLst>
          </p:cNvPr>
          <p:cNvSpPr txBox="1"/>
          <p:nvPr/>
        </p:nvSpPr>
        <p:spPr>
          <a:xfrm>
            <a:off x="1003300" y="5524500"/>
            <a:ext cx="10033000" cy="276999"/>
          </a:xfrm>
          <a:prstGeom prst="rect">
            <a:avLst/>
          </a:prstGeom>
          <a:noFill/>
        </p:spPr>
        <p:txBody>
          <a:bodyPr vert="horz" wrap="square" lIns="0" tIns="0" rIns="0" bIns="0" rtlCol="0">
            <a:noAutofit/>
          </a:bodyPr>
          <a:lstStyle/>
          <a:p>
            <a:r>
              <a:rPr lang="en-US" sz="1500">
                <a:solidFill>
                  <a:srgbClr val="E8EBF0"/>
                </a:solidFill>
                <a:latin typeface="Aptos" panose="020B0004020202020204" pitchFamily="34" charset="0"/>
              </a:rPr>
              <a:t>STT and extraction produced "Bangalore" while the catalog expects "Bengaluru". The exact filter returned no result.</a:t>
            </a:r>
            <a:endParaRPr lang="en-IN" sz="1500">
              <a:solidFill>
                <a:srgbClr val="E8EBF0"/>
              </a:solidFill>
              <a:latin typeface="Aptos" panose="020B0004020202020204" pitchFamily="34" charset="0"/>
            </a:endParaRPr>
          </a:p>
        </p:txBody>
      </p:sp>
    </p:spTree>
    <p:extLst>
      <p:ext uri="{BB962C8B-B14F-4D97-AF65-F5344CB8AC3E}">
        <p14:creationId xmlns:p14="http://schemas.microsoft.com/office/powerpoint/2010/main" val="1017812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B87129-F17E-DEFF-7BE4-514D08245F37}"/>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VOICE LATENCY</a:t>
            </a:r>
          </a:p>
        </p:txBody>
      </p:sp>
      <p:sp>
        <p:nvSpPr>
          <p:cNvPr id="3" name="TextBox 2">
            <a:extLst>
              <a:ext uri="{FF2B5EF4-FFF2-40B4-BE49-F238E27FC236}">
                <a16:creationId xmlns:a16="http://schemas.microsoft.com/office/drawing/2014/main" id="{48DAC305-EA79-3115-7041-BFB9F8EAC3E0}"/>
              </a:ext>
            </a:extLst>
          </p:cNvPr>
          <p:cNvSpPr txBox="1"/>
          <p:nvPr/>
        </p:nvSpPr>
        <p:spPr>
          <a:xfrm>
            <a:off x="711200" y="673100"/>
            <a:ext cx="10795000" cy="276999"/>
          </a:xfrm>
          <a:prstGeom prst="rect">
            <a:avLst/>
          </a:prstGeom>
          <a:noFill/>
        </p:spPr>
        <p:txBody>
          <a:bodyPr vert="horz" wrap="square" lIns="0" tIns="0" rIns="0" bIns="0" rtlCol="0">
            <a:noAutofit/>
          </a:bodyPr>
          <a:lstStyle/>
          <a:p>
            <a:r>
              <a:rPr lang="en-US" sz="3100" b="1">
                <a:solidFill>
                  <a:srgbClr val="F7F8FA"/>
                </a:solidFill>
                <a:latin typeface="Aptos Display" panose="020B0004020202020204" pitchFamily="34" charset="0"/>
              </a:rPr>
              <a:t>The voice loop averages 5.32 seconds</a:t>
            </a:r>
            <a:endParaRPr lang="en-IN" sz="3100" b="1">
              <a:solidFill>
                <a:srgbClr val="F7F8FA"/>
              </a:solidFill>
              <a:latin typeface="Aptos Display" panose="020B0004020202020204" pitchFamily="34" charset="0"/>
            </a:endParaRPr>
          </a:p>
        </p:txBody>
      </p:sp>
      <p:cxnSp>
        <p:nvCxnSpPr>
          <p:cNvPr id="4" name="Straight Connector 3">
            <a:extLst>
              <a:ext uri="{FF2B5EF4-FFF2-40B4-BE49-F238E27FC236}">
                <a16:creationId xmlns:a16="http://schemas.microsoft.com/office/drawing/2014/main" id="{EDEFC1BB-1B54-ACD3-6847-8E7E4DE82FCF}"/>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24282B2-3073-9053-E056-DB8A792E56E7}"/>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08</a:t>
            </a:r>
          </a:p>
        </p:txBody>
      </p:sp>
      <p:sp>
        <p:nvSpPr>
          <p:cNvPr id="6" name="TextBox 5">
            <a:extLst>
              <a:ext uri="{FF2B5EF4-FFF2-40B4-BE49-F238E27FC236}">
                <a16:creationId xmlns:a16="http://schemas.microsoft.com/office/drawing/2014/main" id="{F93B2B9B-14B5-387B-D736-97E1B7A15974}"/>
              </a:ext>
            </a:extLst>
          </p:cNvPr>
          <p:cNvSpPr txBox="1"/>
          <p:nvPr/>
        </p:nvSpPr>
        <p:spPr>
          <a:xfrm>
            <a:off x="736600" y="1866900"/>
            <a:ext cx="3429000" cy="276999"/>
          </a:xfrm>
          <a:prstGeom prst="rect">
            <a:avLst/>
          </a:prstGeom>
          <a:noFill/>
        </p:spPr>
        <p:txBody>
          <a:bodyPr vert="horz" wrap="square" lIns="0" tIns="0" rIns="0" bIns="0" rtlCol="0">
            <a:noAutofit/>
          </a:bodyPr>
          <a:lstStyle/>
          <a:p>
            <a:r>
              <a:rPr lang="en-IN" sz="4800" b="1">
                <a:solidFill>
                  <a:srgbClr val="F7F8FA"/>
                </a:solidFill>
                <a:latin typeface="Aptos Display" panose="020B0004020202020204" pitchFamily="34" charset="0"/>
              </a:rPr>
              <a:t>5.32 s</a:t>
            </a:r>
          </a:p>
        </p:txBody>
      </p:sp>
      <p:sp>
        <p:nvSpPr>
          <p:cNvPr id="7" name="TextBox 6">
            <a:extLst>
              <a:ext uri="{FF2B5EF4-FFF2-40B4-BE49-F238E27FC236}">
                <a16:creationId xmlns:a16="http://schemas.microsoft.com/office/drawing/2014/main" id="{1E806C67-95B7-AE8C-BFA1-2EFE1DE9B2CA}"/>
              </a:ext>
            </a:extLst>
          </p:cNvPr>
          <p:cNvSpPr txBox="1"/>
          <p:nvPr/>
        </p:nvSpPr>
        <p:spPr>
          <a:xfrm>
            <a:off x="762000" y="2857500"/>
            <a:ext cx="3810000" cy="276999"/>
          </a:xfrm>
          <a:prstGeom prst="rect">
            <a:avLst/>
          </a:prstGeom>
          <a:noFill/>
        </p:spPr>
        <p:txBody>
          <a:bodyPr vert="horz" wrap="square" lIns="0" tIns="0" rIns="0" bIns="0" rtlCol="0">
            <a:noAutofit/>
          </a:bodyPr>
          <a:lstStyle/>
          <a:p>
            <a:r>
              <a:rPr lang="en-US" sz="1500">
                <a:solidFill>
                  <a:srgbClr val="9299A6"/>
                </a:solidFill>
                <a:latin typeface="Aptos" panose="020B0004020202020204" pitchFamily="34" charset="0"/>
              </a:rPr>
              <a:t>recording received to complete audio ready</a:t>
            </a:r>
            <a:endParaRPr lang="en-IN" sz="1500">
              <a:solidFill>
                <a:srgbClr val="9299A6"/>
              </a:solidFill>
              <a:latin typeface="Aptos" panose="020B0004020202020204" pitchFamily="34" charset="0"/>
            </a:endParaRPr>
          </a:p>
        </p:txBody>
      </p:sp>
      <p:sp>
        <p:nvSpPr>
          <p:cNvPr id="8" name="TextBox 7">
            <a:extLst>
              <a:ext uri="{FF2B5EF4-FFF2-40B4-BE49-F238E27FC236}">
                <a16:creationId xmlns:a16="http://schemas.microsoft.com/office/drawing/2014/main" id="{9592DCD0-D608-A470-3539-ABCE17F62DE7}"/>
              </a:ext>
            </a:extLst>
          </p:cNvPr>
          <p:cNvSpPr txBox="1"/>
          <p:nvPr/>
        </p:nvSpPr>
        <p:spPr>
          <a:xfrm>
            <a:off x="762000" y="3975100"/>
            <a:ext cx="2413000" cy="276999"/>
          </a:xfrm>
          <a:prstGeom prst="rect">
            <a:avLst/>
          </a:prstGeom>
          <a:noFill/>
        </p:spPr>
        <p:txBody>
          <a:bodyPr vert="horz" wrap="square" lIns="0" tIns="0" rIns="0" bIns="0" rtlCol="0">
            <a:noAutofit/>
          </a:bodyPr>
          <a:lstStyle/>
          <a:p>
            <a:r>
              <a:rPr lang="en-IN" sz="2800" b="1">
                <a:solidFill>
                  <a:srgbClr val="64E6FF"/>
                </a:solidFill>
                <a:latin typeface="Aptos Display" panose="020B0004020202020204" pitchFamily="34" charset="0"/>
              </a:rPr>
              <a:t>₹0.4313</a:t>
            </a:r>
          </a:p>
        </p:txBody>
      </p:sp>
      <p:sp>
        <p:nvSpPr>
          <p:cNvPr id="9" name="TextBox 8">
            <a:extLst>
              <a:ext uri="{FF2B5EF4-FFF2-40B4-BE49-F238E27FC236}">
                <a16:creationId xmlns:a16="http://schemas.microsoft.com/office/drawing/2014/main" id="{28046F77-58FE-2615-71A8-0B27CC780A76}"/>
              </a:ext>
            </a:extLst>
          </p:cNvPr>
          <p:cNvSpPr txBox="1"/>
          <p:nvPr/>
        </p:nvSpPr>
        <p:spPr>
          <a:xfrm>
            <a:off x="762000" y="4508500"/>
            <a:ext cx="2794000" cy="276999"/>
          </a:xfrm>
          <a:prstGeom prst="rect">
            <a:avLst/>
          </a:prstGeom>
          <a:noFill/>
        </p:spPr>
        <p:txBody>
          <a:bodyPr vert="horz" wrap="square" lIns="0" tIns="0" rIns="0" bIns="0" rtlCol="0">
            <a:noAutofit/>
          </a:bodyPr>
          <a:lstStyle/>
          <a:p>
            <a:r>
              <a:rPr lang="en-IN" sz="1300">
                <a:solidFill>
                  <a:srgbClr val="9299A6"/>
                </a:solidFill>
                <a:latin typeface="Aptos" panose="020B0004020202020204" pitchFamily="34" charset="0"/>
              </a:rPr>
              <a:t>mean estimated list cost</a:t>
            </a:r>
          </a:p>
        </p:txBody>
      </p:sp>
      <p:sp>
        <p:nvSpPr>
          <p:cNvPr id="10" name="TextBox 9">
            <a:extLst>
              <a:ext uri="{FF2B5EF4-FFF2-40B4-BE49-F238E27FC236}">
                <a16:creationId xmlns:a16="http://schemas.microsoft.com/office/drawing/2014/main" id="{AF2A8F56-3D8D-E7EE-0BEF-5F733B9C6579}"/>
              </a:ext>
            </a:extLst>
          </p:cNvPr>
          <p:cNvSpPr txBox="1"/>
          <p:nvPr/>
        </p:nvSpPr>
        <p:spPr>
          <a:xfrm>
            <a:off x="5283200" y="1739900"/>
            <a:ext cx="3302000" cy="276999"/>
          </a:xfrm>
          <a:prstGeom prst="rect">
            <a:avLst/>
          </a:prstGeom>
          <a:noFill/>
        </p:spPr>
        <p:txBody>
          <a:bodyPr vert="horz" wrap="square" lIns="0" tIns="0" rIns="0" bIns="0" rtlCol="0">
            <a:noAutofit/>
          </a:bodyPr>
          <a:lstStyle/>
          <a:p>
            <a:r>
              <a:rPr lang="en-IN" sz="1500" b="1">
                <a:solidFill>
                  <a:srgbClr val="F7F8FA"/>
                </a:solidFill>
                <a:latin typeface="Aptos" panose="020B0004020202020204" pitchFamily="34" charset="0"/>
              </a:rPr>
              <a:t>Mean stage timings</a:t>
            </a:r>
          </a:p>
        </p:txBody>
      </p:sp>
      <p:sp>
        <p:nvSpPr>
          <p:cNvPr id="11" name="TextBox 10">
            <a:extLst>
              <a:ext uri="{FF2B5EF4-FFF2-40B4-BE49-F238E27FC236}">
                <a16:creationId xmlns:a16="http://schemas.microsoft.com/office/drawing/2014/main" id="{13F82958-B3BC-3005-CF36-320E31E173CF}"/>
              </a:ext>
            </a:extLst>
          </p:cNvPr>
          <p:cNvSpPr txBox="1"/>
          <p:nvPr/>
        </p:nvSpPr>
        <p:spPr>
          <a:xfrm>
            <a:off x="5283200" y="2298700"/>
            <a:ext cx="1524000" cy="276999"/>
          </a:xfrm>
          <a:prstGeom prst="rect">
            <a:avLst/>
          </a:prstGeom>
          <a:noFill/>
        </p:spPr>
        <p:txBody>
          <a:bodyPr vert="horz" wrap="square" lIns="0" tIns="0" rIns="0" bIns="0" rtlCol="0">
            <a:noAutofit/>
          </a:bodyPr>
          <a:lstStyle/>
          <a:p>
            <a:r>
              <a:rPr lang="en-IN" sz="1300">
                <a:solidFill>
                  <a:srgbClr val="9299A6"/>
                </a:solidFill>
                <a:latin typeface="Aptos" panose="020B0004020202020204" pitchFamily="34" charset="0"/>
              </a:rPr>
              <a:t>STT</a:t>
            </a:r>
          </a:p>
        </p:txBody>
      </p:sp>
      <p:sp>
        <p:nvSpPr>
          <p:cNvPr id="12" name="Rectangle 11">
            <a:extLst>
              <a:ext uri="{FF2B5EF4-FFF2-40B4-BE49-F238E27FC236}">
                <a16:creationId xmlns:a16="http://schemas.microsoft.com/office/drawing/2014/main" id="{75A9AA5D-41BF-59AB-8FC2-D3F05DF4D844}"/>
              </a:ext>
            </a:extLst>
          </p:cNvPr>
          <p:cNvSpPr/>
          <p:nvPr/>
        </p:nvSpPr>
        <p:spPr>
          <a:xfrm>
            <a:off x="6858000" y="2336800"/>
            <a:ext cx="3683000" cy="1270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4524A2E3-D38D-C697-5F5A-242EC9F91B4B}"/>
              </a:ext>
            </a:extLst>
          </p:cNvPr>
          <p:cNvSpPr/>
          <p:nvPr/>
        </p:nvSpPr>
        <p:spPr>
          <a:xfrm>
            <a:off x="6858000" y="2336800"/>
            <a:ext cx="597619" cy="127000"/>
          </a:xfrm>
          <a:prstGeom prst="rect">
            <a:avLst/>
          </a:prstGeom>
          <a:solidFill>
            <a:srgbClr val="7C5C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0D3313B3-1519-B277-A91F-D3BB2BA3AB17}"/>
              </a:ext>
            </a:extLst>
          </p:cNvPr>
          <p:cNvSpPr txBox="1"/>
          <p:nvPr/>
        </p:nvSpPr>
        <p:spPr>
          <a:xfrm>
            <a:off x="10693400" y="2260600"/>
            <a:ext cx="762000" cy="276999"/>
          </a:xfrm>
          <a:prstGeom prst="rect">
            <a:avLst/>
          </a:prstGeom>
          <a:noFill/>
        </p:spPr>
        <p:txBody>
          <a:bodyPr vert="horz" wrap="square" lIns="0" tIns="0" rIns="0" bIns="0" rtlCol="0">
            <a:noAutofit/>
          </a:bodyPr>
          <a:lstStyle/>
          <a:p>
            <a:pPr algn="r"/>
            <a:r>
              <a:rPr lang="en-IN" sz="1200" b="1">
                <a:solidFill>
                  <a:srgbClr val="E8EBF0"/>
                </a:solidFill>
                <a:latin typeface="Aptos" panose="020B0004020202020204" pitchFamily="34" charset="0"/>
              </a:rPr>
              <a:t>0.43 s</a:t>
            </a:r>
          </a:p>
        </p:txBody>
      </p:sp>
      <p:sp>
        <p:nvSpPr>
          <p:cNvPr id="15" name="TextBox 14">
            <a:extLst>
              <a:ext uri="{FF2B5EF4-FFF2-40B4-BE49-F238E27FC236}">
                <a16:creationId xmlns:a16="http://schemas.microsoft.com/office/drawing/2014/main" id="{49A5CE4D-4CFD-0B64-2CF5-B1DF0D6C9491}"/>
              </a:ext>
            </a:extLst>
          </p:cNvPr>
          <p:cNvSpPr txBox="1"/>
          <p:nvPr/>
        </p:nvSpPr>
        <p:spPr>
          <a:xfrm>
            <a:off x="5283200" y="2971800"/>
            <a:ext cx="1524000" cy="276999"/>
          </a:xfrm>
          <a:prstGeom prst="rect">
            <a:avLst/>
          </a:prstGeom>
          <a:noFill/>
        </p:spPr>
        <p:txBody>
          <a:bodyPr vert="horz" wrap="square" lIns="0" tIns="0" rIns="0" bIns="0" rtlCol="0">
            <a:noAutofit/>
          </a:bodyPr>
          <a:lstStyle/>
          <a:p>
            <a:r>
              <a:rPr lang="en-IN" sz="1300">
                <a:solidFill>
                  <a:srgbClr val="9299A6"/>
                </a:solidFill>
                <a:latin typeface="Aptos" panose="020B0004020202020204" pitchFamily="34" charset="0"/>
              </a:rPr>
              <a:t>Understanding</a:t>
            </a:r>
          </a:p>
        </p:txBody>
      </p:sp>
      <p:sp>
        <p:nvSpPr>
          <p:cNvPr id="16" name="Rectangle 15">
            <a:extLst>
              <a:ext uri="{FF2B5EF4-FFF2-40B4-BE49-F238E27FC236}">
                <a16:creationId xmlns:a16="http://schemas.microsoft.com/office/drawing/2014/main" id="{BAA5E26E-E45E-173C-C131-94D2DBD0732A}"/>
              </a:ext>
            </a:extLst>
          </p:cNvPr>
          <p:cNvSpPr/>
          <p:nvPr/>
        </p:nvSpPr>
        <p:spPr>
          <a:xfrm>
            <a:off x="6858000" y="3009900"/>
            <a:ext cx="3683000" cy="1270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2981C9E9-CE10-8B65-273D-7E1877AA81EB}"/>
              </a:ext>
            </a:extLst>
          </p:cNvPr>
          <p:cNvSpPr/>
          <p:nvPr/>
        </p:nvSpPr>
        <p:spPr>
          <a:xfrm>
            <a:off x="6858000" y="3009900"/>
            <a:ext cx="1473200" cy="127000"/>
          </a:xfrm>
          <a:prstGeom prst="rect">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364FE73-EA67-93A9-7954-11981E04524E}"/>
              </a:ext>
            </a:extLst>
          </p:cNvPr>
          <p:cNvSpPr txBox="1"/>
          <p:nvPr/>
        </p:nvSpPr>
        <p:spPr>
          <a:xfrm>
            <a:off x="10693400" y="2933700"/>
            <a:ext cx="762000" cy="276999"/>
          </a:xfrm>
          <a:prstGeom prst="rect">
            <a:avLst/>
          </a:prstGeom>
          <a:noFill/>
        </p:spPr>
        <p:txBody>
          <a:bodyPr vert="horz" wrap="square" lIns="0" tIns="0" rIns="0" bIns="0" rtlCol="0">
            <a:noAutofit/>
          </a:bodyPr>
          <a:lstStyle/>
          <a:p>
            <a:pPr algn="r"/>
            <a:r>
              <a:rPr lang="en-IN" sz="1200" b="1">
                <a:solidFill>
                  <a:srgbClr val="E8EBF0"/>
                </a:solidFill>
                <a:latin typeface="Aptos" panose="020B0004020202020204" pitchFamily="34" charset="0"/>
              </a:rPr>
              <a:t>1.06 s</a:t>
            </a:r>
          </a:p>
        </p:txBody>
      </p:sp>
      <p:sp>
        <p:nvSpPr>
          <p:cNvPr id="19" name="TextBox 18">
            <a:extLst>
              <a:ext uri="{FF2B5EF4-FFF2-40B4-BE49-F238E27FC236}">
                <a16:creationId xmlns:a16="http://schemas.microsoft.com/office/drawing/2014/main" id="{32D9376D-50C5-FD41-AE38-9030110E7F47}"/>
              </a:ext>
            </a:extLst>
          </p:cNvPr>
          <p:cNvSpPr txBox="1"/>
          <p:nvPr/>
        </p:nvSpPr>
        <p:spPr>
          <a:xfrm>
            <a:off x="5283200" y="3644900"/>
            <a:ext cx="1524000" cy="276999"/>
          </a:xfrm>
          <a:prstGeom prst="rect">
            <a:avLst/>
          </a:prstGeom>
          <a:noFill/>
        </p:spPr>
        <p:txBody>
          <a:bodyPr vert="horz" wrap="square" lIns="0" tIns="0" rIns="0" bIns="0" rtlCol="0">
            <a:noAutofit/>
          </a:bodyPr>
          <a:lstStyle/>
          <a:p>
            <a:r>
              <a:rPr lang="en-IN" sz="1300">
                <a:solidFill>
                  <a:srgbClr val="9299A6"/>
                </a:solidFill>
                <a:latin typeface="Aptos" panose="020B0004020202020204" pitchFamily="34" charset="0"/>
              </a:rPr>
              <a:t>Catalog</a:t>
            </a:r>
          </a:p>
        </p:txBody>
      </p:sp>
      <p:sp>
        <p:nvSpPr>
          <p:cNvPr id="20" name="Rectangle 19">
            <a:extLst>
              <a:ext uri="{FF2B5EF4-FFF2-40B4-BE49-F238E27FC236}">
                <a16:creationId xmlns:a16="http://schemas.microsoft.com/office/drawing/2014/main" id="{3EE11262-E46A-7E9E-304A-13983F0F98FB}"/>
              </a:ext>
            </a:extLst>
          </p:cNvPr>
          <p:cNvSpPr/>
          <p:nvPr/>
        </p:nvSpPr>
        <p:spPr>
          <a:xfrm>
            <a:off x="6858000" y="3683000"/>
            <a:ext cx="3683000" cy="1270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0DE1D3BE-ADA1-FB81-8450-41F810D1C65F}"/>
              </a:ext>
            </a:extLst>
          </p:cNvPr>
          <p:cNvSpPr/>
          <p:nvPr/>
        </p:nvSpPr>
        <p:spPr>
          <a:xfrm>
            <a:off x="6858000" y="3683000"/>
            <a:ext cx="1890144" cy="127000"/>
          </a:xfrm>
          <a:prstGeom prst="rect">
            <a:avLst/>
          </a:prstGeom>
          <a:solidFill>
            <a:srgbClr val="64E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BEE2CCBB-B353-9A87-F7AA-689BF748ACAE}"/>
              </a:ext>
            </a:extLst>
          </p:cNvPr>
          <p:cNvSpPr txBox="1"/>
          <p:nvPr/>
        </p:nvSpPr>
        <p:spPr>
          <a:xfrm>
            <a:off x="10693400" y="3606800"/>
            <a:ext cx="762000" cy="276999"/>
          </a:xfrm>
          <a:prstGeom prst="rect">
            <a:avLst/>
          </a:prstGeom>
          <a:noFill/>
        </p:spPr>
        <p:txBody>
          <a:bodyPr vert="horz" wrap="square" lIns="0" tIns="0" rIns="0" bIns="0" rtlCol="0">
            <a:noAutofit/>
          </a:bodyPr>
          <a:lstStyle/>
          <a:p>
            <a:pPr algn="r"/>
            <a:r>
              <a:rPr lang="en-IN" sz="1200" b="1">
                <a:solidFill>
                  <a:srgbClr val="E8EBF0"/>
                </a:solidFill>
                <a:latin typeface="Aptos" panose="020B0004020202020204" pitchFamily="34" charset="0"/>
              </a:rPr>
              <a:t>1.36 s</a:t>
            </a:r>
          </a:p>
        </p:txBody>
      </p:sp>
      <p:sp>
        <p:nvSpPr>
          <p:cNvPr id="23" name="TextBox 22">
            <a:extLst>
              <a:ext uri="{FF2B5EF4-FFF2-40B4-BE49-F238E27FC236}">
                <a16:creationId xmlns:a16="http://schemas.microsoft.com/office/drawing/2014/main" id="{6DA2841A-85EE-D7E0-A37F-F15D4E180672}"/>
              </a:ext>
            </a:extLst>
          </p:cNvPr>
          <p:cNvSpPr txBox="1"/>
          <p:nvPr/>
        </p:nvSpPr>
        <p:spPr>
          <a:xfrm>
            <a:off x="5283200" y="4318000"/>
            <a:ext cx="1524000" cy="276999"/>
          </a:xfrm>
          <a:prstGeom prst="rect">
            <a:avLst/>
          </a:prstGeom>
          <a:noFill/>
        </p:spPr>
        <p:txBody>
          <a:bodyPr vert="horz" wrap="square" lIns="0" tIns="0" rIns="0" bIns="0" rtlCol="0">
            <a:noAutofit/>
          </a:bodyPr>
          <a:lstStyle/>
          <a:p>
            <a:r>
              <a:rPr lang="en-IN" sz="1300">
                <a:solidFill>
                  <a:srgbClr val="9299A6"/>
                </a:solidFill>
                <a:latin typeface="Aptos" panose="020B0004020202020204" pitchFamily="34" charset="0"/>
              </a:rPr>
              <a:t>TTS</a:t>
            </a:r>
          </a:p>
        </p:txBody>
      </p:sp>
      <p:sp>
        <p:nvSpPr>
          <p:cNvPr id="24" name="Rectangle 23">
            <a:extLst>
              <a:ext uri="{FF2B5EF4-FFF2-40B4-BE49-F238E27FC236}">
                <a16:creationId xmlns:a16="http://schemas.microsoft.com/office/drawing/2014/main" id="{EED05B80-7FE4-F75F-004A-BA93475B4EC0}"/>
              </a:ext>
            </a:extLst>
          </p:cNvPr>
          <p:cNvSpPr/>
          <p:nvPr/>
        </p:nvSpPr>
        <p:spPr>
          <a:xfrm>
            <a:off x="6858000" y="4356100"/>
            <a:ext cx="3683000" cy="127000"/>
          </a:xfrm>
          <a:prstGeom prst="rect">
            <a:avLst/>
          </a:prstGeom>
          <a:solidFill>
            <a:srgbClr val="181D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74AB30C6-70E3-73E4-48DD-5FEE0A46FF89}"/>
              </a:ext>
            </a:extLst>
          </p:cNvPr>
          <p:cNvSpPr/>
          <p:nvPr/>
        </p:nvSpPr>
        <p:spPr>
          <a:xfrm>
            <a:off x="6858000" y="4356100"/>
            <a:ext cx="3683000" cy="127000"/>
          </a:xfrm>
          <a:prstGeom prst="rect">
            <a:avLst/>
          </a:prstGeom>
          <a:solidFill>
            <a:srgbClr val="F5A5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7F09357F-3369-E0EC-0A39-E823683569F2}"/>
              </a:ext>
            </a:extLst>
          </p:cNvPr>
          <p:cNvSpPr txBox="1"/>
          <p:nvPr/>
        </p:nvSpPr>
        <p:spPr>
          <a:xfrm>
            <a:off x="10693400" y="4279900"/>
            <a:ext cx="762000" cy="276999"/>
          </a:xfrm>
          <a:prstGeom prst="rect">
            <a:avLst/>
          </a:prstGeom>
          <a:noFill/>
        </p:spPr>
        <p:txBody>
          <a:bodyPr vert="horz" wrap="square" lIns="0" tIns="0" rIns="0" bIns="0" rtlCol="0">
            <a:noAutofit/>
          </a:bodyPr>
          <a:lstStyle/>
          <a:p>
            <a:pPr algn="r"/>
            <a:r>
              <a:rPr lang="en-IN" sz="1200" b="1">
                <a:solidFill>
                  <a:srgbClr val="E8EBF0"/>
                </a:solidFill>
                <a:latin typeface="Aptos" panose="020B0004020202020204" pitchFamily="34" charset="0"/>
              </a:rPr>
              <a:t>2.65 s</a:t>
            </a:r>
          </a:p>
        </p:txBody>
      </p:sp>
      <p:sp>
        <p:nvSpPr>
          <p:cNvPr id="27" name="TextBox 26">
            <a:extLst>
              <a:ext uri="{FF2B5EF4-FFF2-40B4-BE49-F238E27FC236}">
                <a16:creationId xmlns:a16="http://schemas.microsoft.com/office/drawing/2014/main" id="{5578087E-17B0-FFA2-847A-94DAEDCC66BF}"/>
              </a:ext>
            </a:extLst>
          </p:cNvPr>
          <p:cNvSpPr txBox="1"/>
          <p:nvPr/>
        </p:nvSpPr>
        <p:spPr>
          <a:xfrm>
            <a:off x="5283200" y="5080000"/>
            <a:ext cx="3810000" cy="276999"/>
          </a:xfrm>
          <a:prstGeom prst="rect">
            <a:avLst/>
          </a:prstGeom>
          <a:noFill/>
        </p:spPr>
        <p:txBody>
          <a:bodyPr vert="horz" wrap="square" lIns="0" tIns="0" rIns="0" bIns="0" rtlCol="0">
            <a:noAutofit/>
          </a:bodyPr>
          <a:lstStyle/>
          <a:p>
            <a:r>
              <a:rPr lang="en-US" sz="1600" b="1">
                <a:solidFill>
                  <a:srgbClr val="F5A524"/>
                </a:solidFill>
                <a:latin typeface="Aptos" panose="020B0004020202020204" pitchFamily="34" charset="0"/>
              </a:rPr>
              <a:t>TTS is the largest mean stage.</a:t>
            </a:r>
            <a:endParaRPr lang="en-IN" sz="1600" b="1">
              <a:solidFill>
                <a:srgbClr val="F5A524"/>
              </a:solidFill>
              <a:latin typeface="Aptos" panose="020B0004020202020204" pitchFamily="34" charset="0"/>
            </a:endParaRPr>
          </a:p>
        </p:txBody>
      </p:sp>
      <p:sp>
        <p:nvSpPr>
          <p:cNvPr id="28" name="TextBox 27">
            <a:extLst>
              <a:ext uri="{FF2B5EF4-FFF2-40B4-BE49-F238E27FC236}">
                <a16:creationId xmlns:a16="http://schemas.microsoft.com/office/drawing/2014/main" id="{40EB57E3-52C1-416F-8B27-797537596583}"/>
              </a:ext>
            </a:extLst>
          </p:cNvPr>
          <p:cNvSpPr txBox="1"/>
          <p:nvPr/>
        </p:nvSpPr>
        <p:spPr>
          <a:xfrm>
            <a:off x="5283200" y="5435600"/>
            <a:ext cx="5334000" cy="276999"/>
          </a:xfrm>
          <a:prstGeom prst="rect">
            <a:avLst/>
          </a:prstGeom>
          <a:noFill/>
        </p:spPr>
        <p:txBody>
          <a:bodyPr vert="horz" wrap="square" lIns="0" tIns="0" rIns="0" bIns="0" rtlCol="0">
            <a:noAutofit/>
          </a:bodyPr>
          <a:lstStyle/>
          <a:p>
            <a:r>
              <a:rPr lang="en-US" sz="1300">
                <a:solidFill>
                  <a:srgbClr val="9299A6"/>
                </a:solidFill>
                <a:latin typeface="Aptos" panose="020B0004020202020204" pitchFamily="34" charset="0"/>
              </a:rPr>
              <a:t>The first catalog request also carried a 5.00 s cold connection.</a:t>
            </a:r>
            <a:endParaRPr lang="en-IN" sz="1300">
              <a:solidFill>
                <a:srgbClr val="9299A6"/>
              </a:solidFill>
              <a:latin typeface="Aptos" panose="020B0004020202020204" pitchFamily="34" charset="0"/>
            </a:endParaRPr>
          </a:p>
        </p:txBody>
      </p:sp>
      <p:sp>
        <p:nvSpPr>
          <p:cNvPr id="29" name="TextBox 28">
            <a:extLst>
              <a:ext uri="{FF2B5EF4-FFF2-40B4-BE49-F238E27FC236}">
                <a16:creationId xmlns:a16="http://schemas.microsoft.com/office/drawing/2014/main" id="{B869077A-B24D-FE05-9AB0-BC3F0CC9B3B3}"/>
              </a:ext>
            </a:extLst>
          </p:cNvPr>
          <p:cNvSpPr txBox="1"/>
          <p:nvPr/>
        </p:nvSpPr>
        <p:spPr>
          <a:xfrm>
            <a:off x="736600" y="6019800"/>
            <a:ext cx="10223500" cy="276999"/>
          </a:xfrm>
          <a:prstGeom prst="rect">
            <a:avLst/>
          </a:prstGeom>
          <a:noFill/>
        </p:spPr>
        <p:txBody>
          <a:bodyPr vert="horz" wrap="square" lIns="0" tIns="0" rIns="0" bIns="0" rtlCol="0">
            <a:noAutofit/>
          </a:bodyPr>
          <a:lstStyle/>
          <a:p>
            <a:r>
              <a:rPr lang="en-US" sz="1100">
                <a:solidFill>
                  <a:srgbClr val="596170"/>
                </a:solidFill>
                <a:latin typeface="Aptos" panose="020B0004020202020204" pitchFamily="34" charset="0"/>
              </a:rPr>
              <a:t>Boundary: completed upload at the server to complete WAV ready. Browser recording and playback sit outside it.</a:t>
            </a:r>
            <a:endParaRPr lang="en-IN" sz="1100">
              <a:solidFill>
                <a:srgbClr val="596170"/>
              </a:solidFill>
              <a:latin typeface="Aptos" panose="020B0004020202020204" pitchFamily="34" charset="0"/>
            </a:endParaRPr>
          </a:p>
        </p:txBody>
      </p:sp>
    </p:spTree>
    <p:extLst>
      <p:ext uri="{BB962C8B-B14F-4D97-AF65-F5344CB8AC3E}">
        <p14:creationId xmlns:p14="http://schemas.microsoft.com/office/powerpoint/2010/main" val="3219008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0717C8-280E-2EF4-99B3-848714923B4F}"/>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TECHNICAL DECISIONS</a:t>
            </a:r>
          </a:p>
        </p:txBody>
      </p:sp>
      <p:sp>
        <p:nvSpPr>
          <p:cNvPr id="3" name="TextBox 2">
            <a:extLst>
              <a:ext uri="{FF2B5EF4-FFF2-40B4-BE49-F238E27FC236}">
                <a16:creationId xmlns:a16="http://schemas.microsoft.com/office/drawing/2014/main" id="{34E450F2-E9A4-4008-4AF5-F8E920824F1F}"/>
              </a:ext>
            </a:extLst>
          </p:cNvPr>
          <p:cNvSpPr txBox="1"/>
          <p:nvPr/>
        </p:nvSpPr>
        <p:spPr>
          <a:xfrm>
            <a:off x="711200" y="673100"/>
            <a:ext cx="10795000" cy="276999"/>
          </a:xfrm>
          <a:prstGeom prst="rect">
            <a:avLst/>
          </a:prstGeom>
          <a:noFill/>
        </p:spPr>
        <p:txBody>
          <a:bodyPr vert="horz" wrap="square" lIns="0" tIns="0" rIns="0" bIns="0" rtlCol="0">
            <a:noAutofit/>
          </a:bodyPr>
          <a:lstStyle/>
          <a:p>
            <a:r>
              <a:rPr lang="en-US" sz="3100" b="1">
                <a:solidFill>
                  <a:srgbClr val="F7F8FA"/>
                </a:solidFill>
                <a:latin typeface="Aptos Display" panose="020B0004020202020204" pitchFamily="34" charset="0"/>
              </a:rPr>
              <a:t>Four choices I would defend</a:t>
            </a:r>
            <a:endParaRPr lang="en-IN" sz="3100" b="1">
              <a:solidFill>
                <a:srgbClr val="F7F8FA"/>
              </a:solidFill>
              <a:latin typeface="Aptos Display" panose="020B0004020202020204" pitchFamily="34" charset="0"/>
            </a:endParaRPr>
          </a:p>
        </p:txBody>
      </p:sp>
      <p:cxnSp>
        <p:nvCxnSpPr>
          <p:cNvPr id="4" name="Straight Connector 3">
            <a:extLst>
              <a:ext uri="{FF2B5EF4-FFF2-40B4-BE49-F238E27FC236}">
                <a16:creationId xmlns:a16="http://schemas.microsoft.com/office/drawing/2014/main" id="{2DE16230-6805-6CE3-FB57-17FEE1DD18BB}"/>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E0A5C8CE-2790-1E08-8233-BEBA345D6C30}"/>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09</a:t>
            </a:r>
          </a:p>
        </p:txBody>
      </p:sp>
      <p:sp>
        <p:nvSpPr>
          <p:cNvPr id="6" name="TextBox 5">
            <a:extLst>
              <a:ext uri="{FF2B5EF4-FFF2-40B4-BE49-F238E27FC236}">
                <a16:creationId xmlns:a16="http://schemas.microsoft.com/office/drawing/2014/main" id="{62D539B1-0587-DDC2-0D15-DFB62CF46274}"/>
              </a:ext>
            </a:extLst>
          </p:cNvPr>
          <p:cNvSpPr txBox="1"/>
          <p:nvPr/>
        </p:nvSpPr>
        <p:spPr>
          <a:xfrm>
            <a:off x="736600" y="1612900"/>
            <a:ext cx="1333500" cy="276999"/>
          </a:xfrm>
          <a:prstGeom prst="rect">
            <a:avLst/>
          </a:prstGeom>
          <a:noFill/>
        </p:spPr>
        <p:txBody>
          <a:bodyPr vert="horz" wrap="square" lIns="0" tIns="0" rIns="0" bIns="0" rtlCol="0">
            <a:noAutofit/>
          </a:bodyPr>
          <a:lstStyle/>
          <a:p>
            <a:r>
              <a:rPr lang="en-IN" sz="900" b="1">
                <a:solidFill>
                  <a:srgbClr val="596170"/>
                </a:solidFill>
                <a:latin typeface="Aptos" panose="020B0004020202020204" pitchFamily="34" charset="0"/>
              </a:rPr>
              <a:t>AREA</a:t>
            </a:r>
          </a:p>
        </p:txBody>
      </p:sp>
      <p:sp>
        <p:nvSpPr>
          <p:cNvPr id="7" name="TextBox 6">
            <a:extLst>
              <a:ext uri="{FF2B5EF4-FFF2-40B4-BE49-F238E27FC236}">
                <a16:creationId xmlns:a16="http://schemas.microsoft.com/office/drawing/2014/main" id="{7063FCB0-D09D-44E7-3019-8A4F7EC67BA0}"/>
              </a:ext>
            </a:extLst>
          </p:cNvPr>
          <p:cNvSpPr txBox="1"/>
          <p:nvPr/>
        </p:nvSpPr>
        <p:spPr>
          <a:xfrm>
            <a:off x="2247900" y="1612900"/>
            <a:ext cx="2857500" cy="276999"/>
          </a:xfrm>
          <a:prstGeom prst="rect">
            <a:avLst/>
          </a:prstGeom>
          <a:noFill/>
        </p:spPr>
        <p:txBody>
          <a:bodyPr vert="horz" wrap="square" lIns="0" tIns="0" rIns="0" bIns="0" rtlCol="0">
            <a:noAutofit/>
          </a:bodyPr>
          <a:lstStyle/>
          <a:p>
            <a:r>
              <a:rPr lang="en-IN" sz="900" b="1">
                <a:solidFill>
                  <a:srgbClr val="596170"/>
                </a:solidFill>
                <a:latin typeface="Aptos" panose="020B0004020202020204" pitchFamily="34" charset="0"/>
              </a:rPr>
              <a:t>CHOSEN</a:t>
            </a:r>
          </a:p>
        </p:txBody>
      </p:sp>
      <p:sp>
        <p:nvSpPr>
          <p:cNvPr id="8" name="TextBox 7">
            <a:extLst>
              <a:ext uri="{FF2B5EF4-FFF2-40B4-BE49-F238E27FC236}">
                <a16:creationId xmlns:a16="http://schemas.microsoft.com/office/drawing/2014/main" id="{A4AD3655-2604-5184-12BB-5FFD7F6F6FC0}"/>
              </a:ext>
            </a:extLst>
          </p:cNvPr>
          <p:cNvSpPr txBox="1"/>
          <p:nvPr/>
        </p:nvSpPr>
        <p:spPr>
          <a:xfrm>
            <a:off x="5524500" y="1612900"/>
            <a:ext cx="2349500" cy="276999"/>
          </a:xfrm>
          <a:prstGeom prst="rect">
            <a:avLst/>
          </a:prstGeom>
          <a:noFill/>
        </p:spPr>
        <p:txBody>
          <a:bodyPr vert="horz" wrap="square" lIns="0" tIns="0" rIns="0" bIns="0" rtlCol="0">
            <a:noAutofit/>
          </a:bodyPr>
          <a:lstStyle/>
          <a:p>
            <a:r>
              <a:rPr lang="en-IN" sz="900" b="1">
                <a:solidFill>
                  <a:srgbClr val="596170"/>
                </a:solidFill>
                <a:latin typeface="Aptos" panose="020B0004020202020204" pitchFamily="34" charset="0"/>
              </a:rPr>
              <a:t>REJECTED</a:t>
            </a:r>
          </a:p>
        </p:txBody>
      </p:sp>
      <p:sp>
        <p:nvSpPr>
          <p:cNvPr id="9" name="TextBox 8">
            <a:extLst>
              <a:ext uri="{FF2B5EF4-FFF2-40B4-BE49-F238E27FC236}">
                <a16:creationId xmlns:a16="http://schemas.microsoft.com/office/drawing/2014/main" id="{97093F61-956B-17C4-8F54-5499DFBE3256}"/>
              </a:ext>
            </a:extLst>
          </p:cNvPr>
          <p:cNvSpPr txBox="1"/>
          <p:nvPr/>
        </p:nvSpPr>
        <p:spPr>
          <a:xfrm>
            <a:off x="8255000" y="1612900"/>
            <a:ext cx="3086100" cy="276999"/>
          </a:xfrm>
          <a:prstGeom prst="rect">
            <a:avLst/>
          </a:prstGeom>
          <a:noFill/>
        </p:spPr>
        <p:txBody>
          <a:bodyPr vert="horz" wrap="square" lIns="0" tIns="0" rIns="0" bIns="0" rtlCol="0">
            <a:noAutofit/>
          </a:bodyPr>
          <a:lstStyle/>
          <a:p>
            <a:r>
              <a:rPr lang="en-IN" sz="900" b="1">
                <a:solidFill>
                  <a:srgbClr val="596170"/>
                </a:solidFill>
                <a:latin typeface="Aptos" panose="020B0004020202020204" pitchFamily="34" charset="0"/>
              </a:rPr>
              <a:t>WHY</a:t>
            </a:r>
          </a:p>
        </p:txBody>
      </p:sp>
      <p:cxnSp>
        <p:nvCxnSpPr>
          <p:cNvPr id="10" name="Straight Connector 9">
            <a:extLst>
              <a:ext uri="{FF2B5EF4-FFF2-40B4-BE49-F238E27FC236}">
                <a16:creationId xmlns:a16="http://schemas.microsoft.com/office/drawing/2014/main" id="{A250497D-DDEE-D69B-7C40-8CDC0560A5AC}"/>
              </a:ext>
            </a:extLst>
          </p:cNvPr>
          <p:cNvCxnSpPr/>
          <p:nvPr/>
        </p:nvCxnSpPr>
        <p:spPr>
          <a:xfrm>
            <a:off x="736600" y="29210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EB65E654-6038-BC68-726B-8899A58A1E1D}"/>
              </a:ext>
            </a:extLst>
          </p:cNvPr>
          <p:cNvSpPr txBox="1"/>
          <p:nvPr/>
        </p:nvSpPr>
        <p:spPr>
          <a:xfrm>
            <a:off x="736600" y="2082800"/>
            <a:ext cx="1333500" cy="276999"/>
          </a:xfrm>
          <a:prstGeom prst="rect">
            <a:avLst/>
          </a:prstGeom>
          <a:noFill/>
        </p:spPr>
        <p:txBody>
          <a:bodyPr vert="horz" wrap="square" lIns="0" tIns="0" rIns="0" bIns="0" rtlCol="0">
            <a:noAutofit/>
          </a:bodyPr>
          <a:lstStyle/>
          <a:p>
            <a:r>
              <a:rPr lang="en-IN" sz="1500" b="1">
                <a:solidFill>
                  <a:srgbClr val="42B6FF"/>
                </a:solidFill>
                <a:latin typeface="Aptos" panose="020B0004020202020204" pitchFamily="34" charset="0"/>
              </a:rPr>
              <a:t>Search</a:t>
            </a:r>
          </a:p>
        </p:txBody>
      </p:sp>
      <p:sp>
        <p:nvSpPr>
          <p:cNvPr id="12" name="TextBox 11">
            <a:extLst>
              <a:ext uri="{FF2B5EF4-FFF2-40B4-BE49-F238E27FC236}">
                <a16:creationId xmlns:a16="http://schemas.microsoft.com/office/drawing/2014/main" id="{8040E5E8-5777-9DBE-FAEE-7FD3C3D31DC5}"/>
              </a:ext>
            </a:extLst>
          </p:cNvPr>
          <p:cNvSpPr txBox="1"/>
          <p:nvPr/>
        </p:nvSpPr>
        <p:spPr>
          <a:xfrm>
            <a:off x="2247900" y="1955800"/>
            <a:ext cx="2857500" cy="276999"/>
          </a:xfrm>
          <a:prstGeom prst="rect">
            <a:avLst/>
          </a:prstGeom>
          <a:noFill/>
        </p:spPr>
        <p:txBody>
          <a:bodyPr vert="horz" wrap="square" lIns="0" tIns="0" rIns="0" bIns="0" rtlCol="0">
            <a:noAutofit/>
          </a:bodyPr>
          <a:lstStyle/>
          <a:p>
            <a:r>
              <a:rPr lang="en-IN" sz="1500" b="1">
                <a:solidFill>
                  <a:srgbClr val="F7F8FA"/>
                </a:solidFill>
                <a:latin typeface="Aptos" panose="020B0004020202020204" pitchFamily="34" charset="0"/>
              </a:rPr>
              <a:t>Typed tools + app SQL</a:t>
            </a:r>
          </a:p>
        </p:txBody>
      </p:sp>
      <p:sp>
        <p:nvSpPr>
          <p:cNvPr id="13" name="TextBox 12">
            <a:extLst>
              <a:ext uri="{FF2B5EF4-FFF2-40B4-BE49-F238E27FC236}">
                <a16:creationId xmlns:a16="http://schemas.microsoft.com/office/drawing/2014/main" id="{0DEA086B-EDCB-9AF0-F14C-C40DF821C520}"/>
              </a:ext>
            </a:extLst>
          </p:cNvPr>
          <p:cNvSpPr txBox="1"/>
          <p:nvPr/>
        </p:nvSpPr>
        <p:spPr>
          <a:xfrm>
            <a:off x="5524500" y="1955800"/>
            <a:ext cx="2349500" cy="276999"/>
          </a:xfrm>
          <a:prstGeom prst="rect">
            <a:avLst/>
          </a:prstGeom>
          <a:noFill/>
        </p:spPr>
        <p:txBody>
          <a:bodyPr vert="horz" wrap="square" lIns="0" tIns="0" rIns="0" bIns="0" rtlCol="0">
            <a:noAutofit/>
          </a:bodyPr>
          <a:lstStyle/>
          <a:p>
            <a:r>
              <a:rPr lang="en-IN" sz="1400">
                <a:solidFill>
                  <a:srgbClr val="9299A6"/>
                </a:solidFill>
                <a:latin typeface="Aptos" panose="020B0004020202020204" pitchFamily="34" charset="0"/>
              </a:rPr>
              <a:t>Model-written SQL</a:t>
            </a:r>
          </a:p>
        </p:txBody>
      </p:sp>
      <p:sp>
        <p:nvSpPr>
          <p:cNvPr id="14" name="TextBox 13">
            <a:extLst>
              <a:ext uri="{FF2B5EF4-FFF2-40B4-BE49-F238E27FC236}">
                <a16:creationId xmlns:a16="http://schemas.microsoft.com/office/drawing/2014/main" id="{5DCB393A-9086-440A-5B98-9C72B5DCB138}"/>
              </a:ext>
            </a:extLst>
          </p:cNvPr>
          <p:cNvSpPr txBox="1"/>
          <p:nvPr/>
        </p:nvSpPr>
        <p:spPr>
          <a:xfrm>
            <a:off x="8255000" y="1955800"/>
            <a:ext cx="30861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Hard filters stay visible and testable</a:t>
            </a:r>
            <a:endParaRPr lang="en-IN" sz="1400">
              <a:solidFill>
                <a:srgbClr val="E8EBF0"/>
              </a:solidFill>
              <a:latin typeface="Aptos" panose="020B0004020202020204" pitchFamily="34" charset="0"/>
            </a:endParaRPr>
          </a:p>
        </p:txBody>
      </p:sp>
      <p:cxnSp>
        <p:nvCxnSpPr>
          <p:cNvPr id="15" name="Straight Connector 14">
            <a:extLst>
              <a:ext uri="{FF2B5EF4-FFF2-40B4-BE49-F238E27FC236}">
                <a16:creationId xmlns:a16="http://schemas.microsoft.com/office/drawing/2014/main" id="{85715345-1030-2AFF-85D8-1A3B1BE86B10}"/>
              </a:ext>
            </a:extLst>
          </p:cNvPr>
          <p:cNvCxnSpPr/>
          <p:nvPr/>
        </p:nvCxnSpPr>
        <p:spPr>
          <a:xfrm>
            <a:off x="736600" y="39751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7AD02F4-76F8-7DDF-31D4-11EAE25CB23E}"/>
              </a:ext>
            </a:extLst>
          </p:cNvPr>
          <p:cNvSpPr txBox="1"/>
          <p:nvPr/>
        </p:nvSpPr>
        <p:spPr>
          <a:xfrm>
            <a:off x="736600" y="3136900"/>
            <a:ext cx="1333500" cy="276999"/>
          </a:xfrm>
          <a:prstGeom prst="rect">
            <a:avLst/>
          </a:prstGeom>
          <a:noFill/>
        </p:spPr>
        <p:txBody>
          <a:bodyPr vert="horz" wrap="square" lIns="0" tIns="0" rIns="0" bIns="0" rtlCol="0">
            <a:noAutofit/>
          </a:bodyPr>
          <a:lstStyle/>
          <a:p>
            <a:r>
              <a:rPr lang="en-IN" sz="1500" b="1">
                <a:solidFill>
                  <a:srgbClr val="42B6FF"/>
                </a:solidFill>
                <a:latin typeface="Aptos" panose="020B0004020202020204" pitchFamily="34" charset="0"/>
              </a:rPr>
              <a:t>Agent</a:t>
            </a:r>
          </a:p>
        </p:txBody>
      </p:sp>
      <p:sp>
        <p:nvSpPr>
          <p:cNvPr id="17" name="TextBox 16">
            <a:extLst>
              <a:ext uri="{FF2B5EF4-FFF2-40B4-BE49-F238E27FC236}">
                <a16:creationId xmlns:a16="http://schemas.microsoft.com/office/drawing/2014/main" id="{D3FE2F24-2E97-BCA8-BD6F-90BFDC9B4CEC}"/>
              </a:ext>
            </a:extLst>
          </p:cNvPr>
          <p:cNvSpPr txBox="1"/>
          <p:nvPr/>
        </p:nvSpPr>
        <p:spPr>
          <a:xfrm>
            <a:off x="2247900" y="3009900"/>
            <a:ext cx="2857500" cy="276999"/>
          </a:xfrm>
          <a:prstGeom prst="rect">
            <a:avLst/>
          </a:prstGeom>
          <a:noFill/>
        </p:spPr>
        <p:txBody>
          <a:bodyPr vert="horz" wrap="square" lIns="0" tIns="0" rIns="0" bIns="0" rtlCol="0">
            <a:noAutofit/>
          </a:bodyPr>
          <a:lstStyle/>
          <a:p>
            <a:r>
              <a:rPr lang="en-IN" sz="1500" b="1">
                <a:solidFill>
                  <a:srgbClr val="F7F8FA"/>
                </a:solidFill>
                <a:latin typeface="Aptos" panose="020B0004020202020204" pitchFamily="34" charset="0"/>
              </a:rPr>
              <a:t>One agent, three tools</a:t>
            </a:r>
          </a:p>
        </p:txBody>
      </p:sp>
      <p:sp>
        <p:nvSpPr>
          <p:cNvPr id="18" name="TextBox 17">
            <a:extLst>
              <a:ext uri="{FF2B5EF4-FFF2-40B4-BE49-F238E27FC236}">
                <a16:creationId xmlns:a16="http://schemas.microsoft.com/office/drawing/2014/main" id="{CB3F476E-2968-44E6-79BC-24DBB3F9D116}"/>
              </a:ext>
            </a:extLst>
          </p:cNvPr>
          <p:cNvSpPr txBox="1"/>
          <p:nvPr/>
        </p:nvSpPr>
        <p:spPr>
          <a:xfrm>
            <a:off x="5524500" y="3009900"/>
            <a:ext cx="2349500" cy="276999"/>
          </a:xfrm>
          <a:prstGeom prst="rect">
            <a:avLst/>
          </a:prstGeom>
          <a:noFill/>
        </p:spPr>
        <p:txBody>
          <a:bodyPr vert="horz" wrap="square" lIns="0" tIns="0" rIns="0" bIns="0" rtlCol="0">
            <a:noAutofit/>
          </a:bodyPr>
          <a:lstStyle/>
          <a:p>
            <a:r>
              <a:rPr lang="en-IN" sz="1400">
                <a:solidFill>
                  <a:srgbClr val="9299A6"/>
                </a:solidFill>
                <a:latin typeface="Aptos" panose="020B0004020202020204" pitchFamily="34" charset="0"/>
              </a:rPr>
              <a:t>Planner and critic chain</a:t>
            </a:r>
          </a:p>
        </p:txBody>
      </p:sp>
      <p:sp>
        <p:nvSpPr>
          <p:cNvPr id="19" name="TextBox 18">
            <a:extLst>
              <a:ext uri="{FF2B5EF4-FFF2-40B4-BE49-F238E27FC236}">
                <a16:creationId xmlns:a16="http://schemas.microsoft.com/office/drawing/2014/main" id="{AF9C04C8-04EF-266C-4EAD-5ED24FD12DFB}"/>
              </a:ext>
            </a:extLst>
          </p:cNvPr>
          <p:cNvSpPr txBox="1"/>
          <p:nvPr/>
        </p:nvSpPr>
        <p:spPr>
          <a:xfrm>
            <a:off x="8255000" y="3009900"/>
            <a:ext cx="30861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Fewer calls and no routing disagreement</a:t>
            </a:r>
            <a:endParaRPr lang="en-IN" sz="1400">
              <a:solidFill>
                <a:srgbClr val="E8EBF0"/>
              </a:solidFill>
              <a:latin typeface="Aptos" panose="020B0004020202020204" pitchFamily="34" charset="0"/>
            </a:endParaRPr>
          </a:p>
        </p:txBody>
      </p:sp>
      <p:cxnSp>
        <p:nvCxnSpPr>
          <p:cNvPr id="20" name="Straight Connector 19">
            <a:extLst>
              <a:ext uri="{FF2B5EF4-FFF2-40B4-BE49-F238E27FC236}">
                <a16:creationId xmlns:a16="http://schemas.microsoft.com/office/drawing/2014/main" id="{CE447101-AB77-81C1-7DA4-B3D5D6354704}"/>
              </a:ext>
            </a:extLst>
          </p:cNvPr>
          <p:cNvCxnSpPr/>
          <p:nvPr/>
        </p:nvCxnSpPr>
        <p:spPr>
          <a:xfrm>
            <a:off x="736600" y="50292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C9C1C117-E1EB-9DB6-BC7F-76230FF911CA}"/>
              </a:ext>
            </a:extLst>
          </p:cNvPr>
          <p:cNvSpPr txBox="1"/>
          <p:nvPr/>
        </p:nvSpPr>
        <p:spPr>
          <a:xfrm>
            <a:off x="736600" y="4191000"/>
            <a:ext cx="1333500" cy="276999"/>
          </a:xfrm>
          <a:prstGeom prst="rect">
            <a:avLst/>
          </a:prstGeom>
          <a:noFill/>
        </p:spPr>
        <p:txBody>
          <a:bodyPr vert="horz" wrap="square" lIns="0" tIns="0" rIns="0" bIns="0" rtlCol="0">
            <a:noAutofit/>
          </a:bodyPr>
          <a:lstStyle/>
          <a:p>
            <a:r>
              <a:rPr lang="en-IN" sz="1500" b="1">
                <a:solidFill>
                  <a:srgbClr val="42B6FF"/>
                </a:solidFill>
                <a:latin typeface="Aptos" panose="020B0004020202020204" pitchFamily="34" charset="0"/>
              </a:rPr>
              <a:t>Voice</a:t>
            </a:r>
          </a:p>
        </p:txBody>
      </p:sp>
      <p:sp>
        <p:nvSpPr>
          <p:cNvPr id="22" name="TextBox 21">
            <a:extLst>
              <a:ext uri="{FF2B5EF4-FFF2-40B4-BE49-F238E27FC236}">
                <a16:creationId xmlns:a16="http://schemas.microsoft.com/office/drawing/2014/main" id="{5602D081-09C6-BB12-525A-98B2C84E1F7C}"/>
              </a:ext>
            </a:extLst>
          </p:cNvPr>
          <p:cNvSpPr txBox="1"/>
          <p:nvPr/>
        </p:nvSpPr>
        <p:spPr>
          <a:xfrm>
            <a:off x="2247900" y="4064000"/>
            <a:ext cx="2857500" cy="276999"/>
          </a:xfrm>
          <a:prstGeom prst="rect">
            <a:avLst/>
          </a:prstGeom>
          <a:noFill/>
        </p:spPr>
        <p:txBody>
          <a:bodyPr vert="horz" wrap="square" lIns="0" tIns="0" rIns="0" bIns="0" rtlCol="0">
            <a:noAutofit/>
          </a:bodyPr>
          <a:lstStyle/>
          <a:p>
            <a:r>
              <a:rPr lang="en-IN" sz="1500" b="1">
                <a:solidFill>
                  <a:srgbClr val="F7F8FA"/>
                </a:solidFill>
                <a:latin typeface="Aptos" panose="020B0004020202020204" pitchFamily="34" charset="0"/>
              </a:rPr>
              <a:t>STT, text agent, TTS</a:t>
            </a:r>
          </a:p>
        </p:txBody>
      </p:sp>
      <p:sp>
        <p:nvSpPr>
          <p:cNvPr id="23" name="TextBox 22">
            <a:extLst>
              <a:ext uri="{FF2B5EF4-FFF2-40B4-BE49-F238E27FC236}">
                <a16:creationId xmlns:a16="http://schemas.microsoft.com/office/drawing/2014/main" id="{8612E174-87E0-9851-154E-F96AA890845B}"/>
              </a:ext>
            </a:extLst>
          </p:cNvPr>
          <p:cNvSpPr txBox="1"/>
          <p:nvPr/>
        </p:nvSpPr>
        <p:spPr>
          <a:xfrm>
            <a:off x="5524500" y="4064000"/>
            <a:ext cx="2349500" cy="276999"/>
          </a:xfrm>
          <a:prstGeom prst="rect">
            <a:avLst/>
          </a:prstGeom>
          <a:noFill/>
        </p:spPr>
        <p:txBody>
          <a:bodyPr vert="horz" wrap="square" lIns="0" tIns="0" rIns="0" bIns="0" rtlCol="0">
            <a:noAutofit/>
          </a:bodyPr>
          <a:lstStyle/>
          <a:p>
            <a:r>
              <a:rPr lang="en-IN" sz="1400">
                <a:solidFill>
                  <a:srgbClr val="9299A6"/>
                </a:solidFill>
                <a:latin typeface="Aptos" panose="020B0004020202020204" pitchFamily="34" charset="0"/>
              </a:rPr>
              <a:t>Speech-to-speech</a:t>
            </a:r>
          </a:p>
        </p:txBody>
      </p:sp>
      <p:sp>
        <p:nvSpPr>
          <p:cNvPr id="24" name="TextBox 23">
            <a:extLst>
              <a:ext uri="{FF2B5EF4-FFF2-40B4-BE49-F238E27FC236}">
                <a16:creationId xmlns:a16="http://schemas.microsoft.com/office/drawing/2014/main" id="{F0250A68-F3FB-C428-60D6-20E6809D2D60}"/>
              </a:ext>
            </a:extLst>
          </p:cNvPr>
          <p:cNvSpPr txBox="1"/>
          <p:nvPr/>
        </p:nvSpPr>
        <p:spPr>
          <a:xfrm>
            <a:off x="8255000" y="4064000"/>
            <a:ext cx="30861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Transcript, slots and timings stay inspectable</a:t>
            </a:r>
            <a:endParaRPr lang="en-IN" sz="1400">
              <a:solidFill>
                <a:srgbClr val="E8EBF0"/>
              </a:solidFill>
              <a:latin typeface="Aptos" panose="020B0004020202020204" pitchFamily="34" charset="0"/>
            </a:endParaRPr>
          </a:p>
        </p:txBody>
      </p:sp>
      <p:cxnSp>
        <p:nvCxnSpPr>
          <p:cNvPr id="25" name="Straight Connector 24">
            <a:extLst>
              <a:ext uri="{FF2B5EF4-FFF2-40B4-BE49-F238E27FC236}">
                <a16:creationId xmlns:a16="http://schemas.microsoft.com/office/drawing/2014/main" id="{E8041B85-B668-ADEB-27E0-0D6F6C18ADDE}"/>
              </a:ext>
            </a:extLst>
          </p:cNvPr>
          <p:cNvCxnSpPr/>
          <p:nvPr/>
        </p:nvCxnSpPr>
        <p:spPr>
          <a:xfrm>
            <a:off x="736600" y="60833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8E94F061-D43C-09FF-A390-75997C800291}"/>
              </a:ext>
            </a:extLst>
          </p:cNvPr>
          <p:cNvSpPr txBox="1"/>
          <p:nvPr/>
        </p:nvSpPr>
        <p:spPr>
          <a:xfrm>
            <a:off x="736600" y="5245100"/>
            <a:ext cx="1333500" cy="276999"/>
          </a:xfrm>
          <a:prstGeom prst="rect">
            <a:avLst/>
          </a:prstGeom>
          <a:noFill/>
        </p:spPr>
        <p:txBody>
          <a:bodyPr vert="horz" wrap="square" lIns="0" tIns="0" rIns="0" bIns="0" rtlCol="0">
            <a:noAutofit/>
          </a:bodyPr>
          <a:lstStyle/>
          <a:p>
            <a:r>
              <a:rPr lang="en-IN" sz="1500" b="1">
                <a:solidFill>
                  <a:srgbClr val="42B6FF"/>
                </a:solidFill>
                <a:latin typeface="Aptos" panose="020B0004020202020204" pitchFamily="34" charset="0"/>
              </a:rPr>
              <a:t>Database</a:t>
            </a:r>
          </a:p>
        </p:txBody>
      </p:sp>
      <p:sp>
        <p:nvSpPr>
          <p:cNvPr id="27" name="TextBox 26">
            <a:extLst>
              <a:ext uri="{FF2B5EF4-FFF2-40B4-BE49-F238E27FC236}">
                <a16:creationId xmlns:a16="http://schemas.microsoft.com/office/drawing/2014/main" id="{46638438-2BAC-C12C-E86B-D14AC76539A3}"/>
              </a:ext>
            </a:extLst>
          </p:cNvPr>
          <p:cNvSpPr txBox="1"/>
          <p:nvPr/>
        </p:nvSpPr>
        <p:spPr>
          <a:xfrm>
            <a:off x="2247900" y="5118100"/>
            <a:ext cx="2857500" cy="276999"/>
          </a:xfrm>
          <a:prstGeom prst="rect">
            <a:avLst/>
          </a:prstGeom>
          <a:noFill/>
        </p:spPr>
        <p:txBody>
          <a:bodyPr vert="horz" wrap="square" lIns="0" tIns="0" rIns="0" bIns="0" rtlCol="0">
            <a:noAutofit/>
          </a:bodyPr>
          <a:lstStyle/>
          <a:p>
            <a:r>
              <a:rPr lang="en-IN" sz="1500" b="1">
                <a:solidFill>
                  <a:srgbClr val="F7F8FA"/>
                </a:solidFill>
                <a:latin typeface="Aptos" panose="020B0004020202020204" pitchFamily="34" charset="0"/>
              </a:rPr>
              <a:t>Scoped read-only connection</a:t>
            </a:r>
          </a:p>
        </p:txBody>
      </p:sp>
      <p:sp>
        <p:nvSpPr>
          <p:cNvPr id="28" name="TextBox 27">
            <a:extLst>
              <a:ext uri="{FF2B5EF4-FFF2-40B4-BE49-F238E27FC236}">
                <a16:creationId xmlns:a16="http://schemas.microsoft.com/office/drawing/2014/main" id="{41D1B064-E0DB-0C1F-C712-F87DB8998DB1}"/>
              </a:ext>
            </a:extLst>
          </p:cNvPr>
          <p:cNvSpPr txBox="1"/>
          <p:nvPr/>
        </p:nvSpPr>
        <p:spPr>
          <a:xfrm>
            <a:off x="5524500" y="5118100"/>
            <a:ext cx="2349500" cy="276999"/>
          </a:xfrm>
          <a:prstGeom prst="rect">
            <a:avLst/>
          </a:prstGeom>
          <a:noFill/>
        </p:spPr>
        <p:txBody>
          <a:bodyPr vert="horz" wrap="square" lIns="0" tIns="0" rIns="0" bIns="0" rtlCol="0">
            <a:noAutofit/>
          </a:bodyPr>
          <a:lstStyle/>
          <a:p>
            <a:r>
              <a:rPr lang="en-IN" sz="1400">
                <a:solidFill>
                  <a:srgbClr val="9299A6"/>
                </a:solidFill>
                <a:latin typeface="Aptos" panose="020B0004020202020204" pitchFamily="34" charset="0"/>
              </a:rPr>
              <a:t>Process-global connection</a:t>
            </a:r>
          </a:p>
        </p:txBody>
      </p:sp>
      <p:sp>
        <p:nvSpPr>
          <p:cNvPr id="29" name="TextBox 28">
            <a:extLst>
              <a:ext uri="{FF2B5EF4-FFF2-40B4-BE49-F238E27FC236}">
                <a16:creationId xmlns:a16="http://schemas.microsoft.com/office/drawing/2014/main" id="{2211F0DE-7950-D6AD-0CFE-9E68F7A82AF0}"/>
              </a:ext>
            </a:extLst>
          </p:cNvPr>
          <p:cNvSpPr txBox="1"/>
          <p:nvPr/>
        </p:nvSpPr>
        <p:spPr>
          <a:xfrm>
            <a:off x="8255000" y="5118100"/>
            <a:ext cx="30861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Safe ownership across Streamlit sessions</a:t>
            </a:r>
            <a:endParaRPr lang="en-IN" sz="1400">
              <a:solidFill>
                <a:srgbClr val="E8EBF0"/>
              </a:solidFill>
              <a:latin typeface="Aptos" panose="020B0004020202020204" pitchFamily="34" charset="0"/>
            </a:endParaRPr>
          </a:p>
        </p:txBody>
      </p:sp>
    </p:spTree>
    <p:extLst>
      <p:ext uri="{BB962C8B-B14F-4D97-AF65-F5344CB8AC3E}">
        <p14:creationId xmlns:p14="http://schemas.microsoft.com/office/powerpoint/2010/main" val="2551816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5B7C18-FB71-7948-DF92-394C82C31AC2}"/>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SCALE</a:t>
            </a:r>
          </a:p>
        </p:txBody>
      </p:sp>
      <p:sp>
        <p:nvSpPr>
          <p:cNvPr id="3" name="TextBox 2">
            <a:extLst>
              <a:ext uri="{FF2B5EF4-FFF2-40B4-BE49-F238E27FC236}">
                <a16:creationId xmlns:a16="http://schemas.microsoft.com/office/drawing/2014/main" id="{F1FCAF08-997B-9EC3-DEE6-AE00D4C75027}"/>
              </a:ext>
            </a:extLst>
          </p:cNvPr>
          <p:cNvSpPr txBox="1"/>
          <p:nvPr/>
        </p:nvSpPr>
        <p:spPr>
          <a:xfrm>
            <a:off x="711200" y="673100"/>
            <a:ext cx="10795000" cy="276999"/>
          </a:xfrm>
          <a:prstGeom prst="rect">
            <a:avLst/>
          </a:prstGeom>
          <a:noFill/>
        </p:spPr>
        <p:txBody>
          <a:bodyPr vert="horz" wrap="square" lIns="0" tIns="0" rIns="0" bIns="0" rtlCol="0">
            <a:noAutofit/>
          </a:bodyPr>
          <a:lstStyle/>
          <a:p>
            <a:r>
              <a:rPr lang="en-US" sz="3100" b="1">
                <a:solidFill>
                  <a:srgbClr val="F7F8FA"/>
                </a:solidFill>
                <a:latin typeface="Aptos Display" panose="020B0004020202020204" pitchFamily="34" charset="0"/>
              </a:rPr>
              <a:t>What breaks first at 100,000 conversations a month?</a:t>
            </a:r>
            <a:endParaRPr lang="en-IN" sz="3100" b="1">
              <a:solidFill>
                <a:srgbClr val="F7F8FA"/>
              </a:solidFill>
              <a:latin typeface="Aptos Display" panose="020B0004020202020204" pitchFamily="34" charset="0"/>
            </a:endParaRPr>
          </a:p>
        </p:txBody>
      </p:sp>
      <p:cxnSp>
        <p:nvCxnSpPr>
          <p:cNvPr id="4" name="Straight Connector 3">
            <a:extLst>
              <a:ext uri="{FF2B5EF4-FFF2-40B4-BE49-F238E27FC236}">
                <a16:creationId xmlns:a16="http://schemas.microsoft.com/office/drawing/2014/main" id="{A70BB94A-B7C4-2A60-5C5A-4A76C5A4106F}"/>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18359CE-7D35-4F96-E887-974CE97EBF9C}"/>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10</a:t>
            </a:r>
          </a:p>
        </p:txBody>
      </p:sp>
      <p:sp>
        <p:nvSpPr>
          <p:cNvPr id="6" name="TextBox 5">
            <a:extLst>
              <a:ext uri="{FF2B5EF4-FFF2-40B4-BE49-F238E27FC236}">
                <a16:creationId xmlns:a16="http://schemas.microsoft.com/office/drawing/2014/main" id="{13F57C92-3CD9-D4FD-7717-76F5351C6D64}"/>
              </a:ext>
            </a:extLst>
          </p:cNvPr>
          <p:cNvSpPr txBox="1"/>
          <p:nvPr/>
        </p:nvSpPr>
        <p:spPr>
          <a:xfrm>
            <a:off x="736600" y="1562100"/>
            <a:ext cx="6350000" cy="276999"/>
          </a:xfrm>
          <a:prstGeom prst="rect">
            <a:avLst/>
          </a:prstGeom>
          <a:noFill/>
        </p:spPr>
        <p:txBody>
          <a:bodyPr vert="horz" wrap="square" lIns="0" tIns="0" rIns="0" bIns="0" rtlCol="0">
            <a:noAutofit/>
          </a:bodyPr>
          <a:lstStyle/>
          <a:p>
            <a:r>
              <a:rPr lang="en-IN" sz="3400" b="1">
                <a:solidFill>
                  <a:srgbClr val="42B6FF"/>
                </a:solidFill>
                <a:latin typeface="Aptos Display" panose="020B0004020202020204" pitchFamily="34" charset="0"/>
              </a:rPr>
              <a:t>Provider capacity.</a:t>
            </a:r>
          </a:p>
        </p:txBody>
      </p:sp>
      <p:sp>
        <p:nvSpPr>
          <p:cNvPr id="7" name="TextBox 6">
            <a:extLst>
              <a:ext uri="{FF2B5EF4-FFF2-40B4-BE49-F238E27FC236}">
                <a16:creationId xmlns:a16="http://schemas.microsoft.com/office/drawing/2014/main" id="{3DBD6013-B566-54A6-B010-4BA15B184DE1}"/>
              </a:ext>
            </a:extLst>
          </p:cNvPr>
          <p:cNvSpPr txBox="1"/>
          <p:nvPr/>
        </p:nvSpPr>
        <p:spPr>
          <a:xfrm>
            <a:off x="736600" y="2209800"/>
            <a:ext cx="9525000" cy="276999"/>
          </a:xfrm>
          <a:prstGeom prst="rect">
            <a:avLst/>
          </a:prstGeom>
          <a:noFill/>
        </p:spPr>
        <p:txBody>
          <a:bodyPr vert="horz" wrap="square" lIns="0" tIns="0" rIns="0" bIns="0" rtlCol="0">
            <a:noAutofit/>
          </a:bodyPr>
          <a:lstStyle/>
          <a:p>
            <a:r>
              <a:rPr lang="en-US" sz="1600">
                <a:solidFill>
                  <a:srgbClr val="9299A6"/>
                </a:solidFill>
                <a:latin typeface="Aptos" panose="020B0004020202020204" pitchFamily="34" charset="0"/>
              </a:rPr>
              <a:t>Free-tier quotas and long-tail model latency fail before the 1,000-row catalog.</a:t>
            </a:r>
            <a:endParaRPr lang="en-IN" sz="1600">
              <a:solidFill>
                <a:srgbClr val="9299A6"/>
              </a:solidFill>
              <a:latin typeface="Aptos" panose="020B0004020202020204" pitchFamily="34" charset="0"/>
            </a:endParaRPr>
          </a:p>
        </p:txBody>
      </p:sp>
      <p:sp>
        <p:nvSpPr>
          <p:cNvPr id="8" name="Oval 7">
            <a:extLst>
              <a:ext uri="{FF2B5EF4-FFF2-40B4-BE49-F238E27FC236}">
                <a16:creationId xmlns:a16="http://schemas.microsoft.com/office/drawing/2014/main" id="{12C5B3D3-78D4-15B6-C310-D91017BA3833}"/>
              </a:ext>
            </a:extLst>
          </p:cNvPr>
          <p:cNvSpPr/>
          <p:nvPr/>
        </p:nvSpPr>
        <p:spPr>
          <a:xfrm>
            <a:off x="736600" y="2933700"/>
            <a:ext cx="355600" cy="355600"/>
          </a:xfrm>
          <a:prstGeom prst="ellipse">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F1DF5C13-D4DE-5499-BEC4-18DFBE3B6E62}"/>
              </a:ext>
            </a:extLst>
          </p:cNvPr>
          <p:cNvSpPr txBox="1"/>
          <p:nvPr/>
        </p:nvSpPr>
        <p:spPr>
          <a:xfrm>
            <a:off x="736600" y="2984500"/>
            <a:ext cx="355600" cy="276999"/>
          </a:xfrm>
          <a:prstGeom prst="rect">
            <a:avLst/>
          </a:prstGeom>
          <a:noFill/>
        </p:spPr>
        <p:txBody>
          <a:bodyPr vert="horz" wrap="square" lIns="0" tIns="0" rIns="0" bIns="0" rtlCol="0">
            <a:noAutofit/>
          </a:bodyPr>
          <a:lstStyle/>
          <a:p>
            <a:pPr algn="ctr"/>
            <a:r>
              <a:rPr lang="en-IN" sz="1400" b="1">
                <a:solidFill>
                  <a:srgbClr val="F7F8FA"/>
                </a:solidFill>
                <a:latin typeface="Aptos" panose="020B0004020202020204" pitchFamily="34" charset="0"/>
              </a:rPr>
              <a:t>1</a:t>
            </a:r>
          </a:p>
        </p:txBody>
      </p:sp>
      <p:sp>
        <p:nvSpPr>
          <p:cNvPr id="10" name="TextBox 9">
            <a:extLst>
              <a:ext uri="{FF2B5EF4-FFF2-40B4-BE49-F238E27FC236}">
                <a16:creationId xmlns:a16="http://schemas.microsoft.com/office/drawing/2014/main" id="{22E4B825-A563-A8B9-BEB1-427BC40C04EC}"/>
              </a:ext>
            </a:extLst>
          </p:cNvPr>
          <p:cNvSpPr txBox="1"/>
          <p:nvPr/>
        </p:nvSpPr>
        <p:spPr>
          <a:xfrm>
            <a:off x="1333500" y="2921000"/>
            <a:ext cx="8890000" cy="276999"/>
          </a:xfrm>
          <a:prstGeom prst="rect">
            <a:avLst/>
          </a:prstGeom>
          <a:noFill/>
        </p:spPr>
        <p:txBody>
          <a:bodyPr vert="horz" wrap="square" lIns="0" tIns="0" rIns="0" bIns="0" rtlCol="0">
            <a:noAutofit/>
          </a:bodyPr>
          <a:lstStyle/>
          <a:p>
            <a:r>
              <a:rPr lang="en-US" b="1">
                <a:solidFill>
                  <a:srgbClr val="F7F8FA"/>
                </a:solidFill>
                <a:latin typeface="Aptos" panose="020B0004020202020204" pitchFamily="34" charset="0"/>
              </a:rPr>
              <a:t>Buy defined capacity and add circuit breakers</a:t>
            </a:r>
            <a:endParaRPr lang="en-IN" b="1">
              <a:solidFill>
                <a:srgbClr val="F7F8FA"/>
              </a:solidFill>
              <a:latin typeface="Aptos" panose="020B0004020202020204" pitchFamily="34" charset="0"/>
            </a:endParaRPr>
          </a:p>
        </p:txBody>
      </p:sp>
      <p:cxnSp>
        <p:nvCxnSpPr>
          <p:cNvPr id="11" name="Straight Connector 10">
            <a:extLst>
              <a:ext uri="{FF2B5EF4-FFF2-40B4-BE49-F238E27FC236}">
                <a16:creationId xmlns:a16="http://schemas.microsoft.com/office/drawing/2014/main" id="{5BD248CC-976E-1012-0A03-16B82D42BE62}"/>
              </a:ext>
            </a:extLst>
          </p:cNvPr>
          <p:cNvCxnSpPr/>
          <p:nvPr/>
        </p:nvCxnSpPr>
        <p:spPr>
          <a:xfrm>
            <a:off x="1333500" y="3403600"/>
            <a:ext cx="101092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526D9061-AC87-03A5-E2BD-DB5A78EF2870}"/>
              </a:ext>
            </a:extLst>
          </p:cNvPr>
          <p:cNvSpPr/>
          <p:nvPr/>
        </p:nvSpPr>
        <p:spPr>
          <a:xfrm>
            <a:off x="736600" y="3619500"/>
            <a:ext cx="355600" cy="355600"/>
          </a:xfrm>
          <a:prstGeom prst="ellipse">
            <a:avLst/>
          </a:prstGeom>
          <a:solidFill>
            <a:srgbClr val="7C5C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7ED43EDE-6E97-141A-5820-8EED7D781CA7}"/>
              </a:ext>
            </a:extLst>
          </p:cNvPr>
          <p:cNvSpPr txBox="1"/>
          <p:nvPr/>
        </p:nvSpPr>
        <p:spPr>
          <a:xfrm>
            <a:off x="736600" y="3670300"/>
            <a:ext cx="355600" cy="276999"/>
          </a:xfrm>
          <a:prstGeom prst="rect">
            <a:avLst/>
          </a:prstGeom>
          <a:noFill/>
        </p:spPr>
        <p:txBody>
          <a:bodyPr vert="horz" wrap="square" lIns="0" tIns="0" rIns="0" bIns="0" rtlCol="0">
            <a:noAutofit/>
          </a:bodyPr>
          <a:lstStyle/>
          <a:p>
            <a:pPr algn="ctr"/>
            <a:r>
              <a:rPr lang="en-IN" sz="1400" b="1">
                <a:solidFill>
                  <a:srgbClr val="F7F8FA"/>
                </a:solidFill>
                <a:latin typeface="Aptos" panose="020B0004020202020204" pitchFamily="34" charset="0"/>
              </a:rPr>
              <a:t>2</a:t>
            </a:r>
          </a:p>
        </p:txBody>
      </p:sp>
      <p:sp>
        <p:nvSpPr>
          <p:cNvPr id="14" name="TextBox 13">
            <a:extLst>
              <a:ext uri="{FF2B5EF4-FFF2-40B4-BE49-F238E27FC236}">
                <a16:creationId xmlns:a16="http://schemas.microsoft.com/office/drawing/2014/main" id="{7A312D93-3291-8603-C742-DC1ABC48CBAD}"/>
              </a:ext>
            </a:extLst>
          </p:cNvPr>
          <p:cNvSpPr txBox="1"/>
          <p:nvPr/>
        </p:nvSpPr>
        <p:spPr>
          <a:xfrm>
            <a:off x="1333500" y="3606800"/>
            <a:ext cx="8890000" cy="276999"/>
          </a:xfrm>
          <a:prstGeom prst="rect">
            <a:avLst/>
          </a:prstGeom>
          <a:noFill/>
        </p:spPr>
        <p:txBody>
          <a:bodyPr vert="horz" wrap="square" lIns="0" tIns="0" rIns="0" bIns="0" rtlCol="0">
            <a:noAutofit/>
          </a:bodyPr>
          <a:lstStyle/>
          <a:p>
            <a:r>
              <a:rPr lang="en-IN" b="1">
                <a:solidFill>
                  <a:srgbClr val="F7F8FA"/>
                </a:solidFill>
                <a:latin typeface="Aptos" panose="020B0004020202020204" pitchFamily="34" charset="0"/>
              </a:rPr>
              <a:t>Stream STT and TTS</a:t>
            </a:r>
          </a:p>
        </p:txBody>
      </p:sp>
      <p:cxnSp>
        <p:nvCxnSpPr>
          <p:cNvPr id="15" name="Straight Connector 14">
            <a:extLst>
              <a:ext uri="{FF2B5EF4-FFF2-40B4-BE49-F238E27FC236}">
                <a16:creationId xmlns:a16="http://schemas.microsoft.com/office/drawing/2014/main" id="{4968B36D-039E-4D85-984C-C58D219A5B64}"/>
              </a:ext>
            </a:extLst>
          </p:cNvPr>
          <p:cNvCxnSpPr/>
          <p:nvPr/>
        </p:nvCxnSpPr>
        <p:spPr>
          <a:xfrm>
            <a:off x="1333500" y="4089400"/>
            <a:ext cx="101092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7322370E-78D1-B98E-AA55-C9D7772AC736}"/>
              </a:ext>
            </a:extLst>
          </p:cNvPr>
          <p:cNvSpPr/>
          <p:nvPr/>
        </p:nvSpPr>
        <p:spPr>
          <a:xfrm>
            <a:off x="736600" y="4305300"/>
            <a:ext cx="355600" cy="355600"/>
          </a:xfrm>
          <a:prstGeom prst="ellipse">
            <a:avLst/>
          </a:prstGeom>
          <a:solidFill>
            <a:srgbClr val="64E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46E2FA57-C27C-33C0-E4BB-59CB9BA37378}"/>
              </a:ext>
            </a:extLst>
          </p:cNvPr>
          <p:cNvSpPr txBox="1"/>
          <p:nvPr/>
        </p:nvSpPr>
        <p:spPr>
          <a:xfrm>
            <a:off x="736600" y="4356100"/>
            <a:ext cx="355600" cy="276999"/>
          </a:xfrm>
          <a:prstGeom prst="rect">
            <a:avLst/>
          </a:prstGeom>
          <a:noFill/>
        </p:spPr>
        <p:txBody>
          <a:bodyPr vert="horz" wrap="square" lIns="0" tIns="0" rIns="0" bIns="0" rtlCol="0">
            <a:noAutofit/>
          </a:bodyPr>
          <a:lstStyle/>
          <a:p>
            <a:pPr algn="ctr"/>
            <a:r>
              <a:rPr lang="en-IN" sz="1400" b="1">
                <a:solidFill>
                  <a:srgbClr val="F7F8FA"/>
                </a:solidFill>
                <a:latin typeface="Aptos" panose="020B0004020202020204" pitchFamily="34" charset="0"/>
              </a:rPr>
              <a:t>3</a:t>
            </a:r>
          </a:p>
        </p:txBody>
      </p:sp>
      <p:sp>
        <p:nvSpPr>
          <p:cNvPr id="18" name="TextBox 17">
            <a:extLst>
              <a:ext uri="{FF2B5EF4-FFF2-40B4-BE49-F238E27FC236}">
                <a16:creationId xmlns:a16="http://schemas.microsoft.com/office/drawing/2014/main" id="{F6A49F7B-925C-91FB-DAB0-CC59917F74E9}"/>
              </a:ext>
            </a:extLst>
          </p:cNvPr>
          <p:cNvSpPr txBox="1"/>
          <p:nvPr/>
        </p:nvSpPr>
        <p:spPr>
          <a:xfrm>
            <a:off x="1333500" y="4292600"/>
            <a:ext cx="8890000" cy="276999"/>
          </a:xfrm>
          <a:prstGeom prst="rect">
            <a:avLst/>
          </a:prstGeom>
          <a:noFill/>
        </p:spPr>
        <p:txBody>
          <a:bodyPr vert="horz" wrap="square" lIns="0" tIns="0" rIns="0" bIns="0" rtlCol="0">
            <a:noAutofit/>
          </a:bodyPr>
          <a:lstStyle/>
          <a:p>
            <a:r>
              <a:rPr lang="en-US" b="1">
                <a:solidFill>
                  <a:srgbClr val="F7F8FA"/>
                </a:solidFill>
                <a:latin typeface="Aptos" panose="020B0004020202020204" pitchFamily="34" charset="0"/>
              </a:rPr>
              <a:t>Move session state to Redis</a:t>
            </a:r>
            <a:endParaRPr lang="en-IN" b="1">
              <a:solidFill>
                <a:srgbClr val="F7F8FA"/>
              </a:solidFill>
              <a:latin typeface="Aptos" panose="020B0004020202020204" pitchFamily="34" charset="0"/>
            </a:endParaRPr>
          </a:p>
        </p:txBody>
      </p:sp>
      <p:cxnSp>
        <p:nvCxnSpPr>
          <p:cNvPr id="19" name="Straight Connector 18">
            <a:extLst>
              <a:ext uri="{FF2B5EF4-FFF2-40B4-BE49-F238E27FC236}">
                <a16:creationId xmlns:a16="http://schemas.microsoft.com/office/drawing/2014/main" id="{C6DB259F-D3B9-5EC7-4D17-73E43BDBC41F}"/>
              </a:ext>
            </a:extLst>
          </p:cNvPr>
          <p:cNvCxnSpPr/>
          <p:nvPr/>
        </p:nvCxnSpPr>
        <p:spPr>
          <a:xfrm>
            <a:off x="1333500" y="4775200"/>
            <a:ext cx="101092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8E070238-D963-F478-A88B-E2FD7A36EFA5}"/>
              </a:ext>
            </a:extLst>
          </p:cNvPr>
          <p:cNvSpPr/>
          <p:nvPr/>
        </p:nvSpPr>
        <p:spPr>
          <a:xfrm>
            <a:off x="736600" y="4991100"/>
            <a:ext cx="355600" cy="355600"/>
          </a:xfrm>
          <a:prstGeom prst="ellipse">
            <a:avLst/>
          </a:prstGeom>
          <a:solidFill>
            <a:srgbClr val="42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2B81BBB1-6DB5-93CD-30F0-5C3FCEB5B567}"/>
              </a:ext>
            </a:extLst>
          </p:cNvPr>
          <p:cNvSpPr txBox="1"/>
          <p:nvPr/>
        </p:nvSpPr>
        <p:spPr>
          <a:xfrm>
            <a:off x="736600" y="5041900"/>
            <a:ext cx="355600" cy="276999"/>
          </a:xfrm>
          <a:prstGeom prst="rect">
            <a:avLst/>
          </a:prstGeom>
          <a:noFill/>
        </p:spPr>
        <p:txBody>
          <a:bodyPr vert="horz" wrap="square" lIns="0" tIns="0" rIns="0" bIns="0" rtlCol="0">
            <a:noAutofit/>
          </a:bodyPr>
          <a:lstStyle/>
          <a:p>
            <a:pPr algn="ctr"/>
            <a:r>
              <a:rPr lang="en-IN" sz="1400" b="1">
                <a:solidFill>
                  <a:srgbClr val="F7F8FA"/>
                </a:solidFill>
                <a:latin typeface="Aptos" panose="020B0004020202020204" pitchFamily="34" charset="0"/>
              </a:rPr>
              <a:t>4</a:t>
            </a:r>
          </a:p>
        </p:txBody>
      </p:sp>
      <p:sp>
        <p:nvSpPr>
          <p:cNvPr id="22" name="TextBox 21">
            <a:extLst>
              <a:ext uri="{FF2B5EF4-FFF2-40B4-BE49-F238E27FC236}">
                <a16:creationId xmlns:a16="http://schemas.microsoft.com/office/drawing/2014/main" id="{A71C4868-C009-3CBB-E055-24B29C3B8C8E}"/>
              </a:ext>
            </a:extLst>
          </p:cNvPr>
          <p:cNvSpPr txBox="1"/>
          <p:nvPr/>
        </p:nvSpPr>
        <p:spPr>
          <a:xfrm>
            <a:off x="1333500" y="4978400"/>
            <a:ext cx="8890000" cy="276999"/>
          </a:xfrm>
          <a:prstGeom prst="rect">
            <a:avLst/>
          </a:prstGeom>
          <a:noFill/>
        </p:spPr>
        <p:txBody>
          <a:bodyPr vert="horz" wrap="square" lIns="0" tIns="0" rIns="0" bIns="0" rtlCol="0">
            <a:noAutofit/>
          </a:bodyPr>
          <a:lstStyle/>
          <a:p>
            <a:r>
              <a:rPr lang="en-US" b="1">
                <a:solidFill>
                  <a:srgbClr val="F7F8FA"/>
                </a:solidFill>
                <a:latin typeface="Aptos" panose="020B0004020202020204" pitchFamily="34" charset="0"/>
              </a:rPr>
              <a:t>Pool catalog access and cache stable options</a:t>
            </a:r>
            <a:endParaRPr lang="en-IN" b="1">
              <a:solidFill>
                <a:srgbClr val="F7F8FA"/>
              </a:solidFill>
              <a:latin typeface="Aptos" panose="020B0004020202020204" pitchFamily="34" charset="0"/>
            </a:endParaRPr>
          </a:p>
        </p:txBody>
      </p:sp>
      <p:cxnSp>
        <p:nvCxnSpPr>
          <p:cNvPr id="23" name="Straight Connector 22">
            <a:extLst>
              <a:ext uri="{FF2B5EF4-FFF2-40B4-BE49-F238E27FC236}">
                <a16:creationId xmlns:a16="http://schemas.microsoft.com/office/drawing/2014/main" id="{E5EB6E90-D548-556D-220F-579CB041376B}"/>
              </a:ext>
            </a:extLst>
          </p:cNvPr>
          <p:cNvCxnSpPr/>
          <p:nvPr/>
        </p:nvCxnSpPr>
        <p:spPr>
          <a:xfrm>
            <a:off x="1333500" y="5461000"/>
            <a:ext cx="101092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104F1611-AA82-173D-7195-3EC7005D9A42}"/>
              </a:ext>
            </a:extLst>
          </p:cNvPr>
          <p:cNvSpPr/>
          <p:nvPr/>
        </p:nvSpPr>
        <p:spPr>
          <a:xfrm>
            <a:off x="736600" y="5676900"/>
            <a:ext cx="355600" cy="355600"/>
          </a:xfrm>
          <a:prstGeom prst="ellipse">
            <a:avLst/>
          </a:prstGeom>
          <a:solidFill>
            <a:srgbClr val="7C5C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FD008B38-B9D8-FFAB-4CD2-488D4D4546C9}"/>
              </a:ext>
            </a:extLst>
          </p:cNvPr>
          <p:cNvSpPr txBox="1"/>
          <p:nvPr/>
        </p:nvSpPr>
        <p:spPr>
          <a:xfrm>
            <a:off x="736600" y="5727700"/>
            <a:ext cx="355600" cy="276999"/>
          </a:xfrm>
          <a:prstGeom prst="rect">
            <a:avLst/>
          </a:prstGeom>
          <a:noFill/>
        </p:spPr>
        <p:txBody>
          <a:bodyPr vert="horz" wrap="square" lIns="0" tIns="0" rIns="0" bIns="0" rtlCol="0">
            <a:noAutofit/>
          </a:bodyPr>
          <a:lstStyle/>
          <a:p>
            <a:pPr algn="ctr"/>
            <a:r>
              <a:rPr lang="en-IN" sz="1400" b="1">
                <a:solidFill>
                  <a:srgbClr val="F7F8FA"/>
                </a:solidFill>
                <a:latin typeface="Aptos" panose="020B0004020202020204" pitchFamily="34" charset="0"/>
              </a:rPr>
              <a:t>5</a:t>
            </a:r>
          </a:p>
        </p:txBody>
      </p:sp>
      <p:sp>
        <p:nvSpPr>
          <p:cNvPr id="26" name="TextBox 25">
            <a:extLst>
              <a:ext uri="{FF2B5EF4-FFF2-40B4-BE49-F238E27FC236}">
                <a16:creationId xmlns:a16="http://schemas.microsoft.com/office/drawing/2014/main" id="{2932FF94-2E68-005B-A77E-0B19365324DF}"/>
              </a:ext>
            </a:extLst>
          </p:cNvPr>
          <p:cNvSpPr txBox="1"/>
          <p:nvPr/>
        </p:nvSpPr>
        <p:spPr>
          <a:xfrm>
            <a:off x="1333500" y="5664200"/>
            <a:ext cx="8890000" cy="276999"/>
          </a:xfrm>
          <a:prstGeom prst="rect">
            <a:avLst/>
          </a:prstGeom>
          <a:noFill/>
        </p:spPr>
        <p:txBody>
          <a:bodyPr vert="horz" wrap="square" lIns="0" tIns="0" rIns="0" bIns="0" rtlCol="0">
            <a:noAutofit/>
          </a:bodyPr>
          <a:lstStyle/>
          <a:p>
            <a:r>
              <a:rPr lang="en-IN" b="1">
                <a:solidFill>
                  <a:srgbClr val="F7F8FA"/>
                </a:solidFill>
                <a:latin typeface="Aptos" panose="020B0004020202020204" pitchFamily="34" charset="0"/>
              </a:rPr>
              <a:t>Pin models in CI and run provider canaries</a:t>
            </a:r>
          </a:p>
        </p:txBody>
      </p:sp>
      <p:cxnSp>
        <p:nvCxnSpPr>
          <p:cNvPr id="27" name="Straight Connector 26">
            <a:extLst>
              <a:ext uri="{FF2B5EF4-FFF2-40B4-BE49-F238E27FC236}">
                <a16:creationId xmlns:a16="http://schemas.microsoft.com/office/drawing/2014/main" id="{D958AC23-FBF4-BCEE-5852-474839CE9529}"/>
              </a:ext>
            </a:extLst>
          </p:cNvPr>
          <p:cNvCxnSpPr/>
          <p:nvPr/>
        </p:nvCxnSpPr>
        <p:spPr>
          <a:xfrm>
            <a:off x="1333500" y="6146800"/>
            <a:ext cx="101092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7866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A802FF-C556-7C63-9380-2435ED159FBD}"/>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APPENDIX</a:t>
            </a:r>
          </a:p>
        </p:txBody>
      </p:sp>
      <p:sp>
        <p:nvSpPr>
          <p:cNvPr id="3" name="TextBox 2">
            <a:extLst>
              <a:ext uri="{FF2B5EF4-FFF2-40B4-BE49-F238E27FC236}">
                <a16:creationId xmlns:a16="http://schemas.microsoft.com/office/drawing/2014/main" id="{A1D3F2FE-FF55-5BFA-0DF2-397337D76193}"/>
              </a:ext>
            </a:extLst>
          </p:cNvPr>
          <p:cNvSpPr txBox="1"/>
          <p:nvPr/>
        </p:nvSpPr>
        <p:spPr>
          <a:xfrm>
            <a:off x="711200" y="673100"/>
            <a:ext cx="10795000" cy="276999"/>
          </a:xfrm>
          <a:prstGeom prst="rect">
            <a:avLst/>
          </a:prstGeom>
          <a:noFill/>
        </p:spPr>
        <p:txBody>
          <a:bodyPr vert="horz" wrap="square" lIns="0" tIns="0" rIns="0" bIns="0" rtlCol="0">
            <a:noAutofit/>
          </a:bodyPr>
          <a:lstStyle/>
          <a:p>
            <a:r>
              <a:rPr lang="en-IN" sz="3100" b="1">
                <a:solidFill>
                  <a:srgbClr val="F7F8FA"/>
                </a:solidFill>
                <a:latin typeface="Aptos Display" panose="020B0004020202020204" pitchFamily="34" charset="0"/>
              </a:rPr>
              <a:t>Seven component decisions</a:t>
            </a:r>
          </a:p>
        </p:txBody>
      </p:sp>
      <p:cxnSp>
        <p:nvCxnSpPr>
          <p:cNvPr id="4" name="Straight Connector 3">
            <a:extLst>
              <a:ext uri="{FF2B5EF4-FFF2-40B4-BE49-F238E27FC236}">
                <a16:creationId xmlns:a16="http://schemas.microsoft.com/office/drawing/2014/main" id="{7C2F1998-31B4-949A-A6EA-ECB875889D74}"/>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CAE0F5F-A724-39C1-3017-216829119021}"/>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11</a:t>
            </a:r>
          </a:p>
        </p:txBody>
      </p:sp>
      <p:graphicFrame>
        <p:nvGraphicFramePr>
          <p:cNvPr id="6" name="Table 5">
            <a:extLst>
              <a:ext uri="{FF2B5EF4-FFF2-40B4-BE49-F238E27FC236}">
                <a16:creationId xmlns:a16="http://schemas.microsoft.com/office/drawing/2014/main" id="{559B5010-4B01-D086-8C6A-96856B747D0A}"/>
              </a:ext>
            </a:extLst>
          </p:cNvPr>
          <p:cNvGraphicFramePr>
            <a:graphicFrameLocks noGrp="1"/>
          </p:cNvGraphicFramePr>
          <p:nvPr>
            <p:extLst>
              <p:ext uri="{D42A27DB-BD31-4B8C-83A1-F6EECF244321}">
                <p14:modId xmlns:p14="http://schemas.microsoft.com/office/powerpoint/2010/main" val="3275841415"/>
              </p:ext>
            </p:extLst>
          </p:nvPr>
        </p:nvGraphicFramePr>
        <p:xfrm>
          <a:off x="685800" y="1676400"/>
          <a:ext cx="10820400" cy="42672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771611382"/>
                    </a:ext>
                  </a:extLst>
                </a:gridCol>
                <a:gridCol w="2844800">
                  <a:extLst>
                    <a:ext uri="{9D8B030D-6E8A-4147-A177-3AD203B41FA5}">
                      <a16:colId xmlns:a16="http://schemas.microsoft.com/office/drawing/2014/main" val="3041326477"/>
                    </a:ext>
                  </a:extLst>
                </a:gridCol>
                <a:gridCol w="3175000">
                  <a:extLst>
                    <a:ext uri="{9D8B030D-6E8A-4147-A177-3AD203B41FA5}">
                      <a16:colId xmlns:a16="http://schemas.microsoft.com/office/drawing/2014/main" val="2431879426"/>
                    </a:ext>
                  </a:extLst>
                </a:gridCol>
                <a:gridCol w="3124200">
                  <a:extLst>
                    <a:ext uri="{9D8B030D-6E8A-4147-A177-3AD203B41FA5}">
                      <a16:colId xmlns:a16="http://schemas.microsoft.com/office/drawing/2014/main" val="3411954798"/>
                    </a:ext>
                  </a:extLst>
                </a:gridCol>
              </a:tblGrid>
              <a:tr h="533400">
                <a:tc>
                  <a:txBody>
                    <a:bodyPr/>
                    <a:lstStyle/>
                    <a:p>
                      <a:r>
                        <a:rPr lang="en-IN" sz="1000" b="1">
                          <a:solidFill>
                            <a:srgbClr val="42B6FF"/>
                          </a:solidFill>
                          <a:latin typeface="Aptos" panose="020B0004020202020204" pitchFamily="34" charset="0"/>
                        </a:rPr>
                        <a:t>COMPONENT</a:t>
                      </a:r>
                    </a:p>
                  </a:txBody>
                  <a:tcPr marL="101600" marR="101600">
                    <a:solidFill>
                      <a:srgbClr val="181D27"/>
                    </a:solidFill>
                  </a:tcPr>
                </a:tc>
                <a:tc>
                  <a:txBody>
                    <a:bodyPr/>
                    <a:lstStyle/>
                    <a:p>
                      <a:r>
                        <a:rPr lang="en-IN" sz="1000" b="1">
                          <a:solidFill>
                            <a:srgbClr val="42B6FF"/>
                          </a:solidFill>
                          <a:latin typeface="Aptos" panose="020B0004020202020204" pitchFamily="34" charset="0"/>
                        </a:rPr>
                        <a:t>WHY THIS CHOICE</a:t>
                      </a:r>
                    </a:p>
                  </a:txBody>
                  <a:tcPr marL="101600" marR="101600">
                    <a:solidFill>
                      <a:srgbClr val="181D27"/>
                    </a:solidFill>
                  </a:tcPr>
                </a:tc>
                <a:tc>
                  <a:txBody>
                    <a:bodyPr/>
                    <a:lstStyle/>
                    <a:p>
                      <a:r>
                        <a:rPr lang="en-IN" sz="1000" b="1">
                          <a:solidFill>
                            <a:srgbClr val="42B6FF"/>
                          </a:solidFill>
                          <a:latin typeface="Aptos" panose="020B0004020202020204" pitchFamily="34" charset="0"/>
                        </a:rPr>
                        <a:t>COMPLEXITY HIDDEN</a:t>
                      </a:r>
                    </a:p>
                  </a:txBody>
                  <a:tcPr marL="101600" marR="101600">
                    <a:solidFill>
                      <a:srgbClr val="181D27"/>
                    </a:solidFill>
                  </a:tcPr>
                </a:tc>
                <a:tc>
                  <a:txBody>
                    <a:bodyPr/>
                    <a:lstStyle/>
                    <a:p>
                      <a:r>
                        <a:rPr lang="en-IN" sz="1000" b="1">
                          <a:solidFill>
                            <a:srgbClr val="42B6FF"/>
                          </a:solidFill>
                          <a:latin typeface="Aptos" panose="020B0004020202020204" pitchFamily="34" charset="0"/>
                        </a:rPr>
                        <a:t>PRODUCTION SEAM</a:t>
                      </a:r>
                    </a:p>
                  </a:txBody>
                  <a:tcPr marL="101600" marR="101600">
                    <a:solidFill>
                      <a:srgbClr val="181D27"/>
                    </a:solidFill>
                  </a:tcPr>
                </a:tc>
                <a:extLst>
                  <a:ext uri="{0D108BD9-81ED-4DB2-BD59-A6C34878D82A}">
                    <a16:rowId xmlns:a16="http://schemas.microsoft.com/office/drawing/2014/main" val="1813162533"/>
                  </a:ext>
                </a:extLst>
              </a:tr>
              <a:tr h="533400">
                <a:tc>
                  <a:txBody>
                    <a:bodyPr/>
                    <a:lstStyle/>
                    <a:p>
                      <a:r>
                        <a:rPr lang="en-IN" sz="1200" b="1">
                          <a:solidFill>
                            <a:srgbClr val="F7F8FA"/>
                          </a:solidFill>
                          <a:latin typeface="Aptos" panose="020B0004020202020204" pitchFamily="34" charset="0"/>
                        </a:rPr>
                        <a:t>Voice interface</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Fast demo surface</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Mic capture, upload, playback</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Product client with streaming</a:t>
                      </a:r>
                    </a:p>
                  </a:txBody>
                  <a:tcPr marL="101600" marR="101600" marT="63500" marB="50800">
                    <a:solidFill>
                      <a:srgbClr val="080A0F"/>
                    </a:solidFill>
                  </a:tcPr>
                </a:tc>
                <a:extLst>
                  <a:ext uri="{0D108BD9-81ED-4DB2-BD59-A6C34878D82A}">
                    <a16:rowId xmlns:a16="http://schemas.microsoft.com/office/drawing/2014/main" val="1813039045"/>
                  </a:ext>
                </a:extLst>
              </a:tr>
              <a:tr h="533400">
                <a:tc>
                  <a:txBody>
                    <a:bodyPr/>
                    <a:lstStyle/>
                    <a:p>
                      <a:r>
                        <a:rPr lang="en-IN" sz="1200" b="1">
                          <a:solidFill>
                            <a:srgbClr val="F7F8FA"/>
                          </a:solidFill>
                          <a:latin typeface="Aptos" panose="020B0004020202020204" pitchFamily="34" charset="0"/>
                        </a:rPr>
                        <a:t>Speech to text</a:t>
                      </a:r>
                    </a:p>
                  </a:txBody>
                  <a:tcPr marL="101600" marR="101600" marT="63500" marB="50800">
                    <a:solidFill>
                      <a:srgbClr val="11151D"/>
                    </a:solidFill>
                  </a:tcPr>
                </a:tc>
                <a:tc>
                  <a:txBody>
                    <a:bodyPr/>
                    <a:lstStyle/>
                    <a:p>
                      <a:r>
                        <a:rPr lang="en-IN" sz="1100" b="0">
                          <a:solidFill>
                            <a:srgbClr val="E8EBF0"/>
                          </a:solidFill>
                          <a:latin typeface="Aptos" panose="020B0004020202020204" pitchFamily="34" charset="0"/>
                        </a:rPr>
                        <a:t>Fits file input</a:t>
                      </a:r>
                    </a:p>
                  </a:txBody>
                  <a:tcPr marL="101600" marR="101600" marT="63500" marB="50800">
                    <a:solidFill>
                      <a:srgbClr val="11151D"/>
                    </a:solidFill>
                  </a:tcPr>
                </a:tc>
                <a:tc>
                  <a:txBody>
                    <a:bodyPr/>
                    <a:lstStyle/>
                    <a:p>
                      <a:r>
                        <a:rPr lang="en-IN" sz="1100" b="0">
                          <a:solidFill>
                            <a:srgbClr val="E8EBF0"/>
                          </a:solidFill>
                          <a:latin typeface="Aptos" panose="020B0004020202020204" pitchFamily="34" charset="0"/>
                        </a:rPr>
                        <a:t>Codecs, retry, transcription</a:t>
                      </a:r>
                    </a:p>
                  </a:txBody>
                  <a:tcPr marL="101600" marR="101600" marT="63500" marB="50800">
                    <a:solidFill>
                      <a:srgbClr val="11151D"/>
                    </a:solidFill>
                  </a:tcPr>
                </a:tc>
                <a:tc>
                  <a:txBody>
                    <a:bodyPr/>
                    <a:lstStyle/>
                    <a:p>
                      <a:r>
                        <a:rPr lang="en-IN" sz="1100" b="0">
                          <a:solidFill>
                            <a:srgbClr val="E8EBF0"/>
                          </a:solidFill>
                          <a:latin typeface="Aptos" panose="020B0004020202020204" pitchFamily="34" charset="0"/>
                        </a:rPr>
                        <a:t>Streaming STT + confidence</a:t>
                      </a:r>
                    </a:p>
                  </a:txBody>
                  <a:tcPr marL="101600" marR="101600" marT="63500" marB="50800">
                    <a:solidFill>
                      <a:srgbClr val="11151D"/>
                    </a:solidFill>
                  </a:tcPr>
                </a:tc>
                <a:extLst>
                  <a:ext uri="{0D108BD9-81ED-4DB2-BD59-A6C34878D82A}">
                    <a16:rowId xmlns:a16="http://schemas.microsoft.com/office/drawing/2014/main" val="2118029535"/>
                  </a:ext>
                </a:extLst>
              </a:tr>
              <a:tr h="533400">
                <a:tc>
                  <a:txBody>
                    <a:bodyPr/>
                    <a:lstStyle/>
                    <a:p>
                      <a:r>
                        <a:rPr lang="en-IN" sz="1200" b="1">
                          <a:solidFill>
                            <a:srgbClr val="F7F8FA"/>
                          </a:solidFill>
                          <a:latin typeface="Aptos" panose="020B0004020202020204" pitchFamily="34" charset="0"/>
                        </a:rPr>
                        <a:t>Understanding</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Typed tool contracts</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Intent, slots, repair, routing</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Capacity-backed model</a:t>
                      </a:r>
                    </a:p>
                  </a:txBody>
                  <a:tcPr marL="101600" marR="101600" marT="63500" marB="50800">
                    <a:solidFill>
                      <a:srgbClr val="080A0F"/>
                    </a:solidFill>
                  </a:tcPr>
                </a:tc>
                <a:extLst>
                  <a:ext uri="{0D108BD9-81ED-4DB2-BD59-A6C34878D82A}">
                    <a16:rowId xmlns:a16="http://schemas.microsoft.com/office/drawing/2014/main" val="1097602206"/>
                  </a:ext>
                </a:extLst>
              </a:tr>
              <a:tr h="533400">
                <a:tc>
                  <a:txBody>
                    <a:bodyPr/>
                    <a:lstStyle/>
                    <a:p>
                      <a:r>
                        <a:rPr lang="en-IN" sz="1200" b="1">
                          <a:solidFill>
                            <a:srgbClr val="F7F8FA"/>
                          </a:solidFill>
                          <a:latin typeface="Aptos" panose="020B0004020202020204" pitchFamily="34" charset="0"/>
                        </a:rPr>
                        <a:t>Catalog search</a:t>
                      </a:r>
                    </a:p>
                  </a:txBody>
                  <a:tcPr marL="101600" marR="101600" marT="63500" marB="50800">
                    <a:solidFill>
                      <a:srgbClr val="11151D"/>
                    </a:solidFill>
                  </a:tcPr>
                </a:tc>
                <a:tc>
                  <a:txBody>
                    <a:bodyPr/>
                    <a:lstStyle/>
                    <a:p>
                      <a:r>
                        <a:rPr lang="en-IN" sz="1100" b="0">
                          <a:solidFill>
                            <a:srgbClr val="E8EBF0"/>
                          </a:solidFill>
                          <a:latin typeface="Aptos" panose="020B0004020202020204" pitchFamily="34" charset="0"/>
                        </a:rPr>
                        <a:t>Strict query ownership</a:t>
                      </a:r>
                    </a:p>
                  </a:txBody>
                  <a:tcPr marL="101600" marR="101600" marT="63500" marB="50800">
                    <a:solidFill>
                      <a:srgbClr val="11151D"/>
                    </a:solidFill>
                  </a:tcPr>
                </a:tc>
                <a:tc>
                  <a:txBody>
                    <a:bodyPr/>
                    <a:lstStyle/>
                    <a:p>
                      <a:r>
                        <a:rPr lang="en-IN" sz="1100" b="0">
                          <a:solidFill>
                            <a:srgbClr val="E8EBF0"/>
                          </a:solidFill>
                          <a:latin typeface="Aptos" panose="020B0004020202020204" pitchFamily="34" charset="0"/>
                        </a:rPr>
                        <a:t>Filters, ranking, read access</a:t>
                      </a:r>
                    </a:p>
                  </a:txBody>
                  <a:tcPr marL="101600" marR="101600" marT="63500" marB="50800">
                    <a:solidFill>
                      <a:srgbClr val="11151D"/>
                    </a:solidFill>
                  </a:tcPr>
                </a:tc>
                <a:tc>
                  <a:txBody>
                    <a:bodyPr/>
                    <a:lstStyle/>
                    <a:p>
                      <a:r>
                        <a:rPr lang="en-IN" sz="1100" b="0">
                          <a:solidFill>
                            <a:srgbClr val="E8EBF0"/>
                          </a:solidFill>
                          <a:latin typeface="Aptos" panose="020B0004020202020204" pitchFamily="34" charset="0"/>
                        </a:rPr>
                        <a:t>Indexed service + pool</a:t>
                      </a:r>
                    </a:p>
                  </a:txBody>
                  <a:tcPr marL="101600" marR="101600" marT="63500" marB="50800">
                    <a:solidFill>
                      <a:srgbClr val="11151D"/>
                    </a:solidFill>
                  </a:tcPr>
                </a:tc>
                <a:extLst>
                  <a:ext uri="{0D108BD9-81ED-4DB2-BD59-A6C34878D82A}">
                    <a16:rowId xmlns:a16="http://schemas.microsoft.com/office/drawing/2014/main" val="3407003716"/>
                  </a:ext>
                </a:extLst>
              </a:tr>
              <a:tr h="533400">
                <a:tc>
                  <a:txBody>
                    <a:bodyPr/>
                    <a:lstStyle/>
                    <a:p>
                      <a:r>
                        <a:rPr lang="en-IN" sz="1200" b="1">
                          <a:solidFill>
                            <a:srgbClr val="F7F8FA"/>
                          </a:solidFill>
                          <a:latin typeface="Aptos" panose="020B0004020202020204" pitchFamily="34" charset="0"/>
                        </a:rPr>
                        <a:t>Response + TTS</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Facts remain controlled</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Validation and audio batching</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Streaming response gateway</a:t>
                      </a:r>
                    </a:p>
                  </a:txBody>
                  <a:tcPr marL="101600" marR="101600" marT="63500" marB="50800">
                    <a:solidFill>
                      <a:srgbClr val="080A0F"/>
                    </a:solidFill>
                  </a:tcPr>
                </a:tc>
                <a:extLst>
                  <a:ext uri="{0D108BD9-81ED-4DB2-BD59-A6C34878D82A}">
                    <a16:rowId xmlns:a16="http://schemas.microsoft.com/office/drawing/2014/main" val="867469642"/>
                  </a:ext>
                </a:extLst>
              </a:tr>
              <a:tr h="533400">
                <a:tc>
                  <a:txBody>
                    <a:bodyPr/>
                    <a:lstStyle/>
                    <a:p>
                      <a:r>
                        <a:rPr lang="en-IN" sz="1200" b="1">
                          <a:solidFill>
                            <a:srgbClr val="F7F8FA"/>
                          </a:solidFill>
                          <a:latin typeface="Aptos" panose="020B0004020202020204" pitchFamily="34" charset="0"/>
                        </a:rPr>
                        <a:t>State</a:t>
                      </a:r>
                    </a:p>
                  </a:txBody>
                  <a:tcPr marL="101600" marR="101600" marT="63500" marB="50800">
                    <a:solidFill>
                      <a:srgbClr val="11151D"/>
                    </a:solidFill>
                  </a:tcPr>
                </a:tc>
                <a:tc>
                  <a:txBody>
                    <a:bodyPr/>
                    <a:lstStyle/>
                    <a:p>
                      <a:r>
                        <a:rPr lang="en-IN" sz="1100" b="0">
                          <a:solidFill>
                            <a:srgbClr val="E8EBF0"/>
                          </a:solidFill>
                          <a:latin typeface="Aptos" panose="020B0004020202020204" pitchFamily="34" charset="0"/>
                        </a:rPr>
                        <a:t>Simple typed memory</a:t>
                      </a:r>
                    </a:p>
                  </a:txBody>
                  <a:tcPr marL="101600" marR="101600" marT="63500" marB="50800">
                    <a:solidFill>
                      <a:srgbClr val="11151D"/>
                    </a:solidFill>
                  </a:tcPr>
                </a:tc>
                <a:tc>
                  <a:txBody>
                    <a:bodyPr/>
                    <a:lstStyle/>
                    <a:p>
                      <a:r>
                        <a:rPr lang="en-IN" sz="1100" b="0">
                          <a:solidFill>
                            <a:srgbClr val="E8EBF0"/>
                          </a:solidFill>
                          <a:latin typeface="Aptos" panose="020B0004020202020204" pitchFamily="34" charset="0"/>
                        </a:rPr>
                        <a:t>Corrections and result references</a:t>
                      </a:r>
                    </a:p>
                  </a:txBody>
                  <a:tcPr marL="101600" marR="101600" marT="63500" marB="50800">
                    <a:solidFill>
                      <a:srgbClr val="11151D"/>
                    </a:solidFill>
                  </a:tcPr>
                </a:tc>
                <a:tc>
                  <a:txBody>
                    <a:bodyPr/>
                    <a:lstStyle/>
                    <a:p>
                      <a:r>
                        <a:rPr lang="en-IN" sz="1100" b="0">
                          <a:solidFill>
                            <a:srgbClr val="E8EBF0"/>
                          </a:solidFill>
                          <a:latin typeface="Aptos" panose="020B0004020202020204" pitchFamily="34" charset="0"/>
                        </a:rPr>
                        <a:t>Redis or concurrent store</a:t>
                      </a:r>
                    </a:p>
                  </a:txBody>
                  <a:tcPr marL="101600" marR="101600" marT="63500" marB="50800">
                    <a:solidFill>
                      <a:srgbClr val="11151D"/>
                    </a:solidFill>
                  </a:tcPr>
                </a:tc>
                <a:extLst>
                  <a:ext uri="{0D108BD9-81ED-4DB2-BD59-A6C34878D82A}">
                    <a16:rowId xmlns:a16="http://schemas.microsoft.com/office/drawing/2014/main" val="3528937802"/>
                  </a:ext>
                </a:extLst>
              </a:tr>
              <a:tr h="533400">
                <a:tc>
                  <a:txBody>
                    <a:bodyPr/>
                    <a:lstStyle/>
                    <a:p>
                      <a:r>
                        <a:rPr lang="en-IN" sz="1200" b="1">
                          <a:solidFill>
                            <a:srgbClr val="F7F8FA"/>
                          </a:solidFill>
                          <a:latin typeface="Aptos" panose="020B0004020202020204" pitchFamily="34" charset="0"/>
                        </a:rPr>
                        <a:t>Evaluation</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Behavior over prose</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Expected filters and telemetry</a:t>
                      </a:r>
                    </a:p>
                  </a:txBody>
                  <a:tcPr marL="101600" marR="101600" marT="63500" marB="50800">
                    <a:solidFill>
                      <a:srgbClr val="080A0F"/>
                    </a:solidFill>
                  </a:tcPr>
                </a:tc>
                <a:tc>
                  <a:txBody>
                    <a:bodyPr/>
                    <a:lstStyle/>
                    <a:p>
                      <a:r>
                        <a:rPr lang="en-IN" sz="1100" b="0">
                          <a:solidFill>
                            <a:srgbClr val="E8EBF0"/>
                          </a:solidFill>
                          <a:latin typeface="Aptos" panose="020B0004020202020204" pitchFamily="34" charset="0"/>
                        </a:rPr>
                        <a:t>Pinned CI + production traces</a:t>
                      </a:r>
                    </a:p>
                  </a:txBody>
                  <a:tcPr marL="101600" marR="101600" marT="63500" marB="50800">
                    <a:solidFill>
                      <a:srgbClr val="080A0F"/>
                    </a:solidFill>
                  </a:tcPr>
                </a:tc>
                <a:extLst>
                  <a:ext uri="{0D108BD9-81ED-4DB2-BD59-A6C34878D82A}">
                    <a16:rowId xmlns:a16="http://schemas.microsoft.com/office/drawing/2014/main" val="4146522933"/>
                  </a:ext>
                </a:extLst>
              </a:tr>
            </a:tbl>
          </a:graphicData>
        </a:graphic>
      </p:graphicFrame>
      <p:sp>
        <p:nvSpPr>
          <p:cNvPr id="7" name="TextBox 6">
            <a:extLst>
              <a:ext uri="{FF2B5EF4-FFF2-40B4-BE49-F238E27FC236}">
                <a16:creationId xmlns:a16="http://schemas.microsoft.com/office/drawing/2014/main" id="{ECEE8756-B7D7-9A4D-738E-8531FB46F98E}"/>
              </a:ext>
            </a:extLst>
          </p:cNvPr>
          <p:cNvSpPr txBox="1"/>
          <p:nvPr/>
        </p:nvSpPr>
        <p:spPr>
          <a:xfrm>
            <a:off x="736600" y="6146800"/>
            <a:ext cx="9652000" cy="276999"/>
          </a:xfrm>
          <a:prstGeom prst="rect">
            <a:avLst/>
          </a:prstGeom>
          <a:noFill/>
        </p:spPr>
        <p:txBody>
          <a:bodyPr vert="horz" wrap="square" lIns="0" tIns="0" rIns="0" bIns="0" rtlCol="0">
            <a:noAutofit/>
          </a:bodyPr>
          <a:lstStyle/>
          <a:p>
            <a:r>
              <a:rPr lang="en-US" sz="1300">
                <a:solidFill>
                  <a:srgbClr val="9299A6"/>
                </a:solidFill>
                <a:latin typeface="Aptos" panose="020B0004020202020204" pitchFamily="34" charset="0"/>
              </a:rPr>
              <a:t>These are seams, not separate services. The current build remains one process.</a:t>
            </a:r>
            <a:endParaRPr lang="en-IN" sz="1300">
              <a:solidFill>
                <a:srgbClr val="9299A6"/>
              </a:solidFill>
              <a:latin typeface="Aptos" panose="020B0004020202020204" pitchFamily="34" charset="0"/>
            </a:endParaRPr>
          </a:p>
        </p:txBody>
      </p:sp>
    </p:spTree>
    <p:extLst>
      <p:ext uri="{BB962C8B-B14F-4D97-AF65-F5344CB8AC3E}">
        <p14:creationId xmlns:p14="http://schemas.microsoft.com/office/powerpoint/2010/main" val="37759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E13BBA-09D3-10D5-0D3C-A8F86684AD1C}"/>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APPENDIX</a:t>
            </a:r>
          </a:p>
        </p:txBody>
      </p:sp>
      <p:sp>
        <p:nvSpPr>
          <p:cNvPr id="3" name="TextBox 2">
            <a:extLst>
              <a:ext uri="{FF2B5EF4-FFF2-40B4-BE49-F238E27FC236}">
                <a16:creationId xmlns:a16="http://schemas.microsoft.com/office/drawing/2014/main" id="{BE2F5277-1561-ACFF-0AF5-7BE800AC5AF3}"/>
              </a:ext>
            </a:extLst>
          </p:cNvPr>
          <p:cNvSpPr txBox="1"/>
          <p:nvPr/>
        </p:nvSpPr>
        <p:spPr>
          <a:xfrm>
            <a:off x="711200" y="673100"/>
            <a:ext cx="10795000" cy="276999"/>
          </a:xfrm>
          <a:prstGeom prst="rect">
            <a:avLst/>
          </a:prstGeom>
          <a:noFill/>
        </p:spPr>
        <p:txBody>
          <a:bodyPr vert="horz" wrap="square" lIns="0" tIns="0" rIns="0" bIns="0" rtlCol="0">
            <a:noAutofit/>
          </a:bodyPr>
          <a:lstStyle/>
          <a:p>
            <a:r>
              <a:rPr lang="en-US" sz="3100" b="1">
                <a:solidFill>
                  <a:srgbClr val="F7F8FA"/>
                </a:solidFill>
                <a:latin typeface="Aptos Display" panose="020B0004020202020204" pitchFamily="34" charset="0"/>
              </a:rPr>
              <a:t>What the evaluation actually checks</a:t>
            </a:r>
            <a:endParaRPr lang="en-IN" sz="3100" b="1">
              <a:solidFill>
                <a:srgbClr val="F7F8FA"/>
              </a:solidFill>
              <a:latin typeface="Aptos Display" panose="020B0004020202020204" pitchFamily="34" charset="0"/>
            </a:endParaRPr>
          </a:p>
        </p:txBody>
      </p:sp>
      <p:cxnSp>
        <p:nvCxnSpPr>
          <p:cNvPr id="4" name="Straight Connector 3">
            <a:extLst>
              <a:ext uri="{FF2B5EF4-FFF2-40B4-BE49-F238E27FC236}">
                <a16:creationId xmlns:a16="http://schemas.microsoft.com/office/drawing/2014/main" id="{546A6759-8276-708B-40DC-17E115AC19A2}"/>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E6C5843-5A7F-0DA2-8172-E69666A88B34}"/>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12</a:t>
            </a:r>
          </a:p>
        </p:txBody>
      </p:sp>
      <p:sp>
        <p:nvSpPr>
          <p:cNvPr id="6" name="TextBox 5">
            <a:extLst>
              <a:ext uri="{FF2B5EF4-FFF2-40B4-BE49-F238E27FC236}">
                <a16:creationId xmlns:a16="http://schemas.microsoft.com/office/drawing/2014/main" id="{1A9EDD31-9319-C75C-727E-4277D0F9DBD0}"/>
              </a:ext>
            </a:extLst>
          </p:cNvPr>
          <p:cNvSpPr txBox="1"/>
          <p:nvPr/>
        </p:nvSpPr>
        <p:spPr>
          <a:xfrm>
            <a:off x="736600" y="1854200"/>
            <a:ext cx="1168400" cy="276999"/>
          </a:xfrm>
          <a:prstGeom prst="rect">
            <a:avLst/>
          </a:prstGeom>
          <a:noFill/>
        </p:spPr>
        <p:txBody>
          <a:bodyPr vert="horz" wrap="square" lIns="0" tIns="0" rIns="0" bIns="0" rtlCol="0">
            <a:noAutofit/>
          </a:bodyPr>
          <a:lstStyle/>
          <a:p>
            <a:r>
              <a:rPr lang="en-IN" sz="3200" b="1">
                <a:solidFill>
                  <a:srgbClr val="4ADE80"/>
                </a:solidFill>
                <a:latin typeface="Aptos Display" panose="020B0004020202020204" pitchFamily="34" charset="0"/>
              </a:rPr>
              <a:t>28</a:t>
            </a:r>
          </a:p>
        </p:txBody>
      </p:sp>
      <p:sp>
        <p:nvSpPr>
          <p:cNvPr id="7" name="TextBox 6">
            <a:extLst>
              <a:ext uri="{FF2B5EF4-FFF2-40B4-BE49-F238E27FC236}">
                <a16:creationId xmlns:a16="http://schemas.microsoft.com/office/drawing/2014/main" id="{26992359-A048-D701-3C90-890E043B1C00}"/>
              </a:ext>
            </a:extLst>
          </p:cNvPr>
          <p:cNvSpPr txBox="1"/>
          <p:nvPr/>
        </p:nvSpPr>
        <p:spPr>
          <a:xfrm>
            <a:off x="736600" y="2463800"/>
            <a:ext cx="1168400" cy="276999"/>
          </a:xfrm>
          <a:prstGeom prst="rect">
            <a:avLst/>
          </a:prstGeom>
          <a:noFill/>
        </p:spPr>
        <p:txBody>
          <a:bodyPr vert="horz" wrap="square" lIns="0" tIns="0" rIns="0" bIns="0" rtlCol="0">
            <a:noAutofit/>
          </a:bodyPr>
          <a:lstStyle/>
          <a:p>
            <a:r>
              <a:rPr lang="en-IN" sz="1300">
                <a:solidFill>
                  <a:srgbClr val="9299A6"/>
                </a:solidFill>
                <a:latin typeface="Aptos" panose="020B0004020202020204" pitchFamily="34" charset="0"/>
              </a:rPr>
              <a:t>core</a:t>
            </a:r>
          </a:p>
        </p:txBody>
      </p:sp>
      <p:sp>
        <p:nvSpPr>
          <p:cNvPr id="8" name="TextBox 7">
            <a:extLst>
              <a:ext uri="{FF2B5EF4-FFF2-40B4-BE49-F238E27FC236}">
                <a16:creationId xmlns:a16="http://schemas.microsoft.com/office/drawing/2014/main" id="{9F4C489F-B7C3-CFA7-05A8-6A8DF564C517}"/>
              </a:ext>
            </a:extLst>
          </p:cNvPr>
          <p:cNvSpPr txBox="1"/>
          <p:nvPr/>
        </p:nvSpPr>
        <p:spPr>
          <a:xfrm>
            <a:off x="2133600" y="1854200"/>
            <a:ext cx="1168400" cy="276999"/>
          </a:xfrm>
          <a:prstGeom prst="rect">
            <a:avLst/>
          </a:prstGeom>
          <a:noFill/>
        </p:spPr>
        <p:txBody>
          <a:bodyPr vert="horz" wrap="square" lIns="0" tIns="0" rIns="0" bIns="0" rtlCol="0">
            <a:noAutofit/>
          </a:bodyPr>
          <a:lstStyle/>
          <a:p>
            <a:r>
              <a:rPr lang="en-IN" sz="3200" b="1">
                <a:solidFill>
                  <a:srgbClr val="4ADE80"/>
                </a:solidFill>
                <a:latin typeface="Aptos Display" panose="020B0004020202020204" pitchFamily="34" charset="0"/>
              </a:rPr>
              <a:t>18</a:t>
            </a:r>
          </a:p>
        </p:txBody>
      </p:sp>
      <p:sp>
        <p:nvSpPr>
          <p:cNvPr id="9" name="TextBox 8">
            <a:extLst>
              <a:ext uri="{FF2B5EF4-FFF2-40B4-BE49-F238E27FC236}">
                <a16:creationId xmlns:a16="http://schemas.microsoft.com/office/drawing/2014/main" id="{9029A536-74E2-0BE9-A6DF-B1677861DD0A}"/>
              </a:ext>
            </a:extLst>
          </p:cNvPr>
          <p:cNvSpPr txBox="1"/>
          <p:nvPr/>
        </p:nvSpPr>
        <p:spPr>
          <a:xfrm>
            <a:off x="2133600" y="2463800"/>
            <a:ext cx="1168400" cy="276999"/>
          </a:xfrm>
          <a:prstGeom prst="rect">
            <a:avLst/>
          </a:prstGeom>
          <a:noFill/>
        </p:spPr>
        <p:txBody>
          <a:bodyPr vert="horz" wrap="square" lIns="0" tIns="0" rIns="0" bIns="0" rtlCol="0">
            <a:noAutofit/>
          </a:bodyPr>
          <a:lstStyle/>
          <a:p>
            <a:r>
              <a:rPr lang="en-IN" sz="1300">
                <a:solidFill>
                  <a:srgbClr val="9299A6"/>
                </a:solidFill>
                <a:latin typeface="Aptos" panose="020B0004020202020204" pitchFamily="34" charset="0"/>
              </a:rPr>
              <a:t>variants</a:t>
            </a:r>
          </a:p>
        </p:txBody>
      </p:sp>
      <p:sp>
        <p:nvSpPr>
          <p:cNvPr id="10" name="TextBox 9">
            <a:extLst>
              <a:ext uri="{FF2B5EF4-FFF2-40B4-BE49-F238E27FC236}">
                <a16:creationId xmlns:a16="http://schemas.microsoft.com/office/drawing/2014/main" id="{E1D523CC-3B35-F508-5ABF-DA5FA629ABE8}"/>
              </a:ext>
            </a:extLst>
          </p:cNvPr>
          <p:cNvSpPr txBox="1"/>
          <p:nvPr/>
        </p:nvSpPr>
        <p:spPr>
          <a:xfrm>
            <a:off x="3530600" y="1854200"/>
            <a:ext cx="1168400" cy="276999"/>
          </a:xfrm>
          <a:prstGeom prst="rect">
            <a:avLst/>
          </a:prstGeom>
          <a:noFill/>
        </p:spPr>
        <p:txBody>
          <a:bodyPr vert="horz" wrap="square" lIns="0" tIns="0" rIns="0" bIns="0" rtlCol="0">
            <a:noAutofit/>
          </a:bodyPr>
          <a:lstStyle/>
          <a:p>
            <a:r>
              <a:rPr lang="en-IN" sz="3200" b="1">
                <a:solidFill>
                  <a:srgbClr val="F5A524"/>
                </a:solidFill>
                <a:latin typeface="Aptos Display" panose="020B0004020202020204" pitchFamily="34" charset="0"/>
              </a:rPr>
              <a:t>6</a:t>
            </a:r>
          </a:p>
        </p:txBody>
      </p:sp>
      <p:sp>
        <p:nvSpPr>
          <p:cNvPr id="11" name="TextBox 10">
            <a:extLst>
              <a:ext uri="{FF2B5EF4-FFF2-40B4-BE49-F238E27FC236}">
                <a16:creationId xmlns:a16="http://schemas.microsoft.com/office/drawing/2014/main" id="{FDA024EC-78AF-4C37-2DA3-ECF530E4B37A}"/>
              </a:ext>
            </a:extLst>
          </p:cNvPr>
          <p:cNvSpPr txBox="1"/>
          <p:nvPr/>
        </p:nvSpPr>
        <p:spPr>
          <a:xfrm>
            <a:off x="3530600" y="2463800"/>
            <a:ext cx="1168400" cy="276999"/>
          </a:xfrm>
          <a:prstGeom prst="rect">
            <a:avLst/>
          </a:prstGeom>
          <a:noFill/>
        </p:spPr>
        <p:txBody>
          <a:bodyPr vert="horz" wrap="square" lIns="0" tIns="0" rIns="0" bIns="0" rtlCol="0">
            <a:noAutofit/>
          </a:bodyPr>
          <a:lstStyle/>
          <a:p>
            <a:r>
              <a:rPr lang="en-IN" sz="1300">
                <a:solidFill>
                  <a:srgbClr val="9299A6"/>
                </a:solidFill>
                <a:latin typeface="Aptos" panose="020B0004020202020204" pitchFamily="34" charset="0"/>
              </a:rPr>
              <a:t>voice</a:t>
            </a:r>
          </a:p>
        </p:txBody>
      </p:sp>
      <p:sp>
        <p:nvSpPr>
          <p:cNvPr id="12" name="Rectangle: Rounded Corners 11">
            <a:extLst>
              <a:ext uri="{FF2B5EF4-FFF2-40B4-BE49-F238E27FC236}">
                <a16:creationId xmlns:a16="http://schemas.microsoft.com/office/drawing/2014/main" id="{348E96A0-96DE-60ED-6D37-1FE52C77A04E}"/>
              </a:ext>
            </a:extLst>
          </p:cNvPr>
          <p:cNvSpPr/>
          <p:nvPr/>
        </p:nvSpPr>
        <p:spPr>
          <a:xfrm>
            <a:off x="736600" y="3632200"/>
            <a:ext cx="1968500" cy="1041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9DEDAD5A-FB92-584F-5E06-C85C6AD717CA}"/>
              </a:ext>
            </a:extLst>
          </p:cNvPr>
          <p:cNvSpPr txBox="1"/>
          <p:nvPr/>
        </p:nvSpPr>
        <p:spPr>
          <a:xfrm>
            <a:off x="914400" y="3822700"/>
            <a:ext cx="16129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Case</a:t>
            </a:r>
          </a:p>
        </p:txBody>
      </p:sp>
      <p:sp>
        <p:nvSpPr>
          <p:cNvPr id="14" name="TextBox 13">
            <a:extLst>
              <a:ext uri="{FF2B5EF4-FFF2-40B4-BE49-F238E27FC236}">
                <a16:creationId xmlns:a16="http://schemas.microsoft.com/office/drawing/2014/main" id="{1CDF537F-624F-74AA-2B24-E95E6EA601AC}"/>
              </a:ext>
            </a:extLst>
          </p:cNvPr>
          <p:cNvSpPr txBox="1"/>
          <p:nvPr/>
        </p:nvSpPr>
        <p:spPr>
          <a:xfrm>
            <a:off x="914400" y="4191000"/>
            <a:ext cx="16129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utterance + expectations</a:t>
            </a:r>
          </a:p>
        </p:txBody>
      </p:sp>
      <p:sp>
        <p:nvSpPr>
          <p:cNvPr id="15" name="Rectangle: Rounded Corners 14">
            <a:extLst>
              <a:ext uri="{FF2B5EF4-FFF2-40B4-BE49-F238E27FC236}">
                <a16:creationId xmlns:a16="http://schemas.microsoft.com/office/drawing/2014/main" id="{2143B5AC-4C7C-F4C2-6AA2-23826DC48C95}"/>
              </a:ext>
            </a:extLst>
          </p:cNvPr>
          <p:cNvSpPr/>
          <p:nvPr/>
        </p:nvSpPr>
        <p:spPr>
          <a:xfrm>
            <a:off x="3162300" y="3632200"/>
            <a:ext cx="1968500" cy="1041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2B6479A2-7497-3B2D-0253-0E0B9EE25848}"/>
              </a:ext>
            </a:extLst>
          </p:cNvPr>
          <p:cNvSpPr txBox="1"/>
          <p:nvPr/>
        </p:nvSpPr>
        <p:spPr>
          <a:xfrm>
            <a:off x="3340100" y="3822700"/>
            <a:ext cx="16129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Live pipeline</a:t>
            </a:r>
          </a:p>
        </p:txBody>
      </p:sp>
      <p:sp>
        <p:nvSpPr>
          <p:cNvPr id="17" name="TextBox 16">
            <a:extLst>
              <a:ext uri="{FF2B5EF4-FFF2-40B4-BE49-F238E27FC236}">
                <a16:creationId xmlns:a16="http://schemas.microsoft.com/office/drawing/2014/main" id="{50251064-0847-930A-7AAD-4FEBFDDDEB94}"/>
              </a:ext>
            </a:extLst>
          </p:cNvPr>
          <p:cNvSpPr txBox="1"/>
          <p:nvPr/>
        </p:nvSpPr>
        <p:spPr>
          <a:xfrm>
            <a:off x="3340100" y="4191000"/>
            <a:ext cx="16129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model + MotherDuck</a:t>
            </a:r>
          </a:p>
        </p:txBody>
      </p:sp>
      <p:sp>
        <p:nvSpPr>
          <p:cNvPr id="18" name="Rectangle: Rounded Corners 17">
            <a:extLst>
              <a:ext uri="{FF2B5EF4-FFF2-40B4-BE49-F238E27FC236}">
                <a16:creationId xmlns:a16="http://schemas.microsoft.com/office/drawing/2014/main" id="{53EDA440-14F2-0EB6-E783-0946169AD4D2}"/>
              </a:ext>
            </a:extLst>
          </p:cNvPr>
          <p:cNvSpPr/>
          <p:nvPr/>
        </p:nvSpPr>
        <p:spPr>
          <a:xfrm>
            <a:off x="5588000" y="3632200"/>
            <a:ext cx="2286000" cy="1041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90119C7D-BD43-9A11-2CAB-F68EE8A4D876}"/>
              </a:ext>
            </a:extLst>
          </p:cNvPr>
          <p:cNvSpPr txBox="1"/>
          <p:nvPr/>
        </p:nvSpPr>
        <p:spPr>
          <a:xfrm>
            <a:off x="5765800" y="3822700"/>
            <a:ext cx="19304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Behavior checks</a:t>
            </a:r>
          </a:p>
        </p:txBody>
      </p:sp>
      <p:sp>
        <p:nvSpPr>
          <p:cNvPr id="20" name="TextBox 19">
            <a:extLst>
              <a:ext uri="{FF2B5EF4-FFF2-40B4-BE49-F238E27FC236}">
                <a16:creationId xmlns:a16="http://schemas.microsoft.com/office/drawing/2014/main" id="{E57A8F43-DA28-F246-C1DF-057FB6389334}"/>
              </a:ext>
            </a:extLst>
          </p:cNvPr>
          <p:cNvSpPr txBox="1"/>
          <p:nvPr/>
        </p:nvSpPr>
        <p:spPr>
          <a:xfrm>
            <a:off x="5765800" y="4191000"/>
            <a:ext cx="19304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action, filters, IDs, facts</a:t>
            </a:r>
          </a:p>
        </p:txBody>
      </p:sp>
      <p:sp>
        <p:nvSpPr>
          <p:cNvPr id="21" name="Rectangle: Rounded Corners 20">
            <a:extLst>
              <a:ext uri="{FF2B5EF4-FFF2-40B4-BE49-F238E27FC236}">
                <a16:creationId xmlns:a16="http://schemas.microsoft.com/office/drawing/2014/main" id="{EAA7F7BD-40DD-9695-3DCF-A257C243EB7C}"/>
              </a:ext>
            </a:extLst>
          </p:cNvPr>
          <p:cNvSpPr/>
          <p:nvPr/>
        </p:nvSpPr>
        <p:spPr>
          <a:xfrm>
            <a:off x="8331200" y="3632200"/>
            <a:ext cx="3022600" cy="1041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243D3430-ECB8-8B68-CC0E-385CC135089C}"/>
              </a:ext>
            </a:extLst>
          </p:cNvPr>
          <p:cNvSpPr txBox="1"/>
          <p:nvPr/>
        </p:nvSpPr>
        <p:spPr>
          <a:xfrm>
            <a:off x="8509000" y="3822700"/>
            <a:ext cx="26670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Report</a:t>
            </a:r>
          </a:p>
        </p:txBody>
      </p:sp>
      <p:sp>
        <p:nvSpPr>
          <p:cNvPr id="23" name="TextBox 22">
            <a:extLst>
              <a:ext uri="{FF2B5EF4-FFF2-40B4-BE49-F238E27FC236}">
                <a16:creationId xmlns:a16="http://schemas.microsoft.com/office/drawing/2014/main" id="{28F8F54E-236F-0512-D553-F41DC59D4610}"/>
              </a:ext>
            </a:extLst>
          </p:cNvPr>
          <p:cNvSpPr txBox="1"/>
          <p:nvPr/>
        </p:nvSpPr>
        <p:spPr>
          <a:xfrm>
            <a:off x="8509000" y="4191000"/>
            <a:ext cx="2667000" cy="276999"/>
          </a:xfrm>
          <a:prstGeom prst="rect">
            <a:avLst/>
          </a:prstGeom>
          <a:noFill/>
        </p:spPr>
        <p:txBody>
          <a:bodyPr vert="horz" wrap="square" lIns="0" tIns="0" rIns="0" bIns="0" rtlCol="0">
            <a:noAutofit/>
          </a:bodyPr>
          <a:lstStyle/>
          <a:p>
            <a:r>
              <a:rPr lang="en-IN" sz="1100">
                <a:solidFill>
                  <a:srgbClr val="9299A6"/>
                </a:solidFill>
                <a:latin typeface="Aptos" panose="020B0004020202020204" pitchFamily="34" charset="0"/>
              </a:rPr>
              <a:t>pass, latency, tokens, cost</a:t>
            </a:r>
          </a:p>
        </p:txBody>
      </p:sp>
      <p:cxnSp>
        <p:nvCxnSpPr>
          <p:cNvPr id="24" name="Straight Connector 23">
            <a:extLst>
              <a:ext uri="{FF2B5EF4-FFF2-40B4-BE49-F238E27FC236}">
                <a16:creationId xmlns:a16="http://schemas.microsoft.com/office/drawing/2014/main" id="{335E6FF7-A92C-A5C8-4083-5FF390EB126D}"/>
              </a:ext>
            </a:extLst>
          </p:cNvPr>
          <p:cNvCxnSpPr/>
          <p:nvPr/>
        </p:nvCxnSpPr>
        <p:spPr>
          <a:xfrm>
            <a:off x="2705100" y="4152900"/>
            <a:ext cx="4572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E9372E4-234A-8EEB-5054-556B3D423846}"/>
              </a:ext>
            </a:extLst>
          </p:cNvPr>
          <p:cNvCxnSpPr/>
          <p:nvPr/>
        </p:nvCxnSpPr>
        <p:spPr>
          <a:xfrm>
            <a:off x="5130800" y="4152900"/>
            <a:ext cx="4572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A94B9B1F-5804-BB70-646E-A4878AE4B1FD}"/>
              </a:ext>
            </a:extLst>
          </p:cNvPr>
          <p:cNvCxnSpPr/>
          <p:nvPr/>
        </p:nvCxnSpPr>
        <p:spPr>
          <a:xfrm>
            <a:off x="7874000" y="4152900"/>
            <a:ext cx="4572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22EA2EDD-4FD2-81F3-7CC2-451183602293}"/>
              </a:ext>
            </a:extLst>
          </p:cNvPr>
          <p:cNvSpPr txBox="1"/>
          <p:nvPr/>
        </p:nvSpPr>
        <p:spPr>
          <a:xfrm>
            <a:off x="736600" y="5346700"/>
            <a:ext cx="10160000" cy="276999"/>
          </a:xfrm>
          <a:prstGeom prst="rect">
            <a:avLst/>
          </a:prstGeom>
          <a:noFill/>
        </p:spPr>
        <p:txBody>
          <a:bodyPr vert="horz" wrap="square" lIns="0" tIns="0" rIns="0" bIns="0" rtlCol="0">
            <a:noAutofit/>
          </a:bodyPr>
          <a:lstStyle/>
          <a:p>
            <a:r>
              <a:rPr lang="en-US" b="1">
                <a:solidFill>
                  <a:srgbClr val="F7F8FA"/>
                </a:solidFill>
                <a:latin typeface="Aptos" panose="020B0004020202020204" pitchFamily="34" charset="0"/>
              </a:rPr>
              <a:t>A pass does not depend on one exact sentence. It depends on the executed behavior and catalog facts.</a:t>
            </a:r>
            <a:endParaRPr lang="en-IN" b="1">
              <a:solidFill>
                <a:srgbClr val="F7F8FA"/>
              </a:solidFill>
              <a:latin typeface="Aptos" panose="020B0004020202020204" pitchFamily="34" charset="0"/>
            </a:endParaRPr>
          </a:p>
        </p:txBody>
      </p:sp>
    </p:spTree>
    <p:extLst>
      <p:ext uri="{BB962C8B-B14F-4D97-AF65-F5344CB8AC3E}">
        <p14:creationId xmlns:p14="http://schemas.microsoft.com/office/powerpoint/2010/main" val="2931217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BE8FC4-184E-D9D1-F930-EDC94E0BBE1E}"/>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APPENDIX</a:t>
            </a:r>
          </a:p>
        </p:txBody>
      </p:sp>
      <p:sp>
        <p:nvSpPr>
          <p:cNvPr id="3" name="TextBox 2">
            <a:extLst>
              <a:ext uri="{FF2B5EF4-FFF2-40B4-BE49-F238E27FC236}">
                <a16:creationId xmlns:a16="http://schemas.microsoft.com/office/drawing/2014/main" id="{038DAD0B-57EC-C9E2-EF15-EE92578BCC0E}"/>
              </a:ext>
            </a:extLst>
          </p:cNvPr>
          <p:cNvSpPr txBox="1"/>
          <p:nvPr/>
        </p:nvSpPr>
        <p:spPr>
          <a:xfrm>
            <a:off x="711200" y="673100"/>
            <a:ext cx="10795000" cy="276999"/>
          </a:xfrm>
          <a:prstGeom prst="rect">
            <a:avLst/>
          </a:prstGeom>
          <a:noFill/>
        </p:spPr>
        <p:txBody>
          <a:bodyPr vert="horz" wrap="square" lIns="0" tIns="0" rIns="0" bIns="0" rtlCol="0">
            <a:noAutofit/>
          </a:bodyPr>
          <a:lstStyle/>
          <a:p>
            <a:r>
              <a:rPr lang="en-US" sz="3100" b="1">
                <a:solidFill>
                  <a:srgbClr val="F7F8FA"/>
                </a:solidFill>
                <a:latin typeface="Aptos Display" panose="020B0004020202020204" pitchFamily="34" charset="0"/>
              </a:rPr>
              <a:t>How the synthetic catalog stays believable</a:t>
            </a:r>
            <a:endParaRPr lang="en-IN" sz="3100" b="1">
              <a:solidFill>
                <a:srgbClr val="F7F8FA"/>
              </a:solidFill>
              <a:latin typeface="Aptos Display" panose="020B0004020202020204" pitchFamily="34" charset="0"/>
            </a:endParaRPr>
          </a:p>
        </p:txBody>
      </p:sp>
      <p:cxnSp>
        <p:nvCxnSpPr>
          <p:cNvPr id="4" name="Straight Connector 3">
            <a:extLst>
              <a:ext uri="{FF2B5EF4-FFF2-40B4-BE49-F238E27FC236}">
                <a16:creationId xmlns:a16="http://schemas.microsoft.com/office/drawing/2014/main" id="{BEBEA00D-B757-B3B9-CADF-B68101DAADC7}"/>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8C03E43-C9E1-44F6-E84F-8C7DCCBB993C}"/>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13</a:t>
            </a:r>
          </a:p>
        </p:txBody>
      </p:sp>
      <p:sp>
        <p:nvSpPr>
          <p:cNvPr id="6" name="TextBox 5">
            <a:extLst>
              <a:ext uri="{FF2B5EF4-FFF2-40B4-BE49-F238E27FC236}">
                <a16:creationId xmlns:a16="http://schemas.microsoft.com/office/drawing/2014/main" id="{FA10BA23-923B-4995-1715-CEEBD2BAFE22}"/>
              </a:ext>
            </a:extLst>
          </p:cNvPr>
          <p:cNvSpPr txBox="1"/>
          <p:nvPr/>
        </p:nvSpPr>
        <p:spPr>
          <a:xfrm>
            <a:off x="736600" y="1625600"/>
            <a:ext cx="2159000" cy="276999"/>
          </a:xfrm>
          <a:prstGeom prst="rect">
            <a:avLst/>
          </a:prstGeom>
          <a:noFill/>
        </p:spPr>
        <p:txBody>
          <a:bodyPr vert="horz" wrap="square" lIns="0" tIns="0" rIns="0" bIns="0" rtlCol="0">
            <a:noAutofit/>
          </a:bodyPr>
          <a:lstStyle/>
          <a:p>
            <a:r>
              <a:rPr lang="en-IN" sz="4200" b="1">
                <a:solidFill>
                  <a:srgbClr val="F7F8FA"/>
                </a:solidFill>
                <a:latin typeface="Aptos Display" panose="020B0004020202020204" pitchFamily="34" charset="0"/>
              </a:rPr>
              <a:t>1,000</a:t>
            </a:r>
          </a:p>
        </p:txBody>
      </p:sp>
      <p:sp>
        <p:nvSpPr>
          <p:cNvPr id="7" name="TextBox 6">
            <a:extLst>
              <a:ext uri="{FF2B5EF4-FFF2-40B4-BE49-F238E27FC236}">
                <a16:creationId xmlns:a16="http://schemas.microsoft.com/office/drawing/2014/main" id="{A6A0A676-EB01-1583-B0ED-DB8619435CF9}"/>
              </a:ext>
            </a:extLst>
          </p:cNvPr>
          <p:cNvSpPr txBox="1"/>
          <p:nvPr/>
        </p:nvSpPr>
        <p:spPr>
          <a:xfrm>
            <a:off x="762000" y="2451100"/>
            <a:ext cx="3302000" cy="276999"/>
          </a:xfrm>
          <a:prstGeom prst="rect">
            <a:avLst/>
          </a:prstGeom>
          <a:noFill/>
        </p:spPr>
        <p:txBody>
          <a:bodyPr vert="horz" wrap="square" lIns="0" tIns="0" rIns="0" bIns="0" rtlCol="0">
            <a:noAutofit/>
          </a:bodyPr>
          <a:lstStyle/>
          <a:p>
            <a:r>
              <a:rPr lang="en-US" sz="1400">
                <a:solidFill>
                  <a:srgbClr val="9299A6"/>
                </a:solidFill>
                <a:latin typeface="Aptos" panose="020B0004020202020204" pitchFamily="34" charset="0"/>
              </a:rPr>
              <a:t>listings generated with seed 42</a:t>
            </a:r>
            <a:endParaRPr lang="en-IN" sz="1400">
              <a:solidFill>
                <a:srgbClr val="9299A6"/>
              </a:solidFill>
              <a:latin typeface="Aptos" panose="020B0004020202020204" pitchFamily="34" charset="0"/>
            </a:endParaRPr>
          </a:p>
        </p:txBody>
      </p:sp>
      <p:sp>
        <p:nvSpPr>
          <p:cNvPr id="8" name="Rectangle: Rounded Corners 7">
            <a:extLst>
              <a:ext uri="{FF2B5EF4-FFF2-40B4-BE49-F238E27FC236}">
                <a16:creationId xmlns:a16="http://schemas.microsoft.com/office/drawing/2014/main" id="{AD7CDA66-473B-D227-4283-729D14E4B7A0}"/>
              </a:ext>
            </a:extLst>
          </p:cNvPr>
          <p:cNvSpPr/>
          <p:nvPr/>
        </p:nvSpPr>
        <p:spPr>
          <a:xfrm>
            <a:off x="736600" y="3429000"/>
            <a:ext cx="1676400" cy="1168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3302BA45-0048-5A58-D261-5AA5672CF7C2}"/>
              </a:ext>
            </a:extLst>
          </p:cNvPr>
          <p:cNvSpPr txBox="1"/>
          <p:nvPr/>
        </p:nvSpPr>
        <p:spPr>
          <a:xfrm>
            <a:off x="889000" y="3657600"/>
            <a:ext cx="1371600" cy="276999"/>
          </a:xfrm>
          <a:prstGeom prst="rect">
            <a:avLst/>
          </a:prstGeom>
          <a:noFill/>
        </p:spPr>
        <p:txBody>
          <a:bodyPr vert="horz" wrap="square" lIns="0" tIns="0" rIns="0" bIns="0" rtlCol="0">
            <a:noAutofit/>
          </a:bodyPr>
          <a:lstStyle/>
          <a:p>
            <a:r>
              <a:rPr lang="en-IN" sz="1500" b="1">
                <a:solidFill>
                  <a:srgbClr val="F7F8FA"/>
                </a:solidFill>
                <a:latin typeface="Aptos" panose="020B0004020202020204" pitchFamily="34" charset="0"/>
              </a:rPr>
              <a:t>Reference specs</a:t>
            </a:r>
          </a:p>
        </p:txBody>
      </p:sp>
      <p:sp>
        <p:nvSpPr>
          <p:cNvPr id="10" name="TextBox 9">
            <a:extLst>
              <a:ext uri="{FF2B5EF4-FFF2-40B4-BE49-F238E27FC236}">
                <a16:creationId xmlns:a16="http://schemas.microsoft.com/office/drawing/2014/main" id="{5474978B-929A-B6A8-4955-5BE36070FB72}"/>
              </a:ext>
            </a:extLst>
          </p:cNvPr>
          <p:cNvSpPr txBox="1"/>
          <p:nvPr/>
        </p:nvSpPr>
        <p:spPr>
          <a:xfrm>
            <a:off x="889000" y="4076700"/>
            <a:ext cx="1371600" cy="276999"/>
          </a:xfrm>
          <a:prstGeom prst="rect">
            <a:avLst/>
          </a:prstGeom>
          <a:noFill/>
        </p:spPr>
        <p:txBody>
          <a:bodyPr vert="horz" wrap="square" lIns="0" tIns="0" rIns="0" bIns="0" rtlCol="0">
            <a:noAutofit/>
          </a:bodyPr>
          <a:lstStyle/>
          <a:p>
            <a:r>
              <a:rPr lang="en-IN" sz="1000">
                <a:solidFill>
                  <a:srgbClr val="9299A6"/>
                </a:solidFill>
                <a:latin typeface="Aptos" panose="020B0004020202020204" pitchFamily="34" charset="0"/>
              </a:rPr>
              <a:t>source URLs kept</a:t>
            </a:r>
          </a:p>
        </p:txBody>
      </p:sp>
      <p:sp>
        <p:nvSpPr>
          <p:cNvPr id="11" name="Rectangle: Rounded Corners 10">
            <a:extLst>
              <a:ext uri="{FF2B5EF4-FFF2-40B4-BE49-F238E27FC236}">
                <a16:creationId xmlns:a16="http://schemas.microsoft.com/office/drawing/2014/main" id="{1FB08B02-3C0B-9D7B-EBE8-CB0421AB6FD9}"/>
              </a:ext>
            </a:extLst>
          </p:cNvPr>
          <p:cNvSpPr/>
          <p:nvPr/>
        </p:nvSpPr>
        <p:spPr>
          <a:xfrm>
            <a:off x="2768600" y="3429000"/>
            <a:ext cx="1676400" cy="1168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C760BF1-FDD3-D9F8-8D07-8C1CBFED6E17}"/>
              </a:ext>
            </a:extLst>
          </p:cNvPr>
          <p:cNvSpPr txBox="1"/>
          <p:nvPr/>
        </p:nvSpPr>
        <p:spPr>
          <a:xfrm>
            <a:off x="2921000" y="3657600"/>
            <a:ext cx="1371600" cy="276999"/>
          </a:xfrm>
          <a:prstGeom prst="rect">
            <a:avLst/>
          </a:prstGeom>
          <a:noFill/>
        </p:spPr>
        <p:txBody>
          <a:bodyPr vert="horz" wrap="square" lIns="0" tIns="0" rIns="0" bIns="0" rtlCol="0">
            <a:noAutofit/>
          </a:bodyPr>
          <a:lstStyle/>
          <a:p>
            <a:r>
              <a:rPr lang="en-IN" sz="1500" b="1">
                <a:solidFill>
                  <a:srgbClr val="F7F8FA"/>
                </a:solidFill>
                <a:latin typeface="Aptos" panose="020B0004020202020204" pitchFamily="34" charset="0"/>
              </a:rPr>
              <a:t>Compatible model</a:t>
            </a:r>
          </a:p>
        </p:txBody>
      </p:sp>
      <p:sp>
        <p:nvSpPr>
          <p:cNvPr id="13" name="TextBox 12">
            <a:extLst>
              <a:ext uri="{FF2B5EF4-FFF2-40B4-BE49-F238E27FC236}">
                <a16:creationId xmlns:a16="http://schemas.microsoft.com/office/drawing/2014/main" id="{62991334-A424-E7F3-BEE4-831E5269C2A7}"/>
              </a:ext>
            </a:extLst>
          </p:cNvPr>
          <p:cNvSpPr txBox="1"/>
          <p:nvPr/>
        </p:nvSpPr>
        <p:spPr>
          <a:xfrm>
            <a:off x="2921000" y="4076700"/>
            <a:ext cx="1371600" cy="276999"/>
          </a:xfrm>
          <a:prstGeom prst="rect">
            <a:avLst/>
          </a:prstGeom>
          <a:noFill/>
        </p:spPr>
        <p:txBody>
          <a:bodyPr vert="horz" wrap="square" lIns="0" tIns="0" rIns="0" bIns="0" rtlCol="0">
            <a:noAutofit/>
          </a:bodyPr>
          <a:lstStyle/>
          <a:p>
            <a:r>
              <a:rPr lang="en-IN" sz="1000">
                <a:solidFill>
                  <a:srgbClr val="9299A6"/>
                </a:solidFill>
                <a:latin typeface="Aptos" panose="020B0004020202020204" pitchFamily="34" charset="0"/>
              </a:rPr>
              <a:t>fuel + weight class</a:t>
            </a:r>
          </a:p>
        </p:txBody>
      </p:sp>
      <p:sp>
        <p:nvSpPr>
          <p:cNvPr id="14" name="Rectangle: Rounded Corners 13">
            <a:extLst>
              <a:ext uri="{FF2B5EF4-FFF2-40B4-BE49-F238E27FC236}">
                <a16:creationId xmlns:a16="http://schemas.microsoft.com/office/drawing/2014/main" id="{6BD2B579-00A1-E68B-5094-CABD0E0D089E}"/>
              </a:ext>
            </a:extLst>
          </p:cNvPr>
          <p:cNvSpPr/>
          <p:nvPr/>
        </p:nvSpPr>
        <p:spPr>
          <a:xfrm>
            <a:off x="4800600" y="3429000"/>
            <a:ext cx="1676400" cy="1168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56E18830-5A38-4872-4FF4-89B78D6D8BC8}"/>
              </a:ext>
            </a:extLst>
          </p:cNvPr>
          <p:cNvSpPr txBox="1"/>
          <p:nvPr/>
        </p:nvSpPr>
        <p:spPr>
          <a:xfrm>
            <a:off x="4953000" y="3657600"/>
            <a:ext cx="1371600" cy="276999"/>
          </a:xfrm>
          <a:prstGeom prst="rect">
            <a:avLst/>
          </a:prstGeom>
          <a:noFill/>
        </p:spPr>
        <p:txBody>
          <a:bodyPr vert="horz" wrap="square" lIns="0" tIns="0" rIns="0" bIns="0" rtlCol="0">
            <a:noAutofit/>
          </a:bodyPr>
          <a:lstStyle/>
          <a:p>
            <a:r>
              <a:rPr lang="en-IN" sz="1500" b="1">
                <a:solidFill>
                  <a:srgbClr val="F7F8FA"/>
                </a:solidFill>
                <a:latin typeface="Aptos" panose="020B0004020202020204" pitchFamily="34" charset="0"/>
              </a:rPr>
              <a:t>Used listing</a:t>
            </a:r>
          </a:p>
        </p:txBody>
      </p:sp>
      <p:sp>
        <p:nvSpPr>
          <p:cNvPr id="16" name="TextBox 15">
            <a:extLst>
              <a:ext uri="{FF2B5EF4-FFF2-40B4-BE49-F238E27FC236}">
                <a16:creationId xmlns:a16="http://schemas.microsoft.com/office/drawing/2014/main" id="{2FF309E8-4B61-4163-09D4-BBE7F0442425}"/>
              </a:ext>
            </a:extLst>
          </p:cNvPr>
          <p:cNvSpPr txBox="1"/>
          <p:nvPr/>
        </p:nvSpPr>
        <p:spPr>
          <a:xfrm>
            <a:off x="4953000" y="4076700"/>
            <a:ext cx="1371600" cy="276999"/>
          </a:xfrm>
          <a:prstGeom prst="rect">
            <a:avLst/>
          </a:prstGeom>
          <a:noFill/>
        </p:spPr>
        <p:txBody>
          <a:bodyPr vert="horz" wrap="square" lIns="0" tIns="0" rIns="0" bIns="0" rtlCol="0">
            <a:noAutofit/>
          </a:bodyPr>
          <a:lstStyle/>
          <a:p>
            <a:r>
              <a:rPr lang="en-IN" sz="1000">
                <a:solidFill>
                  <a:srgbClr val="9299A6"/>
                </a:solidFill>
                <a:latin typeface="Aptos" panose="020B0004020202020204" pitchFamily="34" charset="0"/>
              </a:rPr>
              <a:t>age, km, price, city</a:t>
            </a:r>
          </a:p>
        </p:txBody>
      </p:sp>
      <p:sp>
        <p:nvSpPr>
          <p:cNvPr id="17" name="Rectangle: Rounded Corners 16">
            <a:extLst>
              <a:ext uri="{FF2B5EF4-FFF2-40B4-BE49-F238E27FC236}">
                <a16:creationId xmlns:a16="http://schemas.microsoft.com/office/drawing/2014/main" id="{D768D50A-049F-6BAA-BAAE-BAEF21493A22}"/>
              </a:ext>
            </a:extLst>
          </p:cNvPr>
          <p:cNvSpPr/>
          <p:nvPr/>
        </p:nvSpPr>
        <p:spPr>
          <a:xfrm>
            <a:off x="6832600" y="3429000"/>
            <a:ext cx="1676400" cy="1168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F3F01BF1-4365-4157-24D3-378FF066B5E5}"/>
              </a:ext>
            </a:extLst>
          </p:cNvPr>
          <p:cNvSpPr txBox="1"/>
          <p:nvPr/>
        </p:nvSpPr>
        <p:spPr>
          <a:xfrm>
            <a:off x="6985000" y="3657600"/>
            <a:ext cx="1371600" cy="276999"/>
          </a:xfrm>
          <a:prstGeom prst="rect">
            <a:avLst/>
          </a:prstGeom>
          <a:noFill/>
        </p:spPr>
        <p:txBody>
          <a:bodyPr vert="horz" wrap="square" lIns="0" tIns="0" rIns="0" bIns="0" rtlCol="0">
            <a:noAutofit/>
          </a:bodyPr>
          <a:lstStyle/>
          <a:p>
            <a:r>
              <a:rPr lang="en-IN" sz="1500" b="1">
                <a:solidFill>
                  <a:srgbClr val="F7F8FA"/>
                </a:solidFill>
                <a:latin typeface="Aptos" panose="020B0004020202020204" pitchFamily="34" charset="0"/>
              </a:rPr>
              <a:t>Validation</a:t>
            </a:r>
          </a:p>
        </p:txBody>
      </p:sp>
      <p:sp>
        <p:nvSpPr>
          <p:cNvPr id="19" name="TextBox 18">
            <a:extLst>
              <a:ext uri="{FF2B5EF4-FFF2-40B4-BE49-F238E27FC236}">
                <a16:creationId xmlns:a16="http://schemas.microsoft.com/office/drawing/2014/main" id="{8E4B8650-304B-226F-6938-5A4DEE196944}"/>
              </a:ext>
            </a:extLst>
          </p:cNvPr>
          <p:cNvSpPr txBox="1"/>
          <p:nvPr/>
        </p:nvSpPr>
        <p:spPr>
          <a:xfrm>
            <a:off x="6985000" y="4076700"/>
            <a:ext cx="1371600" cy="276999"/>
          </a:xfrm>
          <a:prstGeom prst="rect">
            <a:avLst/>
          </a:prstGeom>
          <a:noFill/>
        </p:spPr>
        <p:txBody>
          <a:bodyPr vert="horz" wrap="square" lIns="0" tIns="0" rIns="0" bIns="0" rtlCol="0">
            <a:noAutofit/>
          </a:bodyPr>
          <a:lstStyle/>
          <a:p>
            <a:r>
              <a:rPr lang="en-IN" sz="1000">
                <a:solidFill>
                  <a:srgbClr val="9299A6"/>
                </a:solidFill>
                <a:latin typeface="Aptos" panose="020B0004020202020204" pitchFamily="34" charset="0"/>
              </a:rPr>
              <a:t>Pydantic + taxonomy</a:t>
            </a:r>
          </a:p>
        </p:txBody>
      </p:sp>
      <p:sp>
        <p:nvSpPr>
          <p:cNvPr id="20" name="Rectangle: Rounded Corners 19">
            <a:extLst>
              <a:ext uri="{FF2B5EF4-FFF2-40B4-BE49-F238E27FC236}">
                <a16:creationId xmlns:a16="http://schemas.microsoft.com/office/drawing/2014/main" id="{6FC4BA12-CFB3-2EBA-D751-DD9653B08927}"/>
              </a:ext>
            </a:extLst>
          </p:cNvPr>
          <p:cNvSpPr/>
          <p:nvPr/>
        </p:nvSpPr>
        <p:spPr>
          <a:xfrm>
            <a:off x="8864600" y="3429000"/>
            <a:ext cx="1676400" cy="1168400"/>
          </a:xfrm>
          <a:prstGeom prst="roundRect">
            <a:avLst/>
          </a:prstGeom>
          <a:solidFill>
            <a:srgbClr val="11151D"/>
          </a:solidFill>
          <a:ln w="12700">
            <a:solidFill>
              <a:srgbClr val="181D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14304420-16BB-E8D7-421E-706F95D2EBBD}"/>
              </a:ext>
            </a:extLst>
          </p:cNvPr>
          <p:cNvSpPr txBox="1"/>
          <p:nvPr/>
        </p:nvSpPr>
        <p:spPr>
          <a:xfrm>
            <a:off x="9017000" y="3657600"/>
            <a:ext cx="1371600" cy="276999"/>
          </a:xfrm>
          <a:prstGeom prst="rect">
            <a:avLst/>
          </a:prstGeom>
          <a:noFill/>
        </p:spPr>
        <p:txBody>
          <a:bodyPr vert="horz" wrap="square" lIns="0" tIns="0" rIns="0" bIns="0" rtlCol="0">
            <a:noAutofit/>
          </a:bodyPr>
          <a:lstStyle/>
          <a:p>
            <a:r>
              <a:rPr lang="en-IN" sz="1500" b="1">
                <a:solidFill>
                  <a:srgbClr val="F7F8FA"/>
                </a:solidFill>
                <a:latin typeface="Aptos" panose="020B0004020202020204" pitchFamily="34" charset="0"/>
              </a:rPr>
              <a:t>MotherDuck</a:t>
            </a:r>
          </a:p>
        </p:txBody>
      </p:sp>
      <p:sp>
        <p:nvSpPr>
          <p:cNvPr id="22" name="TextBox 21">
            <a:extLst>
              <a:ext uri="{FF2B5EF4-FFF2-40B4-BE49-F238E27FC236}">
                <a16:creationId xmlns:a16="http://schemas.microsoft.com/office/drawing/2014/main" id="{3E1851A2-6F4E-935C-73BC-E45FF415AFE4}"/>
              </a:ext>
            </a:extLst>
          </p:cNvPr>
          <p:cNvSpPr txBox="1"/>
          <p:nvPr/>
        </p:nvSpPr>
        <p:spPr>
          <a:xfrm>
            <a:off x="9017000" y="4076700"/>
            <a:ext cx="1371600" cy="276999"/>
          </a:xfrm>
          <a:prstGeom prst="rect">
            <a:avLst/>
          </a:prstGeom>
          <a:noFill/>
        </p:spPr>
        <p:txBody>
          <a:bodyPr vert="horz" wrap="square" lIns="0" tIns="0" rIns="0" bIns="0" rtlCol="0">
            <a:noAutofit/>
          </a:bodyPr>
          <a:lstStyle/>
          <a:p>
            <a:r>
              <a:rPr lang="en-IN" sz="1000">
                <a:solidFill>
                  <a:srgbClr val="9299A6"/>
                </a:solidFill>
                <a:latin typeface="Aptos" panose="020B0004020202020204" pitchFamily="34" charset="0"/>
              </a:rPr>
              <a:t>read-only search</a:t>
            </a:r>
          </a:p>
        </p:txBody>
      </p:sp>
      <p:cxnSp>
        <p:nvCxnSpPr>
          <p:cNvPr id="23" name="Straight Connector 22">
            <a:extLst>
              <a:ext uri="{FF2B5EF4-FFF2-40B4-BE49-F238E27FC236}">
                <a16:creationId xmlns:a16="http://schemas.microsoft.com/office/drawing/2014/main" id="{6881648A-1785-6AFF-A723-3C8AB58E4FBA}"/>
              </a:ext>
            </a:extLst>
          </p:cNvPr>
          <p:cNvCxnSpPr/>
          <p:nvPr/>
        </p:nvCxnSpPr>
        <p:spPr>
          <a:xfrm>
            <a:off x="2413000" y="4013200"/>
            <a:ext cx="3556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482DCB85-C2ED-D38C-ED9A-B21705BF693B}"/>
              </a:ext>
            </a:extLst>
          </p:cNvPr>
          <p:cNvCxnSpPr/>
          <p:nvPr/>
        </p:nvCxnSpPr>
        <p:spPr>
          <a:xfrm>
            <a:off x="4445000" y="4013200"/>
            <a:ext cx="3556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F5F52E-2520-079A-00E1-662C2489DE13}"/>
              </a:ext>
            </a:extLst>
          </p:cNvPr>
          <p:cNvCxnSpPr/>
          <p:nvPr/>
        </p:nvCxnSpPr>
        <p:spPr>
          <a:xfrm>
            <a:off x="6477000" y="4013200"/>
            <a:ext cx="3556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F2DFBDA-4488-21D5-FB9B-8C93666EB8C2}"/>
              </a:ext>
            </a:extLst>
          </p:cNvPr>
          <p:cNvCxnSpPr/>
          <p:nvPr/>
        </p:nvCxnSpPr>
        <p:spPr>
          <a:xfrm>
            <a:off x="8509000" y="4013200"/>
            <a:ext cx="355600" cy="0"/>
          </a:xfrm>
          <a:prstGeom prst="line">
            <a:avLst/>
          </a:prstGeom>
          <a:ln w="25400">
            <a:solidFill>
              <a:srgbClr val="42B6FF"/>
            </a:solidFill>
            <a:tailEnd type="arrow"/>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C3C95B4-9B39-FC61-2B5E-5A2E1AEA450A}"/>
              </a:ext>
            </a:extLst>
          </p:cNvPr>
          <p:cNvSpPr txBox="1"/>
          <p:nvPr/>
        </p:nvSpPr>
        <p:spPr>
          <a:xfrm>
            <a:off x="736600" y="5168900"/>
            <a:ext cx="6731000" cy="276999"/>
          </a:xfrm>
          <a:prstGeom prst="rect">
            <a:avLst/>
          </a:prstGeom>
          <a:noFill/>
        </p:spPr>
        <p:txBody>
          <a:bodyPr vert="horz" wrap="square" lIns="0" tIns="0" rIns="0" bIns="0" rtlCol="0">
            <a:noAutofit/>
          </a:bodyPr>
          <a:lstStyle/>
          <a:p>
            <a:r>
              <a:rPr lang="en-US" sz="1700" b="1">
                <a:solidFill>
                  <a:srgbClr val="F7F8FA"/>
                </a:solidFill>
                <a:latin typeface="Aptos" panose="020B0004020202020204" pitchFamily="34" charset="0"/>
              </a:rPr>
              <a:t>Vehicle specifications stay attached to compatible models.</a:t>
            </a:r>
            <a:endParaRPr lang="en-IN" sz="1700" b="1">
              <a:solidFill>
                <a:srgbClr val="F7F8FA"/>
              </a:solidFill>
              <a:latin typeface="Aptos" panose="020B0004020202020204" pitchFamily="34" charset="0"/>
            </a:endParaRPr>
          </a:p>
        </p:txBody>
      </p:sp>
      <p:sp>
        <p:nvSpPr>
          <p:cNvPr id="28" name="TextBox 27">
            <a:extLst>
              <a:ext uri="{FF2B5EF4-FFF2-40B4-BE49-F238E27FC236}">
                <a16:creationId xmlns:a16="http://schemas.microsoft.com/office/drawing/2014/main" id="{5377F5A2-4445-292A-806A-90607706F6BF}"/>
              </a:ext>
            </a:extLst>
          </p:cNvPr>
          <p:cNvSpPr txBox="1"/>
          <p:nvPr/>
        </p:nvSpPr>
        <p:spPr>
          <a:xfrm>
            <a:off x="736600" y="5575300"/>
            <a:ext cx="9652000" cy="276999"/>
          </a:xfrm>
          <a:prstGeom prst="rect">
            <a:avLst/>
          </a:prstGeom>
          <a:noFill/>
        </p:spPr>
        <p:txBody>
          <a:bodyPr vert="horz" wrap="square" lIns="0" tIns="0" rIns="0" bIns="0" rtlCol="0">
            <a:noAutofit/>
          </a:bodyPr>
          <a:lstStyle/>
          <a:p>
            <a:r>
              <a:rPr lang="en-US" sz="1400">
                <a:solidFill>
                  <a:srgbClr val="9299A6"/>
                </a:solidFill>
                <a:latin typeface="Aptos" panose="020B0004020202020204" pitchFamily="34" charset="0"/>
              </a:rPr>
              <a:t>Age, mileage, price, city, condition and verification remain synthetic demonstration data.</a:t>
            </a:r>
            <a:endParaRPr lang="en-IN" sz="1400">
              <a:solidFill>
                <a:srgbClr val="9299A6"/>
              </a:solidFill>
              <a:latin typeface="Aptos" panose="020B0004020202020204" pitchFamily="34" charset="0"/>
            </a:endParaRPr>
          </a:p>
        </p:txBody>
      </p:sp>
      <p:sp>
        <p:nvSpPr>
          <p:cNvPr id="29" name="TextBox 28">
            <a:extLst>
              <a:ext uri="{FF2B5EF4-FFF2-40B4-BE49-F238E27FC236}">
                <a16:creationId xmlns:a16="http://schemas.microsoft.com/office/drawing/2014/main" id="{E9C26236-8E64-480D-D3F6-4875D6627E49}"/>
              </a:ext>
            </a:extLst>
          </p:cNvPr>
          <p:cNvSpPr txBox="1"/>
          <p:nvPr/>
        </p:nvSpPr>
        <p:spPr>
          <a:xfrm>
            <a:off x="8851900" y="5168900"/>
            <a:ext cx="2476500" cy="276999"/>
          </a:xfrm>
          <a:prstGeom prst="rect">
            <a:avLst/>
          </a:prstGeom>
          <a:noFill/>
        </p:spPr>
        <p:txBody>
          <a:bodyPr vert="horz" wrap="square" lIns="0" tIns="0" rIns="0" bIns="0" rtlCol="0">
            <a:noAutofit/>
          </a:bodyPr>
          <a:lstStyle/>
          <a:p>
            <a:r>
              <a:rPr lang="en-IN" sz="1500" b="1">
                <a:solidFill>
                  <a:srgbClr val="F5A524"/>
                </a:solidFill>
                <a:latin typeface="Aptos" panose="020B0004020202020204" pitchFamily="34" charset="0"/>
              </a:rPr>
              <a:t>Estimated payloads stay labeled.</a:t>
            </a:r>
          </a:p>
        </p:txBody>
      </p:sp>
    </p:spTree>
    <p:extLst>
      <p:ext uri="{BB962C8B-B14F-4D97-AF65-F5344CB8AC3E}">
        <p14:creationId xmlns:p14="http://schemas.microsoft.com/office/powerpoint/2010/main" val="54690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0A0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594DF0-C0CA-7F4B-94E1-5F9EA7CD200A}"/>
              </a:ext>
            </a:extLst>
          </p:cNvPr>
          <p:cNvSpPr txBox="1"/>
          <p:nvPr/>
        </p:nvSpPr>
        <p:spPr>
          <a:xfrm>
            <a:off x="711200" y="381000"/>
            <a:ext cx="35560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APPENDIX</a:t>
            </a:r>
          </a:p>
        </p:txBody>
      </p:sp>
      <p:sp>
        <p:nvSpPr>
          <p:cNvPr id="3" name="TextBox 2">
            <a:extLst>
              <a:ext uri="{FF2B5EF4-FFF2-40B4-BE49-F238E27FC236}">
                <a16:creationId xmlns:a16="http://schemas.microsoft.com/office/drawing/2014/main" id="{90412D6D-57F5-4144-BD0D-28CB63D29CEF}"/>
              </a:ext>
            </a:extLst>
          </p:cNvPr>
          <p:cNvSpPr txBox="1"/>
          <p:nvPr/>
        </p:nvSpPr>
        <p:spPr>
          <a:xfrm>
            <a:off x="711200" y="673100"/>
            <a:ext cx="10795000" cy="276999"/>
          </a:xfrm>
          <a:prstGeom prst="rect">
            <a:avLst/>
          </a:prstGeom>
          <a:noFill/>
        </p:spPr>
        <p:txBody>
          <a:bodyPr vert="horz" wrap="square" lIns="0" tIns="0" rIns="0" bIns="0" rtlCol="0">
            <a:noAutofit/>
          </a:bodyPr>
          <a:lstStyle/>
          <a:p>
            <a:r>
              <a:rPr lang="en-US" sz="3100" b="1">
                <a:solidFill>
                  <a:srgbClr val="F7F8FA"/>
                </a:solidFill>
                <a:latin typeface="Aptos Display" panose="020B0004020202020204" pitchFamily="34" charset="0"/>
              </a:rPr>
              <a:t>The questions I would ask this system</a:t>
            </a:r>
            <a:endParaRPr lang="en-IN" sz="3100" b="1">
              <a:solidFill>
                <a:srgbClr val="F7F8FA"/>
              </a:solidFill>
              <a:latin typeface="Aptos Display" panose="020B0004020202020204" pitchFamily="34" charset="0"/>
            </a:endParaRPr>
          </a:p>
        </p:txBody>
      </p:sp>
      <p:cxnSp>
        <p:nvCxnSpPr>
          <p:cNvPr id="4" name="Straight Connector 3">
            <a:extLst>
              <a:ext uri="{FF2B5EF4-FFF2-40B4-BE49-F238E27FC236}">
                <a16:creationId xmlns:a16="http://schemas.microsoft.com/office/drawing/2014/main" id="{7C301BD7-5FD1-2F2A-CE06-D9504E2E4066}"/>
              </a:ext>
            </a:extLst>
          </p:cNvPr>
          <p:cNvCxnSpPr/>
          <p:nvPr/>
        </p:nvCxnSpPr>
        <p:spPr>
          <a:xfrm>
            <a:off x="711200" y="1409700"/>
            <a:ext cx="107696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BB14DAE-7908-0B33-49F0-018AE3FAF8D5}"/>
              </a:ext>
            </a:extLst>
          </p:cNvPr>
          <p:cNvSpPr txBox="1"/>
          <p:nvPr/>
        </p:nvSpPr>
        <p:spPr>
          <a:xfrm>
            <a:off x="11264900" y="6362700"/>
            <a:ext cx="381000" cy="276999"/>
          </a:xfrm>
          <a:prstGeom prst="rect">
            <a:avLst/>
          </a:prstGeom>
          <a:noFill/>
        </p:spPr>
        <p:txBody>
          <a:bodyPr vert="horz" wrap="square" lIns="0" tIns="0" rIns="0" bIns="0" rtlCol="0">
            <a:noAutofit/>
          </a:bodyPr>
          <a:lstStyle/>
          <a:p>
            <a:pPr algn="r"/>
            <a:r>
              <a:rPr lang="en-IN" sz="1000" b="1">
                <a:solidFill>
                  <a:srgbClr val="596170"/>
                </a:solidFill>
                <a:latin typeface="Aptos" panose="020B0004020202020204" pitchFamily="34" charset="0"/>
              </a:rPr>
              <a:t>14</a:t>
            </a:r>
          </a:p>
        </p:txBody>
      </p:sp>
      <p:sp>
        <p:nvSpPr>
          <p:cNvPr id="6" name="TextBox 5">
            <a:extLst>
              <a:ext uri="{FF2B5EF4-FFF2-40B4-BE49-F238E27FC236}">
                <a16:creationId xmlns:a16="http://schemas.microsoft.com/office/drawing/2014/main" id="{93379BAB-5D07-5250-DB35-B71C1B4CA157}"/>
              </a:ext>
            </a:extLst>
          </p:cNvPr>
          <p:cNvSpPr txBox="1"/>
          <p:nvPr/>
        </p:nvSpPr>
        <p:spPr>
          <a:xfrm>
            <a:off x="736600" y="1701800"/>
            <a:ext cx="4445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01</a:t>
            </a:r>
          </a:p>
        </p:txBody>
      </p:sp>
      <p:sp>
        <p:nvSpPr>
          <p:cNvPr id="7" name="TextBox 6">
            <a:extLst>
              <a:ext uri="{FF2B5EF4-FFF2-40B4-BE49-F238E27FC236}">
                <a16:creationId xmlns:a16="http://schemas.microsoft.com/office/drawing/2014/main" id="{8CBBBED9-AF55-AFFF-87FB-7B637FF8EFC3}"/>
              </a:ext>
            </a:extLst>
          </p:cNvPr>
          <p:cNvSpPr txBox="1"/>
          <p:nvPr/>
        </p:nvSpPr>
        <p:spPr>
          <a:xfrm>
            <a:off x="1333500" y="1663700"/>
            <a:ext cx="3873500" cy="276999"/>
          </a:xfrm>
          <a:prstGeom prst="rect">
            <a:avLst/>
          </a:prstGeom>
          <a:noFill/>
        </p:spPr>
        <p:txBody>
          <a:bodyPr vert="horz" wrap="square" lIns="0" tIns="0" rIns="0" bIns="0" rtlCol="0">
            <a:noAutofit/>
          </a:bodyPr>
          <a:lstStyle/>
          <a:p>
            <a:r>
              <a:rPr lang="en-US" sz="1600" b="1">
                <a:solidFill>
                  <a:srgbClr val="F7F8FA"/>
                </a:solidFill>
                <a:latin typeface="Aptos" panose="020B0004020202020204" pitchFamily="34" charset="0"/>
              </a:rPr>
              <a:t>STT hears "S" instead of "Ace"</a:t>
            </a:r>
            <a:endParaRPr lang="en-IN" sz="1600" b="1">
              <a:solidFill>
                <a:srgbClr val="F7F8FA"/>
              </a:solidFill>
              <a:latin typeface="Aptos" panose="020B0004020202020204" pitchFamily="34" charset="0"/>
            </a:endParaRPr>
          </a:p>
        </p:txBody>
      </p:sp>
      <p:sp>
        <p:nvSpPr>
          <p:cNvPr id="8" name="TextBox 7">
            <a:extLst>
              <a:ext uri="{FF2B5EF4-FFF2-40B4-BE49-F238E27FC236}">
                <a16:creationId xmlns:a16="http://schemas.microsoft.com/office/drawing/2014/main" id="{67E1B717-8CD4-51CF-7770-6C71C5B0076C}"/>
              </a:ext>
            </a:extLst>
          </p:cNvPr>
          <p:cNvSpPr txBox="1"/>
          <p:nvPr/>
        </p:nvSpPr>
        <p:spPr>
          <a:xfrm>
            <a:off x="5537200" y="1663700"/>
            <a:ext cx="57150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Exact filtering returns no match. Add catalog-aware normalization with a confirmation threshold.</a:t>
            </a:r>
            <a:endParaRPr lang="en-IN" sz="1400">
              <a:solidFill>
                <a:srgbClr val="E8EBF0"/>
              </a:solidFill>
              <a:latin typeface="Aptos" panose="020B0004020202020204" pitchFamily="34" charset="0"/>
            </a:endParaRPr>
          </a:p>
        </p:txBody>
      </p:sp>
      <p:cxnSp>
        <p:nvCxnSpPr>
          <p:cNvPr id="9" name="Straight Connector 8">
            <a:extLst>
              <a:ext uri="{FF2B5EF4-FFF2-40B4-BE49-F238E27FC236}">
                <a16:creationId xmlns:a16="http://schemas.microsoft.com/office/drawing/2014/main" id="{679BE269-5E37-886E-5980-E90241C9C73A}"/>
              </a:ext>
            </a:extLst>
          </p:cNvPr>
          <p:cNvCxnSpPr/>
          <p:nvPr/>
        </p:nvCxnSpPr>
        <p:spPr>
          <a:xfrm>
            <a:off x="736600" y="24130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4A6FE4F-431B-88E5-5AB3-14BCBC9BEF24}"/>
              </a:ext>
            </a:extLst>
          </p:cNvPr>
          <p:cNvSpPr txBox="1"/>
          <p:nvPr/>
        </p:nvSpPr>
        <p:spPr>
          <a:xfrm>
            <a:off x="736600" y="2552700"/>
            <a:ext cx="4445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02</a:t>
            </a:r>
          </a:p>
        </p:txBody>
      </p:sp>
      <p:sp>
        <p:nvSpPr>
          <p:cNvPr id="11" name="TextBox 10">
            <a:extLst>
              <a:ext uri="{FF2B5EF4-FFF2-40B4-BE49-F238E27FC236}">
                <a16:creationId xmlns:a16="http://schemas.microsoft.com/office/drawing/2014/main" id="{59C4ABC7-1752-8E88-68CD-182A694217C2}"/>
              </a:ext>
            </a:extLst>
          </p:cNvPr>
          <p:cNvSpPr txBox="1"/>
          <p:nvPr/>
        </p:nvSpPr>
        <p:spPr>
          <a:xfrm>
            <a:off x="1333500" y="2514600"/>
            <a:ext cx="3873500" cy="276999"/>
          </a:xfrm>
          <a:prstGeom prst="rect">
            <a:avLst/>
          </a:prstGeom>
          <a:noFill/>
        </p:spPr>
        <p:txBody>
          <a:bodyPr vert="horz" wrap="square" lIns="0" tIns="0" rIns="0" bIns="0" rtlCol="0">
            <a:noAutofit/>
          </a:bodyPr>
          <a:lstStyle/>
          <a:p>
            <a:r>
              <a:rPr lang="en-IN" sz="1600" b="1">
                <a:solidFill>
                  <a:srgbClr val="F7F8FA"/>
                </a:solidFill>
                <a:latin typeface="Aptos" panose="020B0004020202020204" pitchFamily="34" charset="0"/>
              </a:rPr>
              <a:t>Every provider returns 429</a:t>
            </a:r>
          </a:p>
        </p:txBody>
      </p:sp>
      <p:sp>
        <p:nvSpPr>
          <p:cNvPr id="12" name="TextBox 11">
            <a:extLst>
              <a:ext uri="{FF2B5EF4-FFF2-40B4-BE49-F238E27FC236}">
                <a16:creationId xmlns:a16="http://schemas.microsoft.com/office/drawing/2014/main" id="{7075647E-3090-5661-476E-BC48D88ED474}"/>
              </a:ext>
            </a:extLst>
          </p:cNvPr>
          <p:cNvSpPr txBox="1"/>
          <p:nvPr/>
        </p:nvSpPr>
        <p:spPr>
          <a:xfrm>
            <a:off x="5537200" y="2514600"/>
            <a:ext cx="57150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The UI shows a recoverable error. Buy capacity and add circuit breakers first.</a:t>
            </a:r>
            <a:endParaRPr lang="en-IN" sz="1400">
              <a:solidFill>
                <a:srgbClr val="E8EBF0"/>
              </a:solidFill>
              <a:latin typeface="Aptos" panose="020B0004020202020204" pitchFamily="34" charset="0"/>
            </a:endParaRPr>
          </a:p>
        </p:txBody>
      </p:sp>
      <p:cxnSp>
        <p:nvCxnSpPr>
          <p:cNvPr id="13" name="Straight Connector 12">
            <a:extLst>
              <a:ext uri="{FF2B5EF4-FFF2-40B4-BE49-F238E27FC236}">
                <a16:creationId xmlns:a16="http://schemas.microsoft.com/office/drawing/2014/main" id="{F9B37AF6-AED4-6619-4C87-1C1C1E510721}"/>
              </a:ext>
            </a:extLst>
          </p:cNvPr>
          <p:cNvCxnSpPr/>
          <p:nvPr/>
        </p:nvCxnSpPr>
        <p:spPr>
          <a:xfrm>
            <a:off x="736600" y="32639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1649810-DAEF-A02C-FBE5-B3BE0888CBDF}"/>
              </a:ext>
            </a:extLst>
          </p:cNvPr>
          <p:cNvSpPr txBox="1"/>
          <p:nvPr/>
        </p:nvSpPr>
        <p:spPr>
          <a:xfrm>
            <a:off x="736600" y="3403600"/>
            <a:ext cx="4445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03</a:t>
            </a:r>
          </a:p>
        </p:txBody>
      </p:sp>
      <p:sp>
        <p:nvSpPr>
          <p:cNvPr id="15" name="TextBox 14">
            <a:extLst>
              <a:ext uri="{FF2B5EF4-FFF2-40B4-BE49-F238E27FC236}">
                <a16:creationId xmlns:a16="http://schemas.microsoft.com/office/drawing/2014/main" id="{BF7E1047-3F7B-57FC-6DA6-56EC1058F4D2}"/>
              </a:ext>
            </a:extLst>
          </p:cNvPr>
          <p:cNvSpPr txBox="1"/>
          <p:nvPr/>
        </p:nvSpPr>
        <p:spPr>
          <a:xfrm>
            <a:off x="1333500" y="3365500"/>
            <a:ext cx="3873500" cy="276999"/>
          </a:xfrm>
          <a:prstGeom prst="rect">
            <a:avLst/>
          </a:prstGeom>
          <a:noFill/>
        </p:spPr>
        <p:txBody>
          <a:bodyPr vert="horz" wrap="square" lIns="0" tIns="0" rIns="0" bIns="0" rtlCol="0">
            <a:noAutofit/>
          </a:bodyPr>
          <a:lstStyle/>
          <a:p>
            <a:r>
              <a:rPr lang="en-US" sz="1600" b="1">
                <a:solidFill>
                  <a:srgbClr val="F7F8FA"/>
                </a:solidFill>
                <a:latin typeface="Aptos" panose="020B0004020202020204" pitchFamily="34" charset="0"/>
              </a:rPr>
              <a:t>Two hundred sessions arrive together</a:t>
            </a:r>
            <a:endParaRPr lang="en-IN" sz="1600" b="1">
              <a:solidFill>
                <a:srgbClr val="F7F8FA"/>
              </a:solidFill>
              <a:latin typeface="Aptos" panose="020B0004020202020204" pitchFamily="34" charset="0"/>
            </a:endParaRPr>
          </a:p>
        </p:txBody>
      </p:sp>
      <p:sp>
        <p:nvSpPr>
          <p:cNvPr id="16" name="TextBox 15">
            <a:extLst>
              <a:ext uri="{FF2B5EF4-FFF2-40B4-BE49-F238E27FC236}">
                <a16:creationId xmlns:a16="http://schemas.microsoft.com/office/drawing/2014/main" id="{E2FBF826-C6F7-F073-16B9-DD062107768A}"/>
              </a:ext>
            </a:extLst>
          </p:cNvPr>
          <p:cNvSpPr txBox="1"/>
          <p:nvPr/>
        </p:nvSpPr>
        <p:spPr>
          <a:xfrm>
            <a:off x="5537200" y="3365500"/>
            <a:ext cx="57150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Move SQLite state to Redis and replace repeated database setup with a bounded pool.</a:t>
            </a:r>
            <a:endParaRPr lang="en-IN" sz="1400">
              <a:solidFill>
                <a:srgbClr val="E8EBF0"/>
              </a:solidFill>
              <a:latin typeface="Aptos" panose="020B0004020202020204" pitchFamily="34" charset="0"/>
            </a:endParaRPr>
          </a:p>
        </p:txBody>
      </p:sp>
      <p:cxnSp>
        <p:nvCxnSpPr>
          <p:cNvPr id="17" name="Straight Connector 16">
            <a:extLst>
              <a:ext uri="{FF2B5EF4-FFF2-40B4-BE49-F238E27FC236}">
                <a16:creationId xmlns:a16="http://schemas.microsoft.com/office/drawing/2014/main" id="{873224BE-8CBC-EDDA-CAB9-3C654DFE6170}"/>
              </a:ext>
            </a:extLst>
          </p:cNvPr>
          <p:cNvCxnSpPr/>
          <p:nvPr/>
        </p:nvCxnSpPr>
        <p:spPr>
          <a:xfrm>
            <a:off x="736600" y="41148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7EB292C-3563-320A-414E-773F35470F1D}"/>
              </a:ext>
            </a:extLst>
          </p:cNvPr>
          <p:cNvSpPr txBox="1"/>
          <p:nvPr/>
        </p:nvSpPr>
        <p:spPr>
          <a:xfrm>
            <a:off x="736600" y="4254500"/>
            <a:ext cx="4445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04</a:t>
            </a:r>
          </a:p>
        </p:txBody>
      </p:sp>
      <p:sp>
        <p:nvSpPr>
          <p:cNvPr id="19" name="TextBox 18">
            <a:extLst>
              <a:ext uri="{FF2B5EF4-FFF2-40B4-BE49-F238E27FC236}">
                <a16:creationId xmlns:a16="http://schemas.microsoft.com/office/drawing/2014/main" id="{4B68A1C8-8448-4C24-F44F-9E3C617D47CE}"/>
              </a:ext>
            </a:extLst>
          </p:cNvPr>
          <p:cNvSpPr txBox="1"/>
          <p:nvPr/>
        </p:nvSpPr>
        <p:spPr>
          <a:xfrm>
            <a:off x="1333500" y="4216400"/>
            <a:ext cx="3873500" cy="276999"/>
          </a:xfrm>
          <a:prstGeom prst="rect">
            <a:avLst/>
          </a:prstGeom>
          <a:noFill/>
        </p:spPr>
        <p:txBody>
          <a:bodyPr vert="horz" wrap="square" lIns="0" tIns="0" rIns="0" bIns="0" rtlCol="0">
            <a:noAutofit/>
          </a:bodyPr>
          <a:lstStyle/>
          <a:p>
            <a:r>
              <a:rPr lang="en-US" sz="1600" b="1">
                <a:solidFill>
                  <a:srgbClr val="F7F8FA"/>
                </a:solidFill>
                <a:latin typeface="Aptos" panose="020B0004020202020204" pitchFamily="34" charset="0"/>
              </a:rPr>
              <a:t>Where can 200 ms disappear?</a:t>
            </a:r>
            <a:endParaRPr lang="en-IN" sz="1600" b="1">
              <a:solidFill>
                <a:srgbClr val="F7F8FA"/>
              </a:solidFill>
              <a:latin typeface="Aptos" panose="020B0004020202020204" pitchFamily="34" charset="0"/>
            </a:endParaRPr>
          </a:p>
        </p:txBody>
      </p:sp>
      <p:sp>
        <p:nvSpPr>
          <p:cNvPr id="20" name="TextBox 19">
            <a:extLst>
              <a:ext uri="{FF2B5EF4-FFF2-40B4-BE49-F238E27FC236}">
                <a16:creationId xmlns:a16="http://schemas.microsoft.com/office/drawing/2014/main" id="{CFD935C5-46AA-4C22-8F82-FE26190E9F3C}"/>
              </a:ext>
            </a:extLst>
          </p:cNvPr>
          <p:cNvSpPr txBox="1"/>
          <p:nvPr/>
        </p:nvSpPr>
        <p:spPr>
          <a:xfrm>
            <a:off x="5537200" y="4216400"/>
            <a:ext cx="57150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Warm catalog connections. Requested-field follow-ups can also skip natural rephrasing.</a:t>
            </a:r>
            <a:endParaRPr lang="en-IN" sz="1400">
              <a:solidFill>
                <a:srgbClr val="E8EBF0"/>
              </a:solidFill>
              <a:latin typeface="Aptos" panose="020B0004020202020204" pitchFamily="34" charset="0"/>
            </a:endParaRPr>
          </a:p>
        </p:txBody>
      </p:sp>
      <p:cxnSp>
        <p:nvCxnSpPr>
          <p:cNvPr id="21" name="Straight Connector 20">
            <a:extLst>
              <a:ext uri="{FF2B5EF4-FFF2-40B4-BE49-F238E27FC236}">
                <a16:creationId xmlns:a16="http://schemas.microsoft.com/office/drawing/2014/main" id="{8C22B92D-BC2C-C1A0-DC0F-058BE07DD239}"/>
              </a:ext>
            </a:extLst>
          </p:cNvPr>
          <p:cNvCxnSpPr/>
          <p:nvPr/>
        </p:nvCxnSpPr>
        <p:spPr>
          <a:xfrm>
            <a:off x="736600" y="49657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7C02BBFB-E7DA-50DF-86F7-A019EF4251DB}"/>
              </a:ext>
            </a:extLst>
          </p:cNvPr>
          <p:cNvSpPr txBox="1"/>
          <p:nvPr/>
        </p:nvSpPr>
        <p:spPr>
          <a:xfrm>
            <a:off x="736600" y="5105400"/>
            <a:ext cx="444500" cy="276999"/>
          </a:xfrm>
          <a:prstGeom prst="rect">
            <a:avLst/>
          </a:prstGeom>
          <a:noFill/>
        </p:spPr>
        <p:txBody>
          <a:bodyPr vert="horz" wrap="square" lIns="0" tIns="0" rIns="0" bIns="0" rtlCol="0">
            <a:noAutofit/>
          </a:bodyPr>
          <a:lstStyle/>
          <a:p>
            <a:r>
              <a:rPr lang="en-IN" sz="1000" b="1">
                <a:solidFill>
                  <a:srgbClr val="42B6FF"/>
                </a:solidFill>
                <a:latin typeface="Aptos" panose="020B0004020202020204" pitchFamily="34" charset="0"/>
              </a:rPr>
              <a:t>05</a:t>
            </a:r>
          </a:p>
        </p:txBody>
      </p:sp>
      <p:sp>
        <p:nvSpPr>
          <p:cNvPr id="23" name="TextBox 22">
            <a:extLst>
              <a:ext uri="{FF2B5EF4-FFF2-40B4-BE49-F238E27FC236}">
                <a16:creationId xmlns:a16="http://schemas.microsoft.com/office/drawing/2014/main" id="{4EB679E3-D793-924A-7A4C-402BBB8BF5CC}"/>
              </a:ext>
            </a:extLst>
          </p:cNvPr>
          <p:cNvSpPr txBox="1"/>
          <p:nvPr/>
        </p:nvSpPr>
        <p:spPr>
          <a:xfrm>
            <a:off x="1333500" y="5067300"/>
            <a:ext cx="3873500" cy="276999"/>
          </a:xfrm>
          <a:prstGeom prst="rect">
            <a:avLst/>
          </a:prstGeom>
          <a:noFill/>
        </p:spPr>
        <p:txBody>
          <a:bodyPr vert="horz" wrap="square" lIns="0" tIns="0" rIns="0" bIns="0" rtlCol="0">
            <a:noAutofit/>
          </a:bodyPr>
          <a:lstStyle/>
          <a:p>
            <a:r>
              <a:rPr lang="en-US" sz="1600" b="1">
                <a:solidFill>
                  <a:srgbClr val="F7F8FA"/>
                </a:solidFill>
                <a:latin typeface="Aptos" panose="020B0004020202020204" pitchFamily="34" charset="0"/>
              </a:rPr>
              <a:t>Why did these three rank first?</a:t>
            </a:r>
            <a:endParaRPr lang="en-IN" sz="1600" b="1">
              <a:solidFill>
                <a:srgbClr val="F7F8FA"/>
              </a:solidFill>
              <a:latin typeface="Aptos" panose="020B0004020202020204" pitchFamily="34" charset="0"/>
            </a:endParaRPr>
          </a:p>
        </p:txBody>
      </p:sp>
      <p:sp>
        <p:nvSpPr>
          <p:cNvPr id="24" name="TextBox 23">
            <a:extLst>
              <a:ext uri="{FF2B5EF4-FFF2-40B4-BE49-F238E27FC236}">
                <a16:creationId xmlns:a16="http://schemas.microsoft.com/office/drawing/2014/main" id="{F57D0EC5-D6CA-A0C0-3662-F8A63BB1D793}"/>
              </a:ext>
            </a:extLst>
          </p:cNvPr>
          <p:cNvSpPr txBox="1"/>
          <p:nvPr/>
        </p:nvSpPr>
        <p:spPr>
          <a:xfrm>
            <a:off x="5537200" y="5067300"/>
            <a:ext cx="5715000" cy="276999"/>
          </a:xfrm>
          <a:prstGeom prst="rect">
            <a:avLst/>
          </a:prstGeom>
          <a:noFill/>
        </p:spPr>
        <p:txBody>
          <a:bodyPr vert="horz" wrap="square" lIns="0" tIns="0" rIns="0" bIns="0" rtlCol="0">
            <a:noAutofit/>
          </a:bodyPr>
          <a:lstStyle/>
          <a:p>
            <a:r>
              <a:rPr lang="en-US" sz="1400">
                <a:solidFill>
                  <a:srgbClr val="E8EBF0"/>
                </a:solidFill>
                <a:latin typeface="Aptos" panose="020B0004020202020204" pitchFamily="34" charset="0"/>
              </a:rPr>
              <a:t>Open the numeric score breakdown. Purpose fit carries 30 percent when the query includes it.</a:t>
            </a:r>
            <a:endParaRPr lang="en-IN" sz="1400">
              <a:solidFill>
                <a:srgbClr val="E8EBF0"/>
              </a:solidFill>
              <a:latin typeface="Aptos" panose="020B0004020202020204" pitchFamily="34" charset="0"/>
            </a:endParaRPr>
          </a:p>
        </p:txBody>
      </p:sp>
      <p:cxnSp>
        <p:nvCxnSpPr>
          <p:cNvPr id="25" name="Straight Connector 24">
            <a:extLst>
              <a:ext uri="{FF2B5EF4-FFF2-40B4-BE49-F238E27FC236}">
                <a16:creationId xmlns:a16="http://schemas.microsoft.com/office/drawing/2014/main" id="{1FF86E44-9A6D-E150-1A9F-B425A6E9D6F0}"/>
              </a:ext>
            </a:extLst>
          </p:cNvPr>
          <p:cNvCxnSpPr/>
          <p:nvPr/>
        </p:nvCxnSpPr>
        <p:spPr>
          <a:xfrm>
            <a:off x="736600" y="5816600"/>
            <a:ext cx="10718800" cy="0"/>
          </a:xfrm>
          <a:prstGeom prst="line">
            <a:avLst/>
          </a:prstGeom>
          <a:ln w="12700">
            <a:solidFill>
              <a:srgbClr val="181D27"/>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A81D510E-1348-7FE8-B8BA-E468D50880A8}"/>
              </a:ext>
            </a:extLst>
          </p:cNvPr>
          <p:cNvSpPr txBox="1"/>
          <p:nvPr/>
        </p:nvSpPr>
        <p:spPr>
          <a:xfrm>
            <a:off x="736600" y="6057900"/>
            <a:ext cx="5334000" cy="276999"/>
          </a:xfrm>
          <a:prstGeom prst="rect">
            <a:avLst/>
          </a:prstGeom>
          <a:noFill/>
        </p:spPr>
        <p:txBody>
          <a:bodyPr vert="horz" wrap="square" lIns="0" tIns="0" rIns="0" bIns="0" rtlCol="0">
            <a:noAutofit/>
          </a:bodyPr>
          <a:lstStyle/>
          <a:p>
            <a:r>
              <a:rPr lang="en-US" sz="1600" b="1">
                <a:solidFill>
                  <a:srgbClr val="7C5CFF"/>
                </a:solidFill>
                <a:latin typeface="Aptos" panose="020B0004020202020204" pitchFamily="34" charset="0"/>
              </a:rPr>
              <a:t>The code is ready for each answer.</a:t>
            </a:r>
            <a:endParaRPr lang="en-IN" sz="1600" b="1">
              <a:solidFill>
                <a:srgbClr val="7C5CFF"/>
              </a:solidFill>
              <a:latin typeface="Aptos" panose="020B0004020202020204" pitchFamily="34" charset="0"/>
            </a:endParaRPr>
          </a:p>
        </p:txBody>
      </p:sp>
    </p:spTree>
    <p:extLst>
      <p:ext uri="{BB962C8B-B14F-4D97-AF65-F5344CB8AC3E}">
        <p14:creationId xmlns:p14="http://schemas.microsoft.com/office/powerpoint/2010/main" val="3913938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2329</Words>
  <Application>Microsoft Office PowerPoint</Application>
  <PresentationFormat>Custom</PresentationFormat>
  <Paragraphs>299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Kayvan Shah</dc:creator>
  <cp:lastModifiedBy>Kayvan Shah</cp:lastModifiedBy>
  <cp:revision>1</cp:revision>
  <dcterms:created xsi:type="dcterms:W3CDTF">2026-09-06T17:20:32Z</dcterms:created>
  <dcterms:modified xsi:type="dcterms:W3CDTF">2026-09-06T17:20:32Z</dcterms:modified>
</cp:coreProperties>
</file>